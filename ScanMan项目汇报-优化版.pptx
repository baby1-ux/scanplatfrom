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32.svg"/><Relationship Id="rId21" Type="http://schemas.openxmlformats.org/officeDocument/2006/relationships/image" Target="../media/image31.png"/><Relationship Id="rId20" Type="http://schemas.openxmlformats.org/officeDocument/2006/relationships/image" Target="../media/image6.svg"/><Relationship Id="rId2" Type="http://schemas.openxmlformats.org/officeDocument/2006/relationships/image" Target="../media/image16.svg"/><Relationship Id="rId19" Type="http://schemas.openxmlformats.org/officeDocument/2006/relationships/image" Target="../media/image5.png"/><Relationship Id="rId18" Type="http://schemas.openxmlformats.org/officeDocument/2006/relationships/image" Target="../media/image2.svg"/><Relationship Id="rId17" Type="http://schemas.openxmlformats.org/officeDocument/2006/relationships/image" Target="../media/image1.png"/><Relationship Id="rId16" Type="http://schemas.openxmlformats.org/officeDocument/2006/relationships/image" Target="../media/image30.svg"/><Relationship Id="rId15" Type="http://schemas.openxmlformats.org/officeDocument/2006/relationships/image" Target="../media/image29.png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image" Target="../media/image26.svg"/><Relationship Id="rId11" Type="http://schemas.openxmlformats.org/officeDocument/2006/relationships/image" Target="../media/image25.png"/><Relationship Id="rId10" Type="http://schemas.openxmlformats.org/officeDocument/2006/relationships/image" Target="../media/image24.sv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.svg"/><Relationship Id="rId1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svg"/><Relationship Id="rId1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8.svg"/><Relationship Id="rId25" Type="http://schemas.openxmlformats.org/officeDocument/2006/relationships/image" Target="../media/image7.png"/><Relationship Id="rId24" Type="http://schemas.openxmlformats.org/officeDocument/2006/relationships/image" Target="../media/image6.svg"/><Relationship Id="rId23" Type="http://schemas.openxmlformats.org/officeDocument/2006/relationships/image" Target="../media/image5.png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image" Target="../media/image30.svg"/><Relationship Id="rId2" Type="http://schemas.openxmlformats.org/officeDocument/2006/relationships/image" Target="../media/image48.svg"/><Relationship Id="rId19" Type="http://schemas.openxmlformats.org/officeDocument/2006/relationships/image" Target="../media/image29.png"/><Relationship Id="rId18" Type="http://schemas.openxmlformats.org/officeDocument/2006/relationships/image" Target="../media/image24.svg"/><Relationship Id="rId17" Type="http://schemas.openxmlformats.org/officeDocument/2006/relationships/image" Target="../media/image23.png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image" Target="../media/image16.svg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image" Target="../media/image5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image" Target="../media/image54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40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40.sv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40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6.svg"/><Relationship Id="rId1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0.svg"/><Relationship Id="rId3" Type="http://schemas.openxmlformats.org/officeDocument/2006/relationships/image" Target="../media/image69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40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.svg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84.svg"/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8.svg"/><Relationship Id="rId1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98.svg"/><Relationship Id="rId7" Type="http://schemas.openxmlformats.org/officeDocument/2006/relationships/image" Target="../media/image97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Relationship Id="rId3" Type="http://schemas.openxmlformats.org/officeDocument/2006/relationships/image" Target="../media/image93.png"/><Relationship Id="rId2" Type="http://schemas.openxmlformats.org/officeDocument/2006/relationships/image" Target="../media/image40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0.svg"/><Relationship Id="rId11" Type="http://schemas.openxmlformats.org/officeDocument/2006/relationships/image" Target="../media/image99.png"/><Relationship Id="rId10" Type="http://schemas.openxmlformats.org/officeDocument/2006/relationships/image" Target="../media/image2.svg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104.jpeg"/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6.svg"/><Relationship Id="rId1" Type="http://schemas.openxmlformats.org/officeDocument/2006/relationships/image" Target="../media/image101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108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16.svg"/><Relationship Id="rId11" Type="http://schemas.openxmlformats.org/officeDocument/2006/relationships/image" Target="../media/image115.png"/><Relationship Id="rId10" Type="http://schemas.openxmlformats.org/officeDocument/2006/relationships/image" Target="../media/image2.svg"/><Relationship Id="rId1" Type="http://schemas.openxmlformats.org/officeDocument/2006/relationships/image" Target="../media/image107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8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32px 64px', background: '#FFFBF5', position: 'relative', flexDirection: 'column', fontFamily: 'Microsoft YaHei' }}&gt;&#10;    &lt;FAIcon name='star' style={{ position: 'absolute', top: 48, left: 72, width: 30, height: 30, fill: '#E5B45C', opacity: 0.7 }} /&gt;&#10;    &lt;FAIcon name='star' style={{ position: 'absolute', top: 120, right: 96, width: 20, height: 20, fill: '#E87E99', opacity: 0.55 }} /&gt;&#10;    &lt;FAIcon name='circle' style={{ position: 'absolute', bottom: 150, left: 110, width: 16, height: 16, fill: '#45A99D', opacity: 0.6 }} /&gt;&#10;    &lt;FAIcon name='circle' style={{ position: 'absolute', top: 220, left: 200, width: 10, height: 10, fill: '#6A6FC9', opacity: 0.5 }} /&gt;&#10;    &lt;FAIcon name='bug' style={{ position: 'absolute', bottom: 210, right: 130, width: 34, height: 34, fill: '#6A6FC9', opacity: 0.35 }} /&gt;&#10;    &lt;Box style={{ position: 'absolute', bottom: 90, right: 60, width: 120, height: 120, borderRadius: 999, border: '3px dashed rgba(106,111,201,0.35)' }} /&gt;&#10;    &lt;Box style={{ position: 'absolute', top: 60, right: 220, width: 70, height: 70, borderRadius: 999, border: '3px dashed rgba(232,126,153,0.35)' }} /&gt;&#10;&#10;    &lt;Box style={{ flex: 1, justifyContent: 'center', alignItems: 'center', gap: 26, position: 'relative', zIndex: 1 }}&gt;&#10;        &lt;Box style={{ background: '#FFFFFF', border: '2px solid #42425A', borderRadius: 999, padding: '8px 22px', boxShadow: '4px 4px 0 #42425A', flexDirection: 'row', alignItems: 'center', gap: 10 }}&gt;&#10;            &lt;FAIcon name='graduation-cap' style={{ fill: '#6A6FC9', width: 18, height: 18 }} /&gt;&#10;            &lt;Text style={{ fontSize: 16, fontWeight: 'bold', color: '#42425A', letterSpacing: 2 }}&gt;课堂分享 · 小组项目汇报&lt;/Text&gt;&#10;        &lt;/Box&gt;&#10;        &lt;Text style={{&#10;            fontSize: 88, fontWeight: 'bold', letterSpacing: 2, lineHeight: 1.05,&#10;            backgroundImage: 'linear-gradient(120deg, #6A6FC9 0%, #E87E99 100%)',&#10;            backgroundClip: 'text', color: 'transparent',&#10;        }}&gt;ScanMan&lt;/Text&gt;&#10;        &lt;Text style={{ fontSize: 26, fontWeight: 'bold', color: '#42425A' }}&gt;源代码静态扫描项目&lt;/Text&gt;&#10;        &lt;Text style={{ fontSize: 19, color: 'rgba(66,66,90,0.75)' }}&gt;基于 &lt;span style={{ fontWeight: 'bold', color: '#6A6FC9' }}&gt;CodeBERT&lt;/span&gt; 的漏洞检测与 &lt;span style={{ fontWeight: 'bold', color: '#E87E99' }}&gt;CWE&lt;/span&gt; 分类&lt;/Text&gt;&#10;        &lt;Box style={{ flexDirection: 'row', gap: 18, marginTop: 8 }}&gt;&#10;            &lt;Box style={{ background: '#6A6FC9', borderRadius: 12, border: '2px solid #42425A', boxShadow: '4px 4px 0 #42425A', padding: '10px 20px' }}&gt;&#10;                &lt;Text style={{ fontSize: 16, fontWeight: 'bold', color: '#FFFFFF' }}&gt;一期交付 · V1.0&lt;/Text&gt;&#10;            &lt;/Box&gt;&#10;            &lt;Box style={{ background: '#45A99D', borderRadius: 12, border: '2px solid #42425A', boxShadow: '4px 4px 0 #42425A', padding: '10px 20px' }}&gt;&#10;                &lt;Text style={{ fontSize: 16, fontWeight: 'bold', color: '#FFFFFF' }}&gt;2026 / 09 / 22&lt;/Text&gt;&#10;            &lt;/Box&gt;&#10;            &lt;Box style={{ background: '#E5B45C', borderRadius: 12, border: '2px solid #42425A', boxShadow: '4px 4px 0 #42425A', padding: '10px 20px' }}&gt;&#10;                &lt;Text style={{ fontSize: 16, fontWeight: 'bold', color: '#42425A' }}&gt;codebert-base · 125M&lt;/Text&gt;&#10;            &lt;/Box&gt;&#10;        &lt;/Box&gt;&#10;    &lt;/Box&gt;&#10;&#10;    &lt;Box style={{ flexDirection: 'row', justifyContent: 'space-between', alignItems: 'center', height: 36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305550"/>
            <a:ext cx="152400" cy="152400"/>
          </a:xfrm>
          <a:prstGeom prst="rect">
            <a:avLst/>
          </a:prstGeom>
        </p:spPr>
      </p:pic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838200" y="63055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11163300" y="63055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457200"/>
            <a:ext cx="285750" cy="285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87100" y="1143000"/>
            <a:ext cx="190500" cy="190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7750" y="5276850"/>
            <a:ext cx="152400" cy="152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>
            <a:alphaModFix amt="5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5000" y="2095500"/>
            <a:ext cx="95250" cy="95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1">
            <a:alphaModFix amt="35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29900" y="4533900"/>
            <a:ext cx="323850" cy="32385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10477500" y="4857750"/>
            <a:ext cx="1143000" cy="1143000"/>
          </a:xfrm>
          <a:prstGeom prst="roundRect">
            <a:avLst>
              <a:gd name="adj" fmla="val 832500"/>
            </a:avLst>
          </a:prstGeom>
          <a:ln w="38100">
            <a:solidFill>
              <a:srgbClr val="6A6FC9">
                <a:alpha val="3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2" name="圆角矩形 11"/>
          <p:cNvSpPr/>
          <p:nvPr/>
        </p:nvSpPr>
        <p:spPr>
          <a:xfrm>
            <a:off x="9429750" y="571500"/>
            <a:ext cx="666750" cy="666750"/>
          </a:xfrm>
          <a:prstGeom prst="roundRect">
            <a:avLst>
              <a:gd name="adj" fmla="val 1427143"/>
            </a:avLst>
          </a:prstGeom>
          <a:ln w="38100">
            <a:solidFill>
              <a:srgbClr val="E87E99">
                <a:alpha val="3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13" name="圆角矩形 12"/>
          <p:cNvSpPr/>
          <p:nvPr/>
        </p:nvSpPr>
        <p:spPr>
          <a:xfrm>
            <a:off x="4791075" y="1571625"/>
            <a:ext cx="2619375" cy="342900"/>
          </a:xfrm>
          <a:prstGeom prst="roundRect">
            <a:avLst>
              <a:gd name="adj" fmla="val 2775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00625" y="1657350"/>
            <a:ext cx="171450" cy="171450"/>
          </a:xfrm>
          <a:prstGeom prst="rect">
            <a:avLst/>
          </a:prstGeom>
        </p:spPr>
      </p:pic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5267325" y="1647825"/>
            <a:ext cx="19335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1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课堂分享</a:t>
            </a:r>
            <a:r>
              <a:rPr lang="en-US" sz="1200" b="1" spc="1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b="1" spc="1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小组项目汇报</a:t>
            </a:r>
            <a:endParaRPr lang="zh-CN" sz="1200" b="1" spc="15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4105275" y="2162175"/>
            <a:ext cx="3990975" cy="1057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600" b="1" spc="150">
                <a:gradFill>
                  <a:gsLst>
                    <a:gs pos="0">
                      <a:srgbClr val="6A6FC9"/>
                    </a:gs>
                    <a:gs pos="100000">
                      <a:srgbClr val="E87E99"/>
                    </a:gs>
                  </a:gsLst>
                  <a:lin ang="18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ScanMan</a:t>
            </a:r>
            <a:endParaRPr lang="en-US" sz="6600" b="1" spc="150">
              <a:gradFill>
                <a:gsLst>
                  <a:gs pos="0">
                    <a:srgbClr val="6A6FC9"/>
                  </a:gs>
                  <a:gs pos="100000">
                    <a:srgbClr val="E87E99"/>
                  </a:gs>
                </a:gsLst>
                <a:lin ang="18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981575" y="3467100"/>
            <a:ext cx="22288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19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4410075" y="4019550"/>
            <a:ext cx="33813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4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CodeBERT</a:t>
            </a:r>
            <a:r>
              <a:rPr lang="en-US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的漏洞检测与</a:t>
            </a:r>
            <a:r>
              <a:rPr lang="en-US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4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CWE</a:t>
            </a:r>
            <a:r>
              <a:rPr lang="en-US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4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分类</a:t>
            </a:r>
            <a:endParaRPr lang="zh-CN" sz="142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400425" y="4562475"/>
            <a:ext cx="1495425" cy="381000"/>
          </a:xfrm>
          <a:prstGeom prst="roundRect">
            <a:avLst>
              <a:gd name="adj" fmla="val 3000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590925" y="4657725"/>
            <a:ext cx="1114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一期交付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V1.0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067300" y="4562475"/>
            <a:ext cx="1466850" cy="381000"/>
          </a:xfrm>
          <a:prstGeom prst="roundRect">
            <a:avLst>
              <a:gd name="adj" fmla="val 3000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5257800" y="4657725"/>
            <a:ext cx="10858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 / 09 / 22</a:t>
            </a:r>
            <a:endParaRPr 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705600" y="4562475"/>
            <a:ext cx="2085975" cy="381000"/>
          </a:xfrm>
          <a:prstGeom prst="roundRect">
            <a:avLst>
              <a:gd name="adj" fmla="val 3000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6896100" y="4657725"/>
            <a:ext cx="1704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codebert-base · 125M</a:t>
            </a:r>
            <a:endParaRPr lang="en-US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 descr="&lt;Slide style={{ width: '1280px', height: '720px', padding: '24px 56px', background: '#FFFBF5', position: 'relative', flexDirection: 'column', fontFamily: 'Microsoft YaHei' }}&gt;&#10;    &lt;FAIcon name='star' style={{ position: 'absolute', top: 30, right: 60, width: 22, height: 22, fill: '#E5B45C', opacity: 0.6 }} /&gt;&#10;    &lt;FAIcon name='circle' style={{ position: 'absolute', bottom: 90, right: 140, width: 12, height: 12, fill: '#45A99D', opacity: 0.55 }} /&gt;&#10;&#10;    &lt;Box style={{ flexDirection: 'row', alignItems: 'center', gap: 14, height: 76 }}&gt;&#10;        &lt;Box style={{ background: '#6A6FC9', borderRadius: 10, padding: '8px 14px', border: '2px solid #42425A', boxShadow: '3px 3px 0 #42425A' }}&gt;&#10;            &lt;Text style={{ fontSize: 18, fontWeight: 'bold', color: '#FFFFFF', fontFamily: 'Consolas' }}&gt;00&lt;/Text&gt;&#10;        &lt;/Box&gt;&#10;        &lt;Box style={{ flexDirection: 'column', gap: 6 }}&gt;&#10;            &lt;Text style={{ fontSize: 30, fontWeight: 'bold', color: '#42425A' }}&gt;目录 · 上 &lt;span style={{ fontSize: 18, color: 'rgba(66,66,90,0.5)' }}&gt;CONTENTS · 九大章节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 }}&gt;&#10;            &lt;Text style={{ fontSize: 14, color: '#42425A' }}&gt;汇报路线 · 共 30 页&lt;/Text&gt;&#10;        &lt;/Box&gt;&#10;    &lt;/Box&gt;&#10;&#10;    &lt;Box style={{ flexDirection: 'row', gap: 22, height: 520, marginTop: 6 }}&gt;&#10;        &lt;Box style={{ flex: 1, flexDirection: 'column', gap: 14 }}&gt;&#10;            {[&#10;                { n: '01', t: '项目背景', o: 'Ken', p: '05', d: '为什么要把 AI 引入静态扫描', c: '#6A6FC9' },&#10;                { n: '02', t: '项目目标', o: 'Ken', p: '05', d: '可检测 · 可分类 · 可闭环 · 可视化', c: '#45A99D' },&#10;                { n: '03', t: '业务流程', o: 'Ken', p: '06', d: '一次扫描从代码到工单的全链路', c: '#E87E99' },&#10;                { n: '04', t: '技术架构设计', o: 'Ken', p: '07', d: '五层单向依赖，离线可复现', c: '#E5B45C' },&#10;                { n: '05', t: '项目里程碑', o: 'Ken', p: '07', d: '三期节奏：V1.0 → 平台 → V2.0', c: '#6A6FC9' },&#10;            ].map((it, i) =&gt; (&#10;                &lt;Box key={i} style={{ flex: 1, background: '#FFFFFF', border: '2px solid #42425A', borderRadius: 14, boxShadow: '4px 4px 0 #42425A', padding: '10px 18px', flexDirection: 'row', alignItems: 'center', gap: 14 }}&gt;&#10;                    &lt;Box style={{ width: 46, height: 46, borderRadius: 12, background: it.c, border: '2px solid #42425A', justifyContent: 'center', alignItems: 'center' }}&gt;&#10;                        &lt;Text style={{ fontSize: 19, fontWeight: 'bold', color: '#FFFFFF', fontFamily: 'Consolas' }}&gt;{it.n}&lt;/Text&gt;&#10;                    &lt;/Box&gt;&#10;                    &lt;Box style={{ flex: 1, flexDirection: 'column', gap: 2 }}&gt;&#10;                        &lt;Text style={{ fontSize: 19, fontWeight: 'bold', color: '#42425A' }}&gt;{it.t} &lt;span style={{ fontSize: 13, color: 'rgba(66,66,90,0.5)', fontWeight: 'normal' }}&gt;· {it.o}&lt;/span&gt;&lt;/Text&gt;&#10;                        &lt;Text style={{ fontSize: 14, color: 'rgba(66,66,90,0.7)' }}&gt;{it.d}&lt;/Text&gt;&#10;                    &lt;/Box&gt;&#10;                    &lt;Text style={{ fontSize: 15, fontWeight: 'bold', color: it.c, fontFamily: 'Consolas' }}&gt;P{it.p}&lt;/Text&gt;&#10;                &lt;/Box&gt;&#10;            ))}&#10;        &lt;/Box&gt;&#10;        &lt;Box style={{ flex: 1, flexDirection: 'column', gap: 14 }}&gt;&#10;            {[&#10;                { n: '06', t: '模型训练', o: '全员协作', p: '08', d: '八个小节，一条主线：数据→处理→训练→评估', c: '#45A99D' },&#10;                { n: '07', t: '问题及解决方案回顾', o: '闪闪', p: '25', d: '评审最常问的七个问题，逐一作答', c: '#E87E99' },&#10;                { n: '08', t: '创新及未来展望', o: '闪闪', p: '27', d: '多模型投票 · 图结构 · LLM 与 Agent', c: '#E5B45C' },&#10;                { n: '09', t: '附录', o: '—', p: '28', d: '会议纪要 · 讨论照片 · git 约定 · 延伸拓展', c: '#6A6FC9' },&#10;            ].map((it, i) =&gt; (&#10;                &lt;Box key={i} style={{ flex: 1, background: '#FFFFFF', border: '2px solid #42425A', borderRadius: 14, boxShadow: '4px 4px 0 #42425A', padding: '10px 18px', flexDirection: 'row', alignItems: 'center', gap: 14 }}&gt;&#10;                    &lt;Box style={{ width: 46, height: 46, borderRadius: 12, background: it.c, border: '2px solid #42425A', justifyContent: 'center', alignItems: 'center' }}&gt;&#10;                        &lt;Text style={{ fontSize: 19, fontWeight: 'bold', color: '#FFFFFF', fontFamily: 'Consolas' }}&gt;{it.n}&lt;/Text&gt;&#10;                    &lt;/Box&gt;&#10;                    &lt;Box style={{ flex: 1, flexDirection: 'column', gap: 2 }}&gt;&#10;                        &lt;Text style={{ fontSize: 19, fontWeight: 'bold', color: '#42425A' }}&gt;{it.t} &lt;span style={{ fontSize: 13, color: 'rgba(66,66,90,0.5)', fontWeight: 'normal' }}&gt;· {it.o}&lt;/span&gt;&lt;/Text&gt;&#10;                        &lt;Text style={{ fontSize: 14, color: 'rgba(66,66,90,0.7)' }}&gt;{it.d}&lt;/Text&gt;&#10;                    &lt;/Box&gt;&#10;                    &lt;Text style={{ fontSize: 15, fontWeight: 'bold', color: it.c, fontFamily: 'Consolas' }}&gt;P{it.p}&lt;/Text&gt;&#10;                &lt;/Box&gt;&#10;            ))}&#10;            &lt;Box style={{ flex: 1, background: 'rgba(106,111,201,0.08)', border: '2px dashed #6A6FC9', borderRadius: 14, padding: '10px 18px', justifyContent: 'center', gap: 4 }}&gt;&#10;                &lt;Text style={{ fontSize: 15, fontWeight: 'bold', color: '#6A6FC9' }}&gt;下一页：目录 · 下&lt;/Text&gt;&#10;                &lt;Text style={{ fontSize: 14, color: 'rgba(66,66,90,0.75)', lineHeight: 1.5 }}&gt;第 06 章「模型训练」是本次汇报的主体（P08–P24），单独用一页展开八个小节与对应分工。&lt;/Text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矩形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378" name="圆角矩形 377"/>
          <p:cNvSpPr/>
          <p:nvPr/>
        </p:nvSpPr>
        <p:spPr>
          <a:xfrm>
            <a:off x="533400" y="409575"/>
            <a:ext cx="45720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666750" y="4857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00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1123950" y="361950"/>
            <a:ext cx="30670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CONTENTS · </a:t>
            </a:r>
            <a:r>
              <a:rPr lang="zh-CN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九大章节</a:t>
            </a:r>
            <a:endParaRPr lang="zh-CN" sz="135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圆角矩形 380"/>
          <p:cNvSpPr/>
          <p:nvPr/>
        </p:nvSpPr>
        <p:spPr>
          <a:xfrm>
            <a:off x="1123950" y="7620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382" name="圆角矩形 381"/>
          <p:cNvSpPr/>
          <p:nvPr/>
        </p:nvSpPr>
        <p:spPr>
          <a:xfrm>
            <a:off x="10201275" y="457200"/>
            <a:ext cx="1457325" cy="276225"/>
          </a:xfrm>
          <a:prstGeom prst="roundRect">
            <a:avLst>
              <a:gd name="adj" fmla="val 344482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10353675" y="514350"/>
            <a:ext cx="1152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汇报路线</a:t>
            </a:r>
            <a:r>
              <a:rPr lang="en-US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sz="105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533400" y="1009650"/>
            <a:ext cx="5457825" cy="885825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85" name="圆角矩形 384"/>
          <p:cNvSpPr/>
          <p:nvPr/>
        </p:nvSpPr>
        <p:spPr>
          <a:xfrm>
            <a:off x="704850" y="12382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828675" y="1352550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1276350" y="1257300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1276350" y="1495425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为什么要把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引入静态扫描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5581650" y="1371600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en-US" sz="112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0" name="圆角矩形 389"/>
          <p:cNvSpPr/>
          <p:nvPr/>
        </p:nvSpPr>
        <p:spPr>
          <a:xfrm>
            <a:off x="533400" y="2028825"/>
            <a:ext cx="5457825" cy="885825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91" name="圆角矩形 390"/>
          <p:cNvSpPr/>
          <p:nvPr/>
        </p:nvSpPr>
        <p:spPr>
          <a:xfrm>
            <a:off x="704850" y="22574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828675" y="2371725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1276350" y="2276475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276350" y="2514600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可检测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可分类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可闭环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可视化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5581650" y="2390775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en-US" sz="1125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6" name="圆角矩形 395"/>
          <p:cNvSpPr/>
          <p:nvPr/>
        </p:nvSpPr>
        <p:spPr>
          <a:xfrm>
            <a:off x="533400" y="3048000"/>
            <a:ext cx="545782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97" name="圆角矩形 396"/>
          <p:cNvSpPr/>
          <p:nvPr/>
        </p:nvSpPr>
        <p:spPr>
          <a:xfrm>
            <a:off x="704850" y="32670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28675" y="3381375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1276350" y="3286125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业务流程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276350" y="3524250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一次扫描从代码到工单的全链路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5581650" y="3400425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06</a:t>
            </a:r>
            <a:endParaRPr lang="en-US" sz="1125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02" name="圆角矩形 401"/>
          <p:cNvSpPr/>
          <p:nvPr/>
        </p:nvSpPr>
        <p:spPr>
          <a:xfrm>
            <a:off x="533400" y="4057650"/>
            <a:ext cx="5457825" cy="885825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03" name="圆角矩形 402"/>
          <p:cNvSpPr/>
          <p:nvPr/>
        </p:nvSpPr>
        <p:spPr>
          <a:xfrm>
            <a:off x="704850" y="42862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28675" y="4400550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04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1276350" y="4305300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技术架构设计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1276350" y="4543425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五层单向依赖，离线可复现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5581650" y="4419600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07</a:t>
            </a:r>
            <a:endParaRPr lang="en-US" sz="1125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08" name="圆角矩形 407"/>
          <p:cNvSpPr/>
          <p:nvPr/>
        </p:nvSpPr>
        <p:spPr>
          <a:xfrm>
            <a:off x="533400" y="5076825"/>
            <a:ext cx="5457825" cy="885825"/>
          </a:xfrm>
          <a:prstGeom prst="roundRect">
            <a:avLst>
              <a:gd name="adj" fmla="val 150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09" name="圆角矩形 408"/>
          <p:cNvSpPr/>
          <p:nvPr/>
        </p:nvSpPr>
        <p:spPr>
          <a:xfrm>
            <a:off x="704850" y="53054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828675" y="5419725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1276350" y="5324475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项目里程碑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1276350" y="5562600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三期节奏：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V1.0 →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V2.0</a:t>
            </a:r>
            <a:endParaRPr lang="en-US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5581650" y="5438775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07</a:t>
            </a:r>
            <a:endParaRPr lang="en-US" sz="112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14" name="圆角矩形 413"/>
          <p:cNvSpPr/>
          <p:nvPr/>
        </p:nvSpPr>
        <p:spPr>
          <a:xfrm>
            <a:off x="6200775" y="1009650"/>
            <a:ext cx="5457825" cy="828675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15" name="圆角矩形 414"/>
          <p:cNvSpPr/>
          <p:nvPr/>
        </p:nvSpPr>
        <p:spPr>
          <a:xfrm>
            <a:off x="6372225" y="12096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6496050" y="1323975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943725" y="1228725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模型训练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全员协作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6943725" y="1466850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八个小节，一条主线：数据→处理→训练→评估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11249025" y="1343025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08</a:t>
            </a:r>
            <a:endParaRPr lang="en-US" sz="1125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0" name="圆角矩形 419"/>
          <p:cNvSpPr/>
          <p:nvPr/>
        </p:nvSpPr>
        <p:spPr>
          <a:xfrm>
            <a:off x="6200775" y="1971675"/>
            <a:ext cx="54578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21" name="圆角矩形 420"/>
          <p:cNvSpPr/>
          <p:nvPr/>
        </p:nvSpPr>
        <p:spPr>
          <a:xfrm>
            <a:off x="6372225" y="21717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6496050" y="2286000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07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943725" y="2190750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问题及解决方案回顾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6943725" y="2428875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评审最常问的七个问题，逐一作答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11249025" y="2305050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25</a:t>
            </a:r>
            <a:endParaRPr lang="en-US" sz="1125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6" name="圆角矩形 425"/>
          <p:cNvSpPr/>
          <p:nvPr/>
        </p:nvSpPr>
        <p:spPr>
          <a:xfrm>
            <a:off x="6200775" y="2943225"/>
            <a:ext cx="5457825" cy="828675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27" name="圆角矩形 426"/>
          <p:cNvSpPr/>
          <p:nvPr/>
        </p:nvSpPr>
        <p:spPr>
          <a:xfrm>
            <a:off x="6372225" y="31432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6496050" y="3257550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08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6943725" y="3162300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创新及未来展望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6943725" y="3400425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多模型投票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图结构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LLM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11249025" y="3276600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27</a:t>
            </a:r>
            <a:endParaRPr lang="en-US" sz="1125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6200775" y="3905250"/>
            <a:ext cx="545782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33" name="圆角矩形 432"/>
          <p:cNvSpPr/>
          <p:nvPr/>
        </p:nvSpPr>
        <p:spPr>
          <a:xfrm>
            <a:off x="6372225" y="41052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6496050" y="4219575"/>
            <a:ext cx="2000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09</a:t>
            </a:r>
            <a:endParaRPr lang="en-US" sz="14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6943725" y="4124325"/>
            <a:ext cx="4171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6943725" y="4362450"/>
            <a:ext cx="4171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会议纪要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讨论照片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git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约定</a:t>
            </a:r>
            <a:r>
              <a:rPr lang="en-US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延伸拓展</a:t>
            </a:r>
            <a:endParaRPr lang="zh-CN" sz="105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11249025" y="4238625"/>
            <a:ext cx="238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12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28</a:t>
            </a:r>
            <a:endParaRPr lang="en-US" sz="112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38" name="圆角矩形 437"/>
          <p:cNvSpPr/>
          <p:nvPr/>
        </p:nvSpPr>
        <p:spPr>
          <a:xfrm>
            <a:off x="6200775" y="4876800"/>
            <a:ext cx="5457825" cy="1085850"/>
          </a:xfrm>
          <a:prstGeom prst="roundRect">
            <a:avLst>
              <a:gd name="adj" fmla="val 12281"/>
            </a:avLst>
          </a:prstGeom>
          <a:solidFill>
            <a:srgbClr val="6A6FC9">
              <a:alpha val="8000"/>
            </a:srgbClr>
          </a:solidFill>
          <a:ln w="25400">
            <a:solidFill>
              <a:srgbClr val="6A6FC9"/>
            </a:solidFill>
            <a:prstDash val="dash"/>
          </a:ln>
        </p:spPr>
        <p:txBody>
          <a:bodyPr/>
          <a:p/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6372225" y="5076825"/>
            <a:ext cx="5114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下一页：目录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下</a:t>
            </a:r>
            <a:endParaRPr lang="zh-CN" sz="112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6372225" y="5286375"/>
            <a:ext cx="51149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06 </a:t>
            </a:r>
            <a:r>
              <a:rPr lang="zh-CN" sz="105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章「模型训练」是本次汇报的主体（</a:t>
            </a:r>
            <a:r>
              <a:rPr lang="en-US" sz="105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P08–P24</a:t>
            </a:r>
            <a:r>
              <a:rPr lang="zh-CN" sz="105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），单独用一页展开八个小节与对应分工。</a:t>
            </a:r>
            <a:endParaRPr lang="zh-CN" sz="105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6134100"/>
            <a:ext cx="152400" cy="152400"/>
          </a:xfrm>
          <a:prstGeom prst="rect">
            <a:avLst/>
          </a:prstGeom>
        </p:spPr>
      </p:pic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762000" y="61341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11239500" y="6134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4" name="图片 443"/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0950" y="285750"/>
            <a:ext cx="209550" cy="209550"/>
          </a:xfrm>
          <a:prstGeom prst="rect">
            <a:avLst/>
          </a:prstGeom>
        </p:spPr>
      </p:pic>
      <p:pic>
        <p:nvPicPr>
          <p:cNvPr id="445" name="图片 444"/>
          <p:cNvPicPr>
            <a:picLocks noChangeAspect="1"/>
          </p:cNvPicPr>
          <p:nvPr/>
        </p:nvPicPr>
        <p:blipFill>
          <a:blip r:embed="rId5"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44200" y="588645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1" name="" descr="&lt;Slide style={{ width: '1280px', height: '720px', padding: '24px 56px', background: '#FFFBF5', position: 'relative', flexDirection: 'column', fontFamily: 'Microsoft YaHei' }}&gt;&#10;    &lt;FAIcon name='star' style={{ position: 'absolute', top: 34, right: 80, width: 20, height: 20, fill: '#E87E99', opacity: 0.55 }} /&gt;&#10;    &lt;FAIcon name='circle' style={{ position: 'absolute', bottom: 80, left: 90, width: 12, height: 12, fill: '#E5B45C', opacity: 0.6 }} /&gt;&#10;&#10;    &lt;Box style={{ flexDirection: 'row', alignItems: 'center', gap: 14, height: 76 }}&gt;&#10;        &lt;Box style={{ background: '#45A99D', borderRadius: 10, padding: '8px 14px', border: '2px solid #42425A', boxShadow: '3px 3px 0 #42425A' }}&gt;&#10;            &lt;Text style={{ fontSize: 18, fontWeight: 'bold', color: '#FFFFFF', fontFamily: 'Consolas' }}&gt;06&lt;/Text&gt;&#10;        &lt;/Box&gt;&#10;        &lt;Box style={{ flexDirection: 'column', gap: 6 }}&gt;&#10;            &lt;Text style={{ fontSize: 30, fontWeight: 'bold', color: '#42425A' }}&gt;目录 · 下 &lt;span style={{ fontSize: 18, color: 'rgba(66,66,90,0.5)' }}&gt;模型训练 · 八个小节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 }}&gt;&#10;            &lt;Text style={{ fontSize: 14, color: '#42425A' }}&gt;P08 – P24 · 汇报主体&lt;/Text&gt;&#10;        &lt;/Box&gt;&#10;    &lt;/Box&gt;&#10;&#10;    &lt;Box style={{ flexDirection: 'column', gap: 12, height: 520, marginTop: 6 }}&gt;&#10;        &lt;Box style={{ background: 'rgba(69,169,157,0.10)', border: '2px dashed #45A99D', borderRadius: 12, padding: '8px 18px' }}&gt;&#10;            &lt;Text style={{ fontSize: 15, color: '#42425A', lineHeight: 1.5 }}&gt;一条主线串起八个小节：&lt;span style={{ fontWeight: 'bold', color: '#45A99D' }}&gt;数据怎么来 → 怎么处理 → 怎么训 → 怎么看结果&lt;/span&gt;，每个小节由一位同学负责，下面按这条顺序展开。&lt;/Text&gt;&#10;        &lt;/Box&gt;&#10;        &lt;Box style={{ flexDirection: 'row', gap: 16, flex: 1 }}&gt;&#10;            &lt;Box style={{ flex: 1, flexDirection: 'column', gap: 12 }}&gt;&#10;                {[&#10;                    { n: '06.1', t: '模块设计', o: '郑志伟', p: '09', d: '工程骨架：scripts 编排 + src 复用 + 配置集中', icon: 'sitemap', c: '#6A6FC9' },&#10;                    { n: '06.2', t: '数据集及模型选取', o: '钟泽平', p: '10', d: '硬约束下的选择题：CVEfixes + codebert-base', icon: 'balance-scale', c: '#45A99D' },&#10;                    { n: '06.3', t: '原数据集和预处理后数据集分析', o: '钟祖滨', p: '12', d: '缺失 / 异常 / 重复 + 七张 EDA 实测图', icon: 'chart-bar', c: '#E87E99' },&#10;                    { n: '06.4', t: '数据集预处理环节', o: '温玉贵', p: '15', d: '八道治理工序，从原始记录到训练 JSONL', icon: 'filter', c: '#E5B45C' },&#10;                ].map((it, i) =&gt; (&#10;                    &lt;Box key={i} style={{ flex: 1, background: '#FFFFFF', border: '2px solid #42425A', borderRadius: 14, boxShadow: '4px 4px 0 #42425A', padding: '8px 16px', flexDirection: 'row', alignItems: 'center', gap: 12 }}&gt;&#10;                        &lt;Box style={{ width: 42, height: 42, borderRadius: 10, background: it.c, border: '2px solid #42425A', justifyContent: 'center', alignItems: 'center' }}&gt;&#10;                            &lt;FAIcon name={it.icon} style={{ fill: '#FFFFFF', width: 20, height: 20 }} /&gt;&#10;                        &lt;/Box&gt;&#10;                        &lt;Box style={{ flex: 1, flexDirection: 'column', gap: 2 }}&gt;&#10;                            &lt;Text style={{ fontSize: 17, fontWeight: 'bold', color: '#42425A' }}&gt;&lt;span style={{ color: it.c, fontFamily: 'Consolas' }}&gt;{it.n}&lt;/span&gt; {it.t} &lt;span style={{ fontSize: 13, color: 'rgba(66,66,90,0.5)', fontWeight: 'normal' }}&gt;· {it.o}&lt;/span&gt;&lt;/Text&gt;&#10;                            &lt;Text style={{ fontSize: 13, color: 'rgba(66,66,90,0.7)' }}&gt;{it.d}&lt;/Text&gt;&#10;                        &lt;/Box&gt;&#10;                        &lt;Text style={{ fontSize: 14, fontWeight: 'bold', color: it.c, fontFamily: 'Consolas' }}&gt;P{it.p}&lt;/Text&gt;&#10;                    &lt;/Box&gt;&#10;                ))}&#10;            &lt;/Box&gt;&#10;            &lt;Box style={{ flex: 1, flexDirection: 'column', gap: 12 }}&gt;&#10;                {[&#10;                    { n: '06.5', t: '特征工程处理', o: '张墨含', p: '16', d: '一条数据流水线：两阶段 · 三级截断 · 五个实测发现', icon: 'cogs', c: '#6A6FC9' },&#10;                    { n: '06.6', t: '模型训练集调优', o: '罗天伦', p: '19', d: 'baseline 先行：超参 · 换置 · 早停 · 阈值', icon: 'sliders-h', c: '#45A99D' },&#10;                    { n: '06.7', t: '模型效果评估', o: '罗文龙', p: '21', d: '先定规矩再看数字：六项指标 + 阈值权衡', icon: 'chart-line', c: '#E87E99' },&#10;                    { n: '06.8', t: '模型演示', o: '余敏 + 闪闪', p: '24', d: '检测与分类两条链路，现场跑一遍', icon: 'play-circle', c: '#E5B45C' },&#10;                ].map((it, i) =&gt; (&#10;                    &lt;Box key={i} style={{ flex: 1, background: '#FFFFFF', border: '2px solid #42425A', borderRadius: 14, boxShadow: '4px 4px 0 #42425A', padding: '8px 16px', flexDirection: 'row', alignItems: 'center', gap: 12 }}&gt;&#10;                        &lt;Box style={{ width: 42, height: 42, borderRadius: 10, background: it.c, border: '2px solid #42425A', justifyContent: 'center', alignItems: 'center' }}&gt;&#10;                            &lt;FAIcon name={it.icon} style={{ fill: '#FFFFFF', width: 20, height: 20 }} /&gt;&#10;                        &lt;/Box&gt;&#10;                        &lt;Box style={{ flex: 1, flexDirection: 'column', gap: 2 }}&gt;&#10;                            &lt;Text style={{ fontSize: 17, fontWeight: 'bold', color: '#42425A' }}&gt;&lt;span style={{ color: it.c, fontFamily: 'Consolas' }}&gt;{it.n}&lt;/span&gt; {it.t} &lt;span style={{ fontSize: 13, color: 'rgba(66,66,90,0.5)', fontWeight: 'normal' }}&gt;· {it.o}&lt;/span&gt;&lt;/Text&gt;&#10;                            &lt;Text style={{ fontSize: 13, color: 'rgba(66,66,90,0.7)' }}&gt;{it.d}&lt;/Text&gt;&#10;                        &lt;/Box&gt;&#10;                        &lt;Text style={{ fontSize: 14, fontWeight: 'bold', color: it.c, fontFamily: 'Consolas' }}&gt;P{it.p}&lt;/Text&gt;&#10;                    &lt;/Box&gt;&#10;                ))}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矩形 8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813" name="圆角矩形 812"/>
          <p:cNvSpPr/>
          <p:nvPr/>
        </p:nvSpPr>
        <p:spPr>
          <a:xfrm>
            <a:off x="533400" y="409575"/>
            <a:ext cx="457200" cy="361950"/>
          </a:xfrm>
          <a:prstGeom prst="roundRect">
            <a:avLst>
              <a:gd name="adj" fmla="val 26316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814" name="文本框 813" descr="{&quot;isTemplate&quot;:true,&quot;type&quot;:&quot;text&quot;}"/>
          <p:cNvSpPr txBox="1"/>
          <p:nvPr/>
        </p:nvSpPr>
        <p:spPr>
          <a:xfrm>
            <a:off x="666750" y="485775"/>
            <a:ext cx="190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1123950" y="361950"/>
            <a:ext cx="27908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下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模型训练</a:t>
            </a:r>
            <a:r>
              <a:rPr lang="en-US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八个小节</a:t>
            </a:r>
            <a:endParaRPr lang="zh-CN" sz="135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6" name="圆角矩形 815"/>
          <p:cNvSpPr/>
          <p:nvPr/>
        </p:nvSpPr>
        <p:spPr>
          <a:xfrm>
            <a:off x="1123950" y="7620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817" name="圆角矩形 816"/>
          <p:cNvSpPr/>
          <p:nvPr/>
        </p:nvSpPr>
        <p:spPr>
          <a:xfrm>
            <a:off x="10077450" y="457200"/>
            <a:ext cx="1581150" cy="276225"/>
          </a:xfrm>
          <a:prstGeom prst="roundRect">
            <a:avLst>
              <a:gd name="adj" fmla="val 344482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818" name="文本框 817" descr="{&quot;isTemplate&quot;:true,&quot;type&quot;:&quot;text&quot;}"/>
          <p:cNvSpPr txBox="1"/>
          <p:nvPr/>
        </p:nvSpPr>
        <p:spPr>
          <a:xfrm>
            <a:off x="10229850" y="514350"/>
            <a:ext cx="1276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P08 – P24 · </a:t>
            </a: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汇报主体</a:t>
            </a:r>
            <a:endParaRPr lang="zh-CN" sz="105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" name="圆角矩形 818"/>
          <p:cNvSpPr/>
          <p:nvPr/>
        </p:nvSpPr>
        <p:spPr>
          <a:xfrm>
            <a:off x="533400" y="1009650"/>
            <a:ext cx="11125200" cy="409575"/>
          </a:xfrm>
          <a:prstGeom prst="roundRect">
            <a:avLst>
              <a:gd name="adj" fmla="val 27907"/>
            </a:avLst>
          </a:prstGeom>
          <a:solidFill>
            <a:srgbClr val="45A99D">
              <a:alpha val="10000"/>
            </a:srgbClr>
          </a:solidFill>
          <a:ln w="25400">
            <a:solidFill>
              <a:srgbClr val="45A99D"/>
            </a:solidFill>
            <a:prstDash val="dash"/>
          </a:ln>
        </p:spPr>
        <p:txBody>
          <a:bodyPr/>
          <a:p/>
        </p:txBody>
      </p:sp>
      <p:sp>
        <p:nvSpPr>
          <p:cNvPr id="820" name="文本框 819" descr="{&quot;isTemplate&quot;:true,&quot;type&quot;:&quot;text&quot;}"/>
          <p:cNvSpPr txBox="1"/>
          <p:nvPr/>
        </p:nvSpPr>
        <p:spPr>
          <a:xfrm>
            <a:off x="704850" y="1085850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一条主线串起八个小节：</a:t>
            </a: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数据怎么来</a:t>
            </a:r>
            <a:r>
              <a:rPr lang="en-US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怎么处理</a:t>
            </a:r>
            <a:r>
              <a:rPr lang="en-US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怎么训</a:t>
            </a:r>
            <a:r>
              <a:rPr lang="en-US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怎么看结果</a:t>
            </a:r>
            <a:r>
              <a:rPr lang="zh-CN" sz="112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，每个小节由一位同学负责，下面按这条顺序展开。</a:t>
            </a:r>
            <a:endParaRPr lang="zh-CN" sz="112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1" name="圆角矩形 820"/>
          <p:cNvSpPr/>
          <p:nvPr/>
        </p:nvSpPr>
        <p:spPr>
          <a:xfrm>
            <a:off x="533400" y="1533525"/>
            <a:ext cx="5486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22" name="圆角矩形 821"/>
          <p:cNvSpPr/>
          <p:nvPr/>
        </p:nvSpPr>
        <p:spPr>
          <a:xfrm>
            <a:off x="685800" y="18478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23" name="图片 8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575" y="1952625"/>
            <a:ext cx="190500" cy="190500"/>
          </a:xfrm>
          <a:prstGeom prst="rect">
            <a:avLst/>
          </a:prstGeom>
        </p:spPr>
      </p:pic>
      <p:sp>
        <p:nvSpPr>
          <p:cNvPr id="824" name="文本框 823" descr="{&quot;isTemplate&quot;:true,&quot;type&quot;:&quot;text&quot;}"/>
          <p:cNvSpPr txBox="1"/>
          <p:nvPr/>
        </p:nvSpPr>
        <p:spPr>
          <a:xfrm>
            <a:off x="1200150" y="1857375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06.1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模块设计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郑志伟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1200150" y="2076450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工程骨架：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scripts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编排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src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复用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配置集中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6" name="文本框 825" descr="{&quot;isTemplate&quot;:true,&quot;type&quot;:&quot;text&quot;}"/>
          <p:cNvSpPr txBox="1"/>
          <p:nvPr/>
        </p:nvSpPr>
        <p:spPr>
          <a:xfrm>
            <a:off x="5638800" y="1962150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09</a:t>
            </a:r>
            <a:endParaRPr lang="en-US" sz="10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27" name="圆角矩形 826"/>
          <p:cNvSpPr/>
          <p:nvPr/>
        </p:nvSpPr>
        <p:spPr>
          <a:xfrm>
            <a:off x="533400" y="2667000"/>
            <a:ext cx="548640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28" name="圆角矩形 827"/>
          <p:cNvSpPr/>
          <p:nvPr/>
        </p:nvSpPr>
        <p:spPr>
          <a:xfrm>
            <a:off x="685800" y="29813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29" name="图片 82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575" y="3086100"/>
            <a:ext cx="190500" cy="190500"/>
          </a:xfrm>
          <a:prstGeom prst="rect">
            <a:avLst/>
          </a:prstGeom>
        </p:spPr>
      </p:pic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1200150" y="3000375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06.2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数据集及模型选取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钟泽平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1" name="文本框 830" descr="{&quot;isTemplate&quot;:true,&quot;type&quot;:&quot;text&quot;}"/>
          <p:cNvSpPr txBox="1"/>
          <p:nvPr/>
        </p:nvSpPr>
        <p:spPr>
          <a:xfrm>
            <a:off x="1200150" y="3219450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硬约束下的选择题：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CVEfixes + codebert-base</a:t>
            </a:r>
            <a:endParaRPr lang="en-US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2" name="文本框 831" descr="{&quot;isTemplate&quot;:true,&quot;type&quot;:&quot;text&quot;}"/>
          <p:cNvSpPr txBox="1"/>
          <p:nvPr/>
        </p:nvSpPr>
        <p:spPr>
          <a:xfrm>
            <a:off x="5638800" y="3105150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10</a:t>
            </a:r>
            <a:endParaRPr lang="en-US" sz="10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33" name="圆角矩形 832"/>
          <p:cNvSpPr/>
          <p:nvPr/>
        </p:nvSpPr>
        <p:spPr>
          <a:xfrm>
            <a:off x="533400" y="3810000"/>
            <a:ext cx="5486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34" name="圆角矩形 833"/>
          <p:cNvSpPr/>
          <p:nvPr/>
        </p:nvSpPr>
        <p:spPr>
          <a:xfrm>
            <a:off x="685800" y="41243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35" name="图片 83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575" y="4229100"/>
            <a:ext cx="190500" cy="190500"/>
          </a:xfrm>
          <a:prstGeom prst="rect">
            <a:avLst/>
          </a:prstGeom>
        </p:spPr>
      </p:pic>
      <p:sp>
        <p:nvSpPr>
          <p:cNvPr id="836" name="文本框 835" descr="{&quot;isTemplate&quot;:true,&quot;type&quot;:&quot;text&quot;}"/>
          <p:cNvSpPr txBox="1"/>
          <p:nvPr/>
        </p:nvSpPr>
        <p:spPr>
          <a:xfrm>
            <a:off x="1200150" y="4133850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06.3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原数据集和预处理后数据集分析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钟祖滨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1200150" y="4352925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缺失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重复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七张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EDA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实测图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8" name="文本框 837" descr="{&quot;isTemplate&quot;:true,&quot;type&quot;:&quot;text&quot;}"/>
          <p:cNvSpPr txBox="1"/>
          <p:nvPr/>
        </p:nvSpPr>
        <p:spPr>
          <a:xfrm>
            <a:off x="5638800" y="4238625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12</a:t>
            </a:r>
            <a:endParaRPr lang="en-US" sz="10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39" name="圆角矩形 838"/>
          <p:cNvSpPr/>
          <p:nvPr/>
        </p:nvSpPr>
        <p:spPr>
          <a:xfrm>
            <a:off x="533400" y="4943475"/>
            <a:ext cx="5486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40" name="圆角矩形 839"/>
          <p:cNvSpPr/>
          <p:nvPr/>
        </p:nvSpPr>
        <p:spPr>
          <a:xfrm>
            <a:off x="685800" y="52578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41" name="图片 84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575" y="5362575"/>
            <a:ext cx="190500" cy="190500"/>
          </a:xfrm>
          <a:prstGeom prst="rect">
            <a:avLst/>
          </a:prstGeom>
        </p:spPr>
      </p:pic>
      <p:sp>
        <p:nvSpPr>
          <p:cNvPr id="842" name="文本框 841" descr="{&quot;isTemplate&quot;:true,&quot;type&quot;:&quot;text&quot;}"/>
          <p:cNvSpPr txBox="1"/>
          <p:nvPr/>
        </p:nvSpPr>
        <p:spPr>
          <a:xfrm>
            <a:off x="1200150" y="5267325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06.4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数据集预处理环节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温玉贵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3" name="文本框 842" descr="{&quot;isTemplate&quot;:true,&quot;type&quot;:&quot;text&quot;}"/>
          <p:cNvSpPr txBox="1"/>
          <p:nvPr/>
        </p:nvSpPr>
        <p:spPr>
          <a:xfrm>
            <a:off x="1200150" y="5486400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八道治理工序，从原始记录到训练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JSONL</a:t>
            </a:r>
            <a:endParaRPr lang="en-US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4" name="文本框 843" descr="{&quot;isTemplate&quot;:true,&quot;type&quot;:&quot;text&quot;}"/>
          <p:cNvSpPr txBox="1"/>
          <p:nvPr/>
        </p:nvSpPr>
        <p:spPr>
          <a:xfrm>
            <a:off x="5638800" y="5372100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15</a:t>
            </a:r>
            <a:endParaRPr lang="en-US" sz="105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45" name="圆角矩形 844"/>
          <p:cNvSpPr/>
          <p:nvPr/>
        </p:nvSpPr>
        <p:spPr>
          <a:xfrm>
            <a:off x="6172200" y="1533525"/>
            <a:ext cx="5486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46" name="圆角矩形 845"/>
          <p:cNvSpPr/>
          <p:nvPr/>
        </p:nvSpPr>
        <p:spPr>
          <a:xfrm>
            <a:off x="6324600" y="184785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47" name="图片 84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9375" y="1952625"/>
            <a:ext cx="190500" cy="190500"/>
          </a:xfrm>
          <a:prstGeom prst="rect">
            <a:avLst/>
          </a:prstGeom>
        </p:spPr>
      </p:pic>
      <p:sp>
        <p:nvSpPr>
          <p:cNvPr id="848" name="文本框 847" descr="{&quot;isTemplate&quot;:true,&quot;type&quot;:&quot;text&quot;}"/>
          <p:cNvSpPr txBox="1"/>
          <p:nvPr/>
        </p:nvSpPr>
        <p:spPr>
          <a:xfrm>
            <a:off x="6838950" y="1857375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06.5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特征工程处理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张墨含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9" name="文本框 848" descr="{&quot;isTemplate&quot;:true,&quot;type&quot;:&quot;text&quot;}"/>
          <p:cNvSpPr txBox="1"/>
          <p:nvPr/>
        </p:nvSpPr>
        <p:spPr>
          <a:xfrm>
            <a:off x="6838950" y="2076450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一条数据流水线：两阶段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三级截断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五个实测发现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0" name="文本框 849" descr="{&quot;isTemplate&quot;:true,&quot;type&quot;:&quot;text&quot;}"/>
          <p:cNvSpPr txBox="1"/>
          <p:nvPr/>
        </p:nvSpPr>
        <p:spPr>
          <a:xfrm>
            <a:off x="11277600" y="1962150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16</a:t>
            </a:r>
            <a:endParaRPr lang="en-US" sz="10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51" name="圆角矩形 850"/>
          <p:cNvSpPr/>
          <p:nvPr/>
        </p:nvSpPr>
        <p:spPr>
          <a:xfrm>
            <a:off x="6172200" y="2667000"/>
            <a:ext cx="548640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52" name="圆角矩形 851"/>
          <p:cNvSpPr/>
          <p:nvPr/>
        </p:nvSpPr>
        <p:spPr>
          <a:xfrm>
            <a:off x="6324600" y="29813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53" name="图片 852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29375" y="3086100"/>
            <a:ext cx="190500" cy="190500"/>
          </a:xfrm>
          <a:prstGeom prst="rect">
            <a:avLst/>
          </a:prstGeom>
        </p:spPr>
      </p:pic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6838950" y="3000375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06.6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模型训练集调优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罗天伦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6838950" y="3219450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baseline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先行：超参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换置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早停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6" name="文本框 855" descr="{&quot;isTemplate&quot;:true,&quot;type&quot;:&quot;text&quot;}"/>
          <p:cNvSpPr txBox="1"/>
          <p:nvPr/>
        </p:nvSpPr>
        <p:spPr>
          <a:xfrm>
            <a:off x="11277600" y="3105150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19</a:t>
            </a:r>
            <a:endParaRPr lang="en-US" sz="10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57" name="圆角矩形 856"/>
          <p:cNvSpPr/>
          <p:nvPr/>
        </p:nvSpPr>
        <p:spPr>
          <a:xfrm>
            <a:off x="6172200" y="3810000"/>
            <a:ext cx="5486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58" name="圆角矩形 857"/>
          <p:cNvSpPr/>
          <p:nvPr/>
        </p:nvSpPr>
        <p:spPr>
          <a:xfrm>
            <a:off x="6324600" y="41243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59" name="图片 858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29375" y="4229100"/>
            <a:ext cx="190500" cy="190500"/>
          </a:xfrm>
          <a:prstGeom prst="rect">
            <a:avLst/>
          </a:prstGeom>
        </p:spPr>
      </p:pic>
      <p:sp>
        <p:nvSpPr>
          <p:cNvPr id="860" name="文本框 859" descr="{&quot;isTemplate&quot;:true,&quot;type&quot;:&quot;text&quot;}"/>
          <p:cNvSpPr txBox="1"/>
          <p:nvPr/>
        </p:nvSpPr>
        <p:spPr>
          <a:xfrm>
            <a:off x="6838950" y="4133850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06.7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模型效果评估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罗文龙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6838950" y="4352925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先定规矩再看数字：六项指标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阈值权衡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文本框 861" descr="{&quot;isTemplate&quot;:true,&quot;type&quot;:&quot;text&quot;}"/>
          <p:cNvSpPr txBox="1"/>
          <p:nvPr/>
        </p:nvSpPr>
        <p:spPr>
          <a:xfrm>
            <a:off x="11277600" y="4238625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21</a:t>
            </a:r>
            <a:endParaRPr lang="en-US" sz="10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63" name="圆角矩形 862"/>
          <p:cNvSpPr/>
          <p:nvPr/>
        </p:nvSpPr>
        <p:spPr>
          <a:xfrm>
            <a:off x="6172200" y="4943475"/>
            <a:ext cx="5486400" cy="1019175"/>
          </a:xfrm>
          <a:prstGeom prst="roundRect">
            <a:avLst>
              <a:gd name="adj" fmla="val 130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64" name="圆角矩形 863"/>
          <p:cNvSpPr/>
          <p:nvPr/>
        </p:nvSpPr>
        <p:spPr>
          <a:xfrm>
            <a:off x="6324600" y="5257800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65" name="图片 864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29375" y="5362575"/>
            <a:ext cx="190500" cy="190500"/>
          </a:xfrm>
          <a:prstGeom prst="rect">
            <a:avLst/>
          </a:prstGeom>
        </p:spPr>
      </p:pic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6838950" y="5267325"/>
            <a:ext cx="43243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06.8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模型演示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余敏</a:t>
            </a:r>
            <a:r>
              <a:rPr lang="en-US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975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文本框 866" descr="{&quot;isTemplate&quot;:true,&quot;type&quot;:&quot;text&quot;}"/>
          <p:cNvSpPr txBox="1"/>
          <p:nvPr/>
        </p:nvSpPr>
        <p:spPr>
          <a:xfrm>
            <a:off x="6838950" y="5486400"/>
            <a:ext cx="4324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检测与分类两条链路，现场跑一遍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8" name="文本框 867" descr="{&quot;isTemplate&quot;:true,&quot;type&quot;:&quot;text&quot;}"/>
          <p:cNvSpPr txBox="1"/>
          <p:nvPr/>
        </p:nvSpPr>
        <p:spPr>
          <a:xfrm>
            <a:off x="11277600" y="5372100"/>
            <a:ext cx="228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P</a:t>
            </a:r>
            <a:r>
              <a:rPr lang="en-US" sz="1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24</a:t>
            </a:r>
            <a:endParaRPr lang="en-US" sz="105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869" name="图片 868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3400" y="6134100"/>
            <a:ext cx="152400" cy="152400"/>
          </a:xfrm>
          <a:prstGeom prst="rect">
            <a:avLst/>
          </a:prstGeom>
        </p:spPr>
      </p:pic>
      <p:sp>
        <p:nvSpPr>
          <p:cNvPr id="870" name="文本框 869" descr="{&quot;isTemplate&quot;:true,&quot;type&quot;:&quot;text&quot;}"/>
          <p:cNvSpPr txBox="1"/>
          <p:nvPr/>
        </p:nvSpPr>
        <p:spPr>
          <a:xfrm>
            <a:off x="762000" y="61341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1" name="文本框 870" descr="{&quot;isTemplate&quot;:true,&quot;type&quot;:&quot;text&quot;}"/>
          <p:cNvSpPr txBox="1"/>
          <p:nvPr/>
        </p:nvSpPr>
        <p:spPr>
          <a:xfrm>
            <a:off x="11239500" y="61341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72" name="图片 871"/>
          <p:cNvPicPr>
            <a:picLocks noChangeAspect="1"/>
          </p:cNvPicPr>
          <p:nvPr/>
        </p:nvPicPr>
        <p:blipFill>
          <a:blip r:embed="rId19">
            <a:alphaModFix amt="55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39500" y="323850"/>
            <a:ext cx="190500" cy="190500"/>
          </a:xfrm>
          <a:prstGeom prst="rect">
            <a:avLst/>
          </a:prstGeom>
        </p:spPr>
      </p:pic>
      <p:pic>
        <p:nvPicPr>
          <p:cNvPr id="873" name="图片 872"/>
          <p:cNvPicPr>
            <a:picLocks noChangeAspect="1"/>
          </p:cNvPicPr>
          <p:nvPr/>
        </p:nvPicPr>
        <p:blipFill>
          <a:blip r:embed="rId21">
            <a:alphaModFix amt="60000"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7250" y="598170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9" name="" descr="&lt;Slide style={{ width: '1280px', height: '720px', padding: '24px 56px', background: '#FFFBF5', position: 'relative', flexDirection: 'column', fontFamily: 'Microsoft YaHei' }}&gt;&#10;    &lt;FAIcon name='compass' style={{ position: 'absolute', top: 30, right: 72, width: 24, height: 24, fill: '#6A6FC9', opacity: 0.5 }} /&gt;&#10;    &lt;FAIcon name='star' style={{ position: 'absolute', bottom: 80, left: 84, width: 18, height: 18, fill: '#E5B45C', opacity: 0.6 }} /&gt;&#10;&#10;    &lt;Box style={{ flexDirection: 'row', alignItems: 'center', gap: 14, height: 76 }}&gt;&#10;        &lt;Box style={{ background: '#42425A', borderRadius: 10, padding: '8px 14px', border: '2px solid #42425A', boxShadow: '3px 3px 0 #6A6FC9' }}&gt;&#10;            &lt;Text style={{ fontSize: 18, fontWeight: 'bold', color: '#FFFFFF', fontFamily: 'Consolas' }}&gt;思路&lt;/Text&gt;&#10;        &lt;/Box&gt;&#10;        &lt;Box style={{ flexDirection: 'column', gap: 6 }}&gt;&#10;            &lt;Text style={{ fontSize: 30, fontWeight: 'bold', color: '#42425A' }}&gt;思路讲解 &lt;span style={{ fontSize: 17, color: 'rgba(66,66,90,0.5)' }}&gt;· 这份汇报怎么听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 }}&gt;&#10;            &lt;Text style={{ fontSize: 14, color: '#42425A' }}&gt;承上启下 · 目录之后&lt;/Text&gt;&#10;        &lt;/Box&gt;&#10;    &lt;/Box&gt;&#10;&#10;    &lt;Box style={{ background: 'rgba(106,111,201,0.08)', border: '2px dashed #6A6FC9', borderRadius: 12, padding: '8px 18px', marginBottom: 10 }}&gt;&#10;        &lt;Text style={{ fontSize: 15.5, color: '#42425A', lineHeight: 1.5 }}&gt;整份汇报只回答一个核心问题：&lt;span style={{ fontWeight: 'bold', color: '#6A6FC9' }}&gt;能不能用开源数据 + 开源模型，在单卡上做出一套可用的漏洞扫描能力？&lt;/span&gt;前面的背景目标给出问题，中间的模型训练给出做法，最后的回顾展望给出反思。&lt;/Text&gt;&#10;    &lt;/Box&gt;&#10;&#10;    &lt;Box style={{ flexDirection: 'row', gap: 16, height: 330 }}&gt;&#10;        {/* 左：数据主线 */}&#10;        &lt;Box style={{ flex: 3, background: '#FFFFFF', border: '2px solid #42425A', borderRadius: 14, boxShadow: '4px 4px 0 #42425A', padding: 14, flexDirection: 'column', gap: 8 }}&gt;&#10;            &lt;Text style={{ fontSize: 15, fontWeight: 'bold', color: 'rgba(66,66,90,0.65)' }}&gt;主线 · 四段递进（对应第 06 章的页码）&lt;/Text&gt;&#10;            {[&#10;                { n: '①', t: '数据怎么来', d: '数据集与模型选型、原始数据体检（EDA）', p: 'P10–P14', c: '#6A6FC9' },&#10;                { n: '②', t: '怎么处理', d: '八道预处理工序 + 特征工程数据流水线', p: 'P15–P18', c: '#45A99D' },&#10;                { n: '③', t: '怎么训', d: 'baseline 先行：超参、换置、早停与阈值', p: 'P19–P20', c: '#E5B45C' },&#10;                { n: '④', t: '怎么看结果', d: '六项指标、实测数据、阈值权衡与演示', p: 'P21–P24', c: '#E87E99' },&#10;            ].map((it, i) =&gt; (&#10;                &lt;Box key={i} style={{ flex: 1, flexDirection: 'row', alignItems: 'center', gap: 12, background: 'rgba(66,66,90,0.04)', borderRadius: 10, padding: '6px 12px' }}&gt;&#10;                    &lt;Box style={{ width: 36, height: 36, borderRadius: 10, background: it.c, border: '2px solid #42425A', justifyContent: 'center', alignItems: 'center' }}&gt;&#10;                        &lt;Text style={{ fontSize: 17, fontWeight: 'bold', color: '#FFFFFF', fontFamily: 'Consolas' }}&gt;{it.n}&lt;/Text&gt;&#10;                    &lt;/Box&gt;&#10;                    &lt;Box style={{ flex: 1, flexDirection: 'column', gap: 1 }}&gt;&#10;                        &lt;Text style={{ fontSize: 15, fontWeight: 'bold', color: '#42425A' }}&gt;{it.t}&lt;/Text&gt;&#10;                        &lt;Text style={{ fontSize: 12, color: 'rgba(66,66,90,0.72)' }}&gt;{it.d}&lt;/Text&gt;&#10;                    &lt;/Box&gt;&#10;                    &lt;Text style={{ fontSize: 13, fontWeight: 'bold', color: it.c, fontFamily: 'Consolas' }}&gt;{it.p}&lt;/Text&gt;&#10;                &lt;/Box&gt;&#10;            ))}&#10;        &lt;/Box&gt;&#10;&#10;        {/* 右：两个设计 + 三个观点 */}&#10;        &lt;Box style={{ flex: 2, flexDirection: 'column', gap: 10 }}&gt;&#10;            &lt;Box style={{ background: '#FFFFFF', border: '2px solid #42425A', borderRadius: 14, boxShadow: '4px 4px 0 #42425A', padding: 12, flexDirection: 'column', gap: 5 }}&gt;&#10;                &lt;Box style={{ flexDirection: 'row', alignItems: 'center', gap: 8 }}&gt;&#10;                    &lt;FAIcon name='code-branch' style={{ fill: '#6A6FC9', width: 18, height: 18 }} /&gt;&#10;                    &lt;Text style={{ fontSize: 15, fontWeight: 'bold', color: '#42425A' }}&gt;两条任务线：先检测，再分类&lt;/Text&gt;&#10;                &lt;/Box&gt;&#10;                &lt;Text style={{ fontSize: 12.5, color: 'rgba(66,66,90,0.8)', lineHeight: 1.5 }}&gt;检测回答「有没有」，分类回答「是哪类」。顺序由标签构成决定：分类模型从没见过安全样本，直接跑会给每段代码都安一个 CWE。&lt;/Text&gt;&#10;            &lt;/Box&gt;&#10;            &lt;Box style={{ flex: 1, background: '#FFFFFF', border: '2px solid #42425A', borderRadius: 14, boxShadow: '4px 4px 0 #42425A', padding: 12, flexDirection: 'column', gap: 6 }}&gt;&#10;                &lt;Box style={{ flexDirection: 'row', alignItems: 'center', gap: 8 }}&gt;&#10;                    &lt;FAIcon name='lightbulb' style={{ fill: '#E5B45C', width: 18, height: 18 }} /&gt;&#10;                    &lt;Text style={{ fontSize: 15, fontWeight: 'bold', color: '#42425A' }}&gt;三个贯穿全篇的观点&lt;/Text&gt;&#10;                &lt;/Box&gt;&#10;                {[&#10;                    { t: '漏报比误报严重', d: '安全行业的共识，决定阈值与指标口径', c: '#E87E99' },&#10;                    { t: '阈值是业务旋钮，不是模型参数', d: '0.5 只是数学中点，要按业务目标调', c: '#6A6FC9' },&#10;                    { t: '先算数量，再谈设计有没有生效', d: '不会报错的设计失效，只有实测能发现', c: '#45A99D' },&#10;                ].map((it, i) =&gt; (&#10;                    &lt;Box key={i} style={{ flex: 1, background: 'rgba(66,66,90,0.04)', borderRadius: 8, padding: '5px 10px', flexDirection: 'column', gap: 1, justifyContent: 'center' }}&gt;&#10;                        &lt;Text style={{ fontSize: 13.5, fontWeight: 'bold', color: it.c }}&gt;{it.t}&lt;/Text&gt;&#10;                        &lt;Text style={{ fontSize: 11.5, color: 'rgba(66,66,90,0.72)' }}&gt;{it.d}&lt;/Text&gt;&#10;                    &lt;/Box&gt;&#10;                ))}&#10;            &lt;/Box&gt;&#10;        &lt;/Box&gt;&#10;    &lt;/Box&gt;&#10;&#10;    &lt;Box style={{ marginTop: 12, background: '#42425A', borderRadius: 12, padding: '8px 18px' }}&gt;&#10;        &lt;Text style={{ fontSize: 13.5, color: '#FFFBF5', lineHeight: 1.5 }}&gt;听的时候可以带着这个问题：&lt;span style={{ fontWeight: 'bold', color: '#E5B45C' }}&gt;如果换成你来做，哪一步会做出不同的决定？&lt;/span&gt;每个环节的取舍我们都摆在了台面上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矩形 8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901" name="圆角矩形 900"/>
          <p:cNvSpPr/>
          <p:nvPr/>
        </p:nvSpPr>
        <p:spPr>
          <a:xfrm>
            <a:off x="533400" y="409575"/>
            <a:ext cx="704850" cy="361950"/>
          </a:xfrm>
          <a:prstGeom prst="roundRect">
            <a:avLst>
              <a:gd name="adj" fmla="val 26316"/>
            </a:avLst>
          </a:prstGeom>
          <a:solidFill>
            <a:srgbClr val="42425A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6A6FC9"/>
            </a:outerShdw>
          </a:effectLst>
        </p:spPr>
        <p:txBody>
          <a:bodyPr/>
          <a:p/>
        </p:txBody>
      </p:sp>
      <p:sp>
        <p:nvSpPr>
          <p:cNvPr id="902" name="文本框 901" descr="{&quot;isTemplate&quot;:true,&quot;type&quot;:&quot;text&quot;}"/>
          <p:cNvSpPr txBox="1"/>
          <p:nvPr/>
        </p:nvSpPr>
        <p:spPr>
          <a:xfrm>
            <a:off x="666750" y="485775"/>
            <a:ext cx="438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思路</a:t>
            </a:r>
            <a:endParaRPr lang="zh-CN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03" name="文本框 902" descr="{&quot;isTemplate&quot;:true,&quot;type&quot;:&quot;text&quot;}"/>
          <p:cNvSpPr txBox="1"/>
          <p:nvPr/>
        </p:nvSpPr>
        <p:spPr>
          <a:xfrm>
            <a:off x="1371600" y="361950"/>
            <a:ext cx="24860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思路讲解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这份汇报怎么听</a:t>
            </a:r>
            <a:endParaRPr lang="zh-CN" sz="1275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4" name="圆角矩形 903"/>
          <p:cNvSpPr/>
          <p:nvPr/>
        </p:nvSpPr>
        <p:spPr>
          <a:xfrm>
            <a:off x="1371600" y="7620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905" name="圆角矩形 904"/>
          <p:cNvSpPr/>
          <p:nvPr/>
        </p:nvSpPr>
        <p:spPr>
          <a:xfrm>
            <a:off x="10172700" y="457200"/>
            <a:ext cx="1485900" cy="276225"/>
          </a:xfrm>
          <a:prstGeom prst="roundRect">
            <a:avLst>
              <a:gd name="adj" fmla="val 344482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10325100" y="514350"/>
            <a:ext cx="1181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承上启下</a:t>
            </a:r>
            <a:r>
              <a:rPr lang="en-US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目录之后</a:t>
            </a:r>
            <a:endParaRPr lang="zh-CN" sz="105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7" name="圆角矩形 906"/>
          <p:cNvSpPr/>
          <p:nvPr/>
        </p:nvSpPr>
        <p:spPr>
          <a:xfrm>
            <a:off x="533400" y="952500"/>
            <a:ext cx="11125200" cy="685800"/>
          </a:xfrm>
          <a:prstGeom prst="roundRect">
            <a:avLst>
              <a:gd name="adj" fmla="val 16667"/>
            </a:avLst>
          </a:prstGeom>
          <a:solidFill>
            <a:srgbClr val="6A6FC9">
              <a:alpha val="8000"/>
            </a:srgbClr>
          </a:solidFill>
          <a:ln w="25400">
            <a:solidFill>
              <a:srgbClr val="6A6FC9"/>
            </a:solidFill>
            <a:prstDash val="dash"/>
          </a:ln>
        </p:spPr>
        <p:txBody>
          <a:bodyPr/>
          <a:p/>
        </p:txBody>
      </p:sp>
      <p:sp>
        <p:nvSpPr>
          <p:cNvPr id="908" name="文本框 907" descr="{&quot;isTemplate&quot;:true,&quot;type&quot;:&quot;text&quot;}"/>
          <p:cNvSpPr txBox="1"/>
          <p:nvPr/>
        </p:nvSpPr>
        <p:spPr>
          <a:xfrm>
            <a:off x="704850" y="1028700"/>
            <a:ext cx="107823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整份汇报只回答一个核心问题：</a:t>
            </a:r>
            <a:r>
              <a:rPr lang="zh-CN" sz="116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能不能用开源数据</a:t>
            </a:r>
            <a:r>
              <a:rPr lang="en-US" sz="116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6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开源模型，在单卡上做出一套可用的漏洞扫描能力？</a:t>
            </a:r>
            <a:r>
              <a:rPr lang="zh-CN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前面的背景目标给出问题，中间的模型训练给出做法，最后的回顾展望给出反思。</a:t>
            </a:r>
            <a:endParaRPr lang="zh-CN" sz="116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9" name="圆角矩形 908"/>
          <p:cNvSpPr/>
          <p:nvPr/>
        </p:nvSpPr>
        <p:spPr>
          <a:xfrm>
            <a:off x="533400" y="1733550"/>
            <a:ext cx="6581775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910" name="文本框 909" descr="{&quot;isTemplate&quot;:true,&quot;type&quot;:&quot;text&quot;}"/>
          <p:cNvSpPr txBox="1"/>
          <p:nvPr/>
        </p:nvSpPr>
        <p:spPr>
          <a:xfrm>
            <a:off x="666750" y="1866900"/>
            <a:ext cx="6315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主线</a:t>
            </a:r>
            <a:r>
              <a:rPr lang="en-US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四段递进（对应第</a:t>
            </a:r>
            <a:r>
              <a:rPr lang="en-US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06 </a:t>
            </a: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章的页码）</a:t>
            </a:r>
            <a:endParaRPr lang="zh-CN" sz="1125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1" name="圆角矩形 910"/>
          <p:cNvSpPr/>
          <p:nvPr/>
        </p:nvSpPr>
        <p:spPr>
          <a:xfrm>
            <a:off x="666750" y="2114550"/>
            <a:ext cx="6315075" cy="600075"/>
          </a:xfrm>
          <a:prstGeom prst="roundRect">
            <a:avLst>
              <a:gd name="adj" fmla="val 15873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12" name="圆角矩形 911"/>
          <p:cNvSpPr/>
          <p:nvPr/>
        </p:nvSpPr>
        <p:spPr>
          <a:xfrm>
            <a:off x="781050" y="22479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13" name="文本框 912" descr="{&quot;isTemplate&quot;:true,&quot;type&quot;:&quot;text&quot;}"/>
          <p:cNvSpPr txBox="1"/>
          <p:nvPr/>
        </p:nvSpPr>
        <p:spPr>
          <a:xfrm>
            <a:off x="904875" y="2324100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①</a:t>
            </a:r>
            <a:endParaRPr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14" name="文本框 913" descr="{&quot;isTemplate&quot;:true,&quot;type&quot;:&quot;text&quot;}"/>
          <p:cNvSpPr txBox="1"/>
          <p:nvPr/>
        </p:nvSpPr>
        <p:spPr>
          <a:xfrm>
            <a:off x="1238250" y="2257425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数据怎么来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5" name="文本框 914" descr="{&quot;isTemplate&quot;:true,&quot;type&quot;:&quot;text&quot;}"/>
          <p:cNvSpPr txBox="1"/>
          <p:nvPr/>
        </p:nvSpPr>
        <p:spPr>
          <a:xfrm>
            <a:off x="1238250" y="2438400"/>
            <a:ext cx="5029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数据集与模型选型、原始数据体检（</a:t>
            </a:r>
            <a:r>
              <a:rPr lang="en-US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EDA</a:t>
            </a: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6" name="文本框 915" descr="{&quot;isTemplate&quot;:true,&quot;type&quot;:&quot;text&quot;}"/>
          <p:cNvSpPr txBox="1"/>
          <p:nvPr/>
        </p:nvSpPr>
        <p:spPr>
          <a:xfrm>
            <a:off x="6381750" y="2343150"/>
            <a:ext cx="485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P10–P14</a:t>
            </a:r>
            <a:endParaRPr lang="en-US" sz="97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17" name="圆角矩形 916"/>
          <p:cNvSpPr/>
          <p:nvPr/>
        </p:nvSpPr>
        <p:spPr>
          <a:xfrm>
            <a:off x="666750" y="2790825"/>
            <a:ext cx="6315075" cy="600075"/>
          </a:xfrm>
          <a:prstGeom prst="roundRect">
            <a:avLst>
              <a:gd name="adj" fmla="val 15873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18" name="圆角矩形 917"/>
          <p:cNvSpPr/>
          <p:nvPr/>
        </p:nvSpPr>
        <p:spPr>
          <a:xfrm>
            <a:off x="781050" y="29241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19" name="文本框 918" descr="{&quot;isTemplate&quot;:true,&quot;type&quot;:&quot;text&quot;}"/>
          <p:cNvSpPr txBox="1"/>
          <p:nvPr/>
        </p:nvSpPr>
        <p:spPr>
          <a:xfrm>
            <a:off x="904875" y="300037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②</a:t>
            </a:r>
            <a:endParaRPr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20" name="文本框 919" descr="{&quot;isTemplate&quot;:true,&quot;type&quot;:&quot;text&quot;}"/>
          <p:cNvSpPr txBox="1"/>
          <p:nvPr/>
        </p:nvSpPr>
        <p:spPr>
          <a:xfrm>
            <a:off x="1238250" y="293370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怎么处理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1" name="文本框 920" descr="{&quot;isTemplate&quot;:true,&quot;type&quot;:&quot;text&quot;}"/>
          <p:cNvSpPr txBox="1"/>
          <p:nvPr/>
        </p:nvSpPr>
        <p:spPr>
          <a:xfrm>
            <a:off x="1238250" y="3114675"/>
            <a:ext cx="5029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八道预处理工序</a:t>
            </a:r>
            <a:r>
              <a:rPr lang="en-US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特征工程数据流水线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6381750" y="3019425"/>
            <a:ext cx="485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P15–P18</a:t>
            </a:r>
            <a:endParaRPr lang="en-US" sz="975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23" name="圆角矩形 922"/>
          <p:cNvSpPr/>
          <p:nvPr/>
        </p:nvSpPr>
        <p:spPr>
          <a:xfrm>
            <a:off x="666750" y="3467100"/>
            <a:ext cx="6315075" cy="600075"/>
          </a:xfrm>
          <a:prstGeom prst="roundRect">
            <a:avLst>
              <a:gd name="adj" fmla="val 15873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24" name="圆角矩形 923"/>
          <p:cNvSpPr/>
          <p:nvPr/>
        </p:nvSpPr>
        <p:spPr>
          <a:xfrm>
            <a:off x="781050" y="3600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25" name="文本框 924" descr="{&quot;isTemplate&quot;:true,&quot;type&quot;:&quot;text&quot;}"/>
          <p:cNvSpPr txBox="1"/>
          <p:nvPr/>
        </p:nvSpPr>
        <p:spPr>
          <a:xfrm>
            <a:off x="904875" y="3676650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③</a:t>
            </a:r>
            <a:endParaRPr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1238250" y="3609975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怎么训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1238250" y="3790950"/>
            <a:ext cx="5029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baseline </a:t>
            </a: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先行：超参、换置、早停与阈值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8" name="文本框 927" descr="{&quot;isTemplate&quot;:true,&quot;type&quot;:&quot;text&quot;}"/>
          <p:cNvSpPr txBox="1"/>
          <p:nvPr/>
        </p:nvSpPr>
        <p:spPr>
          <a:xfrm>
            <a:off x="6381750" y="3695700"/>
            <a:ext cx="485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P19–P20</a:t>
            </a:r>
            <a:endParaRPr lang="en-US" sz="975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29" name="圆角矩形 928"/>
          <p:cNvSpPr/>
          <p:nvPr/>
        </p:nvSpPr>
        <p:spPr>
          <a:xfrm>
            <a:off x="666750" y="4143375"/>
            <a:ext cx="6315075" cy="600075"/>
          </a:xfrm>
          <a:prstGeom prst="roundRect">
            <a:avLst>
              <a:gd name="adj" fmla="val 15873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30" name="圆角矩形 929"/>
          <p:cNvSpPr/>
          <p:nvPr/>
        </p:nvSpPr>
        <p:spPr>
          <a:xfrm>
            <a:off x="781050" y="42767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31" name="文本框 930" descr="{&quot;isTemplate&quot;:true,&quot;type&quot;:&quot;text&quot;}"/>
          <p:cNvSpPr txBox="1"/>
          <p:nvPr/>
        </p:nvSpPr>
        <p:spPr>
          <a:xfrm>
            <a:off x="904875" y="4352925"/>
            <a:ext cx="95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④</a:t>
            </a:r>
            <a:endParaRPr sz="127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32" name="文本框 931" descr="{&quot;isTemplate&quot;:true,&quot;type&quot;:&quot;text&quot;}"/>
          <p:cNvSpPr txBox="1"/>
          <p:nvPr/>
        </p:nvSpPr>
        <p:spPr>
          <a:xfrm>
            <a:off x="1238250" y="4286250"/>
            <a:ext cx="5029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怎么看结果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3" name="文本框 932" descr="{&quot;isTemplate&quot;:true,&quot;type&quot;:&quot;text&quot;}"/>
          <p:cNvSpPr txBox="1"/>
          <p:nvPr/>
        </p:nvSpPr>
        <p:spPr>
          <a:xfrm>
            <a:off x="1238250" y="4467225"/>
            <a:ext cx="5029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六项指标、实测数据、阈值权衡与演示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6381750" y="4371975"/>
            <a:ext cx="485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P21–P24</a:t>
            </a:r>
            <a:endParaRPr lang="en-US" sz="975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35" name="圆角矩形 934"/>
          <p:cNvSpPr/>
          <p:nvPr/>
        </p:nvSpPr>
        <p:spPr>
          <a:xfrm>
            <a:off x="7267575" y="1733550"/>
            <a:ext cx="439102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pic>
        <p:nvPicPr>
          <p:cNvPr id="936" name="图片 9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81875" y="1847850"/>
            <a:ext cx="171450" cy="171450"/>
          </a:xfrm>
          <a:prstGeom prst="rect">
            <a:avLst/>
          </a:prstGeom>
        </p:spPr>
      </p:pic>
      <p:sp>
        <p:nvSpPr>
          <p:cNvPr id="937" name="文本框 936" descr="{&quot;isTemplate&quot;:true,&quot;type&quot;:&quot;text&quot;}"/>
          <p:cNvSpPr txBox="1"/>
          <p:nvPr/>
        </p:nvSpPr>
        <p:spPr>
          <a:xfrm>
            <a:off x="7629525" y="1847850"/>
            <a:ext cx="1857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两条任务线：先检测，再分类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8" name="文本框 937" descr="{&quot;isTemplate&quot;:true,&quot;type&quot;:&quot;text&quot;}"/>
          <p:cNvSpPr txBox="1"/>
          <p:nvPr/>
        </p:nvSpPr>
        <p:spPr>
          <a:xfrm>
            <a:off x="7381875" y="2066925"/>
            <a:ext cx="41624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检测回答「有没有」，分类回答「是哪类」。顺序由标签构成决定：分类模型从没见过安全样本，直接跑会给每段代码都安一个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9" name="圆角矩形 938"/>
          <p:cNvSpPr/>
          <p:nvPr/>
        </p:nvSpPr>
        <p:spPr>
          <a:xfrm>
            <a:off x="7267575" y="2705100"/>
            <a:ext cx="4391025" cy="2171700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pic>
        <p:nvPicPr>
          <p:cNvPr id="940" name="图片 9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1875" y="2819400"/>
            <a:ext cx="171450" cy="171450"/>
          </a:xfrm>
          <a:prstGeom prst="rect">
            <a:avLst/>
          </a:prstGeom>
        </p:spPr>
      </p:pic>
      <p:sp>
        <p:nvSpPr>
          <p:cNvPr id="941" name="文本框 940" descr="{&quot;isTemplate&quot;:true,&quot;type&quot;:&quot;text&quot;}"/>
          <p:cNvSpPr txBox="1"/>
          <p:nvPr/>
        </p:nvSpPr>
        <p:spPr>
          <a:xfrm>
            <a:off x="7629525" y="28194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三个贯穿全篇的观点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2" name="圆角矩形 941"/>
          <p:cNvSpPr/>
          <p:nvPr/>
        </p:nvSpPr>
        <p:spPr>
          <a:xfrm>
            <a:off x="7381875" y="3048000"/>
            <a:ext cx="4162425" cy="533400"/>
          </a:xfrm>
          <a:prstGeom prst="roundRect">
            <a:avLst>
              <a:gd name="adj" fmla="val 1428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43" name="文本框 942" descr="{&quot;isTemplate&quot;:true,&quot;type&quot;:&quot;text&quot;}"/>
          <p:cNvSpPr txBox="1"/>
          <p:nvPr/>
        </p:nvSpPr>
        <p:spPr>
          <a:xfrm>
            <a:off x="7477125" y="3162300"/>
            <a:ext cx="397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漏报比误报严重</a:t>
            </a:r>
            <a:endParaRPr lang="zh-CN" sz="101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7477125" y="3333750"/>
            <a:ext cx="39719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安全行业的共识，决定阈值与指标口径</a:t>
            </a:r>
            <a:endParaRPr lang="zh-CN" sz="865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5" name="圆角矩形 944"/>
          <p:cNvSpPr/>
          <p:nvPr/>
        </p:nvSpPr>
        <p:spPr>
          <a:xfrm>
            <a:off x="7381875" y="3638550"/>
            <a:ext cx="4162425" cy="533400"/>
          </a:xfrm>
          <a:prstGeom prst="roundRect">
            <a:avLst>
              <a:gd name="adj" fmla="val 1428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46" name="文本框 945" descr="{&quot;isTemplate&quot;:true,&quot;type&quot;:&quot;text&quot;}"/>
          <p:cNvSpPr txBox="1"/>
          <p:nvPr/>
        </p:nvSpPr>
        <p:spPr>
          <a:xfrm>
            <a:off x="7477125" y="3752850"/>
            <a:ext cx="397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阈值是业务旋钮，不是模型参数</a:t>
            </a:r>
            <a:endParaRPr lang="zh-CN" sz="101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7" name="文本框 946" descr="{&quot;isTemplate&quot;:true,&quot;type&quot;:&quot;text&quot;}"/>
          <p:cNvSpPr txBox="1"/>
          <p:nvPr/>
        </p:nvSpPr>
        <p:spPr>
          <a:xfrm>
            <a:off x="7477125" y="3924300"/>
            <a:ext cx="39719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5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0.5 </a:t>
            </a:r>
            <a:r>
              <a:rPr lang="zh-CN" sz="865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只是数学中点，要按业务目标调</a:t>
            </a:r>
            <a:endParaRPr lang="zh-CN" sz="865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8" name="圆角矩形 947"/>
          <p:cNvSpPr/>
          <p:nvPr/>
        </p:nvSpPr>
        <p:spPr>
          <a:xfrm>
            <a:off x="7381875" y="4229100"/>
            <a:ext cx="4162425" cy="533400"/>
          </a:xfrm>
          <a:prstGeom prst="roundRect">
            <a:avLst>
              <a:gd name="adj" fmla="val 1428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49" name="文本框 948" descr="{&quot;isTemplate&quot;:true,&quot;type&quot;:&quot;text&quot;}"/>
          <p:cNvSpPr txBox="1"/>
          <p:nvPr/>
        </p:nvSpPr>
        <p:spPr>
          <a:xfrm>
            <a:off x="7477125" y="4343400"/>
            <a:ext cx="3971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先算数量，再谈设计有没有生效</a:t>
            </a:r>
            <a:endParaRPr lang="zh-CN" sz="101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7477125" y="4514850"/>
            <a:ext cx="39719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5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不会报错的设计失效，只有实测能发现</a:t>
            </a:r>
            <a:endParaRPr lang="zh-CN" sz="865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1" name="圆角矩形 950"/>
          <p:cNvSpPr/>
          <p:nvPr/>
        </p:nvSpPr>
        <p:spPr>
          <a:xfrm>
            <a:off x="533400" y="49911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952" name="文本框 951" descr="{&quot;isTemplate&quot;:true,&quot;type&quot;:&quot;text&quot;}"/>
          <p:cNvSpPr txBox="1"/>
          <p:nvPr/>
        </p:nvSpPr>
        <p:spPr>
          <a:xfrm>
            <a:off x="704850" y="506730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听的时候可以带着这个问题：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如果换成你来做，哪一步会做出不同的决定？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每个环节的取舍我们都摆在了台面上。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3" name="图片 95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5553075"/>
            <a:ext cx="152400" cy="152400"/>
          </a:xfrm>
          <a:prstGeom prst="rect">
            <a:avLst/>
          </a:prstGeom>
        </p:spPr>
      </p:pic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762000" y="55530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11239500" y="55530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56" name="图片 955"/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7600" y="285750"/>
            <a:ext cx="228600" cy="228600"/>
          </a:xfrm>
          <a:prstGeom prst="rect">
            <a:avLst/>
          </a:prstGeom>
        </p:spPr>
      </p:pic>
      <p:pic>
        <p:nvPicPr>
          <p:cNvPr id="957" name="图片 956"/>
          <p:cNvPicPr>
            <a:picLocks noChangeAspect="1"/>
          </p:cNvPicPr>
          <p:nvPr/>
        </p:nvPicPr>
        <p:blipFill>
          <a:blip r:embed="rId9"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100" y="592455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8" name="" descr="&lt;Slide style={{ width: '1280px', height: '720px', padding: '24px 56px', background: '#FFFBF5', position: 'relative', flexDirection: 'column', fontFamily: 'Microsoft YaHei' }}&gt;&#10;    &lt;FAIcon name='star' style={{ position: 'absolute', top: 26, right: 70, width: 20, height: 20, fill: '#E5B45C', opacity: 0.6 }} /&gt;&#10;&#10;    &lt;Box style={{ flexDirection: 'row', alignItems: 'center', gap: 14, height: 80 }}&gt;&#10;        &lt;Text style={{ fontSize: 54, fontWeight: 'bold', color: '#6A6FC9', fontFamily: 'Consolas', lineHeight: 1 }}&gt;01&lt;/Text&gt;&#10;        &lt;Text style={{ fontSize: 30, fontWeight: 'bold', color: 'rgba(66,66,90,0.4)', fontFamily: 'Consolas' }}&gt;·&lt;/Text&gt;&#10;        &lt;Text style={{ fontSize: 54, fontWeight: 'bold', color: '#45A99D', fontFamily: 'Consolas', lineHeight: 1 }}&gt;02&lt;/Text&gt;&#10;        &lt;Box style={{ flexDirection: 'column', gap: 6, marginLeft: 6 }}&gt;&#10;            &lt;Text style={{ fontSize: 30, fontWeight: 'bold', color: '#42425A' }}&gt;项目背景 × 项目目标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Ken&lt;/Text&gt;&#10;        &lt;/Box&gt;&#10;    &lt;/Box&gt;&#10;&#10;    &lt;Box style={{ flexDirection: 'row', gap: 20, height: 420, marginTop: 4 }}&gt;&#10;        {/* 左：背景 */}&#10;        &lt;Box style={{ flex: 1, background: '#FFFFFF', border: '2px solid #42425A', borderRadius: 14, boxShadow: '4px 4px 0 #42425A', padding: 16, flexDirection: 'column', gap: 10 }}&gt;&#10;            &lt;Box style={{ flexDirection: 'row', alignItems: 'center', gap: 8 }}&gt;&#10;                &lt;Box style={{ background: '#6A6FC9', borderRadius: 8, padding: '3px 12px', border: '2px solid #42425A' }}&gt;&#10;                    &lt;Text style={{ fontSize: 14, fontWeight: 'bold', color: '#FFFFFF' }}&gt;01 背景&lt;/Text&gt;&#10;                &lt;/Box&gt;&#10;                &lt;Text style={{ fontSize: 14, color: 'rgba(66,66,90,0.65)' }}&gt;为什么做这件事&lt;/Text&gt;&#10;            &lt;/Box&gt;&#10;            {[&#10;                { tag: '问题', c: '#E87E99', t: '规则库驱动的瓶颈', d: '传统 SAST 靠人工维护规则：没覆盖的模式是盲区，规则放宽又淹没在误报里。' },&#10;                { tag: '数据', c: '#6A6FC9', t: '开源修复提交成了语料', d: 'CVE 修复提交天然给出「漏洞版 ↔ 修复版」对照样本，够微调一个预训练模型。' },&#10;                { tag: '模型', c: '#45A99D', t: '代码预训练模型可用', d: 'CodeBERT 把代码语义压成向量，不写语法规则也能表达「这段函数在做什么」。' },&#10;                { tag: '约束', c: '#E5B45C', t: '以最小成本实现', d: '不买商业平台、不改基建，开源数据 + 开源模型在现有单卡硬件上跑通全链路。' },&#10;            ].map((it, i) =&gt; (&#10;                &lt;Box key={i} style={{ flex: 1, background: 'rgba(66,66,90,0.04)', borderRadius: 10, padding: '7px 12px', flexDirection: 'column', gap: 2, justifyContent: 'center' }}&gt;&#10;                    &lt;Text style={{ fontSize: 15, fontWeight: 'bold', color: '#42425A' }}&gt;&lt;span style={{ color: it.c }}&gt;{it.tag} · &lt;/span&gt;{it.t}&lt;/Text&gt;&#10;                    &lt;Text style={{ fontSize: 12.5, color: 'rgba(66,66,90,0.75)', lineHeight: 1.45 }}&gt;{it.d}&lt;/Text&gt;&#10;                &lt;/Box&gt;&#10;            ))}&#10;        &lt;/Box&gt;&#10;&#10;        {/* 右：目标 */}&#10;        &lt;Box style={{ flex: 1, background: '#FFFFFF', border: '2px solid #42425A', borderRadius: 14, boxShadow: '4px 4px 0 #42425A', padding: 16, flexDirection: 'column', gap: 10 }}&gt;&#10;            &lt;Box style={{ flexDirection: 'row', alignItems: 'center', gap: 8 }}&gt;&#10;                &lt;Box style={{ background: '#45A99D', borderRadius: 8, padding: '3px 12px', border: '2px solid #42425A' }}&gt;&#10;                    &lt;Text style={{ fontSize: 14, fontWeight: 'bold', color: '#FFFFFF' }}&gt;02 目标&lt;/Text&gt;&#10;                &lt;/Box&gt;&#10;                &lt;Text style={{ fontSize: 14, color: 'rgba(66,66,90,0.65)' }}&gt;四个目标，从模型能力到工程运营&lt;/Text&gt;&#10;            &lt;/Box&gt;&#10;            {[&#10;                { tag: '可检测', c: '#6A6FC9', t: '先回答「有没有」', d: '模型输出疑似风险概率，把要人看的样本从全量代码缩成一张可疑清单。', f: '本期交付' },&#10;                { tag: '可分类', c: '#45A99D', t: '再回答「是哪类」', d: '对命中函数给出 CWE 类型，支撑定级与修复优先级，不只给一个红点。', f: '本期交付' },&#10;                { tag: '可闭环', c: '#E87E99', t: '最终要「能修完」', d: '检出 → 定级 → 派单 → 修复 → 复扫 → 关闭，没闭环的检出只是一次性报告。', f: '二期承接' },&#10;                { tag: '可视化', c: '#E5B45C', t: '过程要「看得见」', d: '分布、趋势、误报反馈沉淀成看板，让投入和改进有据可依。', f: '二期承接' },&#10;            ].map((it, i) =&gt; (&#10;                &lt;Box key={i} style={{ flex: 1, background: 'rgba(66,66,90,0.04)', borderRadius: 10, padding: '7px 12px', flexDirection: 'column', gap: 2, justifyContent: 'center' }}&gt;&#10;                    &lt;Box style={{ flexDirection: 'row', alignItems: 'center', justifyContent: 'space-between' }}&gt;&#10;                        &lt;Text style={{ fontSize: 15, fontWeight: 'bold', color: '#42425A' }}&gt;&lt;span style={{ color: it.c }}&gt;漏洞{it.tag} · &lt;/span&gt;{it.t}&lt;/Text&gt;&#10;                        &lt;Text style={{ fontSize: 11, fontWeight: 'bold', color: it.c }}&gt;{it.f}&lt;/Text&gt;&#10;                    &lt;/Box&gt;&#10;                    &lt;Text style={{ fontSize: 12.5, color: 'rgba(66,66,90,0.75)', lineHeight: 1.45 }}&gt;{it.d}&lt;/Text&gt;&#10;                &lt;/Box&gt;&#10;            ))}&#10;        &lt;/Box&gt;&#10;    &lt;/Box&gt;&#10;&#10;    &lt;Box style={{ marginTop: 14, background: '#42425A', borderRadius: 12, padding: '10px 18px' }}&gt;&#10;        &lt;Text style={{ fontSize: 15, color: '#FFFBF5', lineHeight: 1.5 }}&gt;核心思路：把「规则驱动的匹配」换成「语义驱动的判定」。本期交付&lt;span style={{ fontWeight: 'bold', color: '#E5B45C' }}&gt;可检测 + 可分类&lt;/span&gt;两项模型能力，闭环与可视化由二期平台承接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矩形 9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960" name="文本框 959" descr="{&quot;isTemplate&quot;:true,&quot;type&quot;:&quot;text&quot;}"/>
          <p:cNvSpPr txBox="1"/>
          <p:nvPr/>
        </p:nvSpPr>
        <p:spPr>
          <a:xfrm>
            <a:off x="533400" y="304800"/>
            <a:ext cx="57150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40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1238250" y="438150"/>
            <a:ext cx="1619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42425A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·</a:t>
            </a:r>
            <a:endParaRPr sz="2250" b="1">
              <a:solidFill>
                <a:srgbClr val="42425A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62" name="文本框 961" descr="{&quot;isTemplate&quot;:true,&quot;type&quot;:&quot;text&quot;}"/>
          <p:cNvSpPr txBox="1"/>
          <p:nvPr/>
        </p:nvSpPr>
        <p:spPr>
          <a:xfrm>
            <a:off x="1533525" y="304800"/>
            <a:ext cx="57150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40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2295525" y="381000"/>
            <a:ext cx="26765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  <a:endParaRPr lang="zh-CN" sz="22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4" name="圆角矩形 963"/>
          <p:cNvSpPr/>
          <p:nvPr/>
        </p:nvSpPr>
        <p:spPr>
          <a:xfrm>
            <a:off x="2295525" y="7810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965" name="圆角矩形 964"/>
          <p:cNvSpPr/>
          <p:nvPr/>
        </p:nvSpPr>
        <p:spPr>
          <a:xfrm>
            <a:off x="10868025" y="466725"/>
            <a:ext cx="7905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966" name="图片 96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20425" y="542925"/>
            <a:ext cx="133350" cy="133350"/>
          </a:xfrm>
          <a:prstGeom prst="rect">
            <a:avLst/>
          </a:prstGeom>
        </p:spPr>
      </p:pic>
      <p:sp>
        <p:nvSpPr>
          <p:cNvPr id="967" name="文本框 966" descr="{&quot;isTemplate&quot;:true,&quot;type&quot;:&quot;text&quot;}"/>
          <p:cNvSpPr txBox="1"/>
          <p:nvPr/>
        </p:nvSpPr>
        <p:spPr>
          <a:xfrm>
            <a:off x="11229975" y="523875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8" name="圆角矩形 967"/>
          <p:cNvSpPr/>
          <p:nvPr/>
        </p:nvSpPr>
        <p:spPr>
          <a:xfrm>
            <a:off x="533400" y="1028700"/>
            <a:ext cx="546735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969" name="圆角矩形 968"/>
          <p:cNvSpPr/>
          <p:nvPr/>
        </p:nvSpPr>
        <p:spPr>
          <a:xfrm>
            <a:off x="685800" y="1181100"/>
            <a:ext cx="704850" cy="219075"/>
          </a:xfrm>
          <a:prstGeom prst="roundRect">
            <a:avLst>
              <a:gd name="adj" fmla="val 34783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70" name="文本框 969" descr="{&quot;isTemplate&quot;:true,&quot;type&quot;:&quot;text&quot;}"/>
          <p:cNvSpPr txBox="1"/>
          <p:nvPr/>
        </p:nvSpPr>
        <p:spPr>
          <a:xfrm>
            <a:off x="800100" y="1209675"/>
            <a:ext cx="47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1" name="文本框 970" descr="{&quot;isTemplate&quot;:true,&quot;type&quot;:&quot;text&quot;}"/>
          <p:cNvSpPr txBox="1"/>
          <p:nvPr/>
        </p:nvSpPr>
        <p:spPr>
          <a:xfrm>
            <a:off x="1466850" y="120967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为什么做这件事</a:t>
            </a:r>
            <a:endParaRPr lang="zh-CN" sz="1050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2" name="圆角矩形 971"/>
          <p:cNvSpPr/>
          <p:nvPr/>
        </p:nvSpPr>
        <p:spPr>
          <a:xfrm>
            <a:off x="685800" y="1495425"/>
            <a:ext cx="5162550" cy="771525"/>
          </a:xfrm>
          <a:prstGeom prst="roundRect">
            <a:avLst>
              <a:gd name="adj" fmla="val 1234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73" name="文本框 972" descr="{&quot;isTemplate&quot;:true,&quot;type&quot;:&quot;text&quot;}"/>
          <p:cNvSpPr txBox="1"/>
          <p:nvPr/>
        </p:nvSpPr>
        <p:spPr>
          <a:xfrm>
            <a:off x="800100" y="1685925"/>
            <a:ext cx="4933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en-US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规则库驱动的瓶颈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800100" y="1876425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SAST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靠人工维护规则：没覆盖的模式是盲区，规则放宽又淹没在误报里。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5" name="圆角矩形 974"/>
          <p:cNvSpPr/>
          <p:nvPr/>
        </p:nvSpPr>
        <p:spPr>
          <a:xfrm>
            <a:off x="685800" y="2362200"/>
            <a:ext cx="5162550" cy="781050"/>
          </a:xfrm>
          <a:prstGeom prst="roundRect">
            <a:avLst>
              <a:gd name="adj" fmla="val 12195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76" name="文本框 975" descr="{&quot;isTemplate&quot;:true,&quot;type&quot;:&quot;text&quot;}"/>
          <p:cNvSpPr txBox="1"/>
          <p:nvPr/>
        </p:nvSpPr>
        <p:spPr>
          <a:xfrm>
            <a:off x="800100" y="2552700"/>
            <a:ext cx="4933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开源修复提交成了语料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800100" y="2743200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修复提交天然给出「漏洞版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↔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修复版」对照样本，够微调一个预训练模型。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8" name="圆角矩形 977"/>
          <p:cNvSpPr/>
          <p:nvPr/>
        </p:nvSpPr>
        <p:spPr>
          <a:xfrm>
            <a:off x="685800" y="3238500"/>
            <a:ext cx="5162550" cy="771525"/>
          </a:xfrm>
          <a:prstGeom prst="roundRect">
            <a:avLst>
              <a:gd name="adj" fmla="val 1234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79" name="文本框 978" descr="{&quot;isTemplate&quot;:true,&quot;type&quot;:&quot;text&quot;}"/>
          <p:cNvSpPr txBox="1"/>
          <p:nvPr/>
        </p:nvSpPr>
        <p:spPr>
          <a:xfrm>
            <a:off x="800100" y="3429000"/>
            <a:ext cx="4933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r>
              <a:rPr lang="en-US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代码预训练模型可用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800100" y="3619500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把代码语义压成向量，不写语法规则也能表达「这段函数在做什么」。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1" name="圆角矩形 980"/>
          <p:cNvSpPr/>
          <p:nvPr/>
        </p:nvSpPr>
        <p:spPr>
          <a:xfrm>
            <a:off x="685800" y="4105275"/>
            <a:ext cx="5162550" cy="771525"/>
          </a:xfrm>
          <a:prstGeom prst="roundRect">
            <a:avLst>
              <a:gd name="adj" fmla="val 1234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82" name="文本框 981" descr="{&quot;isTemplate&quot;:true,&quot;type&quot;:&quot;text&quot;}"/>
          <p:cNvSpPr txBox="1"/>
          <p:nvPr/>
        </p:nvSpPr>
        <p:spPr>
          <a:xfrm>
            <a:off x="800100" y="4295775"/>
            <a:ext cx="4933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约束</a:t>
            </a:r>
            <a:r>
              <a:rPr lang="en-US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以最小成本实现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800100" y="4486275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不买商业平台、不改基建，开源数据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开源模型在现有单卡硬件上跑通全链路。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4" name="圆角矩形 983"/>
          <p:cNvSpPr/>
          <p:nvPr/>
        </p:nvSpPr>
        <p:spPr>
          <a:xfrm>
            <a:off x="6191250" y="1028700"/>
            <a:ext cx="546735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985" name="圆角矩形 984"/>
          <p:cNvSpPr/>
          <p:nvPr/>
        </p:nvSpPr>
        <p:spPr>
          <a:xfrm>
            <a:off x="6343650" y="1181100"/>
            <a:ext cx="704850" cy="219075"/>
          </a:xfrm>
          <a:prstGeom prst="roundRect">
            <a:avLst>
              <a:gd name="adj" fmla="val 34783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6457950" y="1209675"/>
            <a:ext cx="47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7124700" y="1209675"/>
            <a:ext cx="2000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四个目标，从模型能力到工程运营</a:t>
            </a:r>
            <a:endParaRPr lang="zh-CN" sz="1050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8" name="圆角矩形 987"/>
          <p:cNvSpPr/>
          <p:nvPr/>
        </p:nvSpPr>
        <p:spPr>
          <a:xfrm>
            <a:off x="6343650" y="1495425"/>
            <a:ext cx="5162550" cy="771525"/>
          </a:xfrm>
          <a:prstGeom prst="roundRect">
            <a:avLst>
              <a:gd name="adj" fmla="val 1234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6457950" y="1685925"/>
            <a:ext cx="200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可检测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先回答「有没有」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0" name="文本框 989" descr="{&quot;isTemplate&quot;:true,&quot;type&quot;:&quot;text&quot;}"/>
          <p:cNvSpPr txBox="1"/>
          <p:nvPr/>
        </p:nvSpPr>
        <p:spPr>
          <a:xfrm>
            <a:off x="10972800" y="1704975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本期交付</a:t>
            </a:r>
            <a:endParaRPr lang="zh-CN" sz="82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6457950" y="1876425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模型输出疑似风险概率，把要人看的样本从全量代码缩成一张可疑清单。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2" name="圆角矩形 991"/>
          <p:cNvSpPr/>
          <p:nvPr/>
        </p:nvSpPr>
        <p:spPr>
          <a:xfrm>
            <a:off x="6343650" y="2362200"/>
            <a:ext cx="5162550" cy="781050"/>
          </a:xfrm>
          <a:prstGeom prst="roundRect">
            <a:avLst>
              <a:gd name="adj" fmla="val 12195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6457950" y="2552700"/>
            <a:ext cx="200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可分类</a:t>
            </a:r>
            <a:r>
              <a:rPr lang="en-US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再回答「是哪类」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4" name="文本框 993" descr="{&quot;isTemplate&quot;:true,&quot;type&quot;:&quot;text&quot;}"/>
          <p:cNvSpPr txBox="1"/>
          <p:nvPr/>
        </p:nvSpPr>
        <p:spPr>
          <a:xfrm>
            <a:off x="10972800" y="25717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本期交付</a:t>
            </a:r>
            <a:endParaRPr lang="zh-CN" sz="82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5" name="文本框 994" descr="{&quot;isTemplate&quot;:true,&quot;type&quot;:&quot;text&quot;}"/>
          <p:cNvSpPr txBox="1"/>
          <p:nvPr/>
        </p:nvSpPr>
        <p:spPr>
          <a:xfrm>
            <a:off x="6457950" y="2743200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对命中函数给出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类型，支撑定级与修复优先级，不只给一个红点。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6" name="圆角矩形 995"/>
          <p:cNvSpPr/>
          <p:nvPr/>
        </p:nvSpPr>
        <p:spPr>
          <a:xfrm>
            <a:off x="6343650" y="3238500"/>
            <a:ext cx="5162550" cy="771525"/>
          </a:xfrm>
          <a:prstGeom prst="roundRect">
            <a:avLst>
              <a:gd name="adj" fmla="val 1234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6457950" y="3429000"/>
            <a:ext cx="200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可闭环</a:t>
            </a:r>
            <a:r>
              <a:rPr lang="en-US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最终要「能修完」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10972800" y="3448050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二期承接</a:t>
            </a:r>
            <a:endParaRPr lang="zh-CN" sz="82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9" name="文本框 998" descr="{&quot;isTemplate&quot;:true,&quot;type&quot;:&quot;text&quot;}"/>
          <p:cNvSpPr txBox="1"/>
          <p:nvPr/>
        </p:nvSpPr>
        <p:spPr>
          <a:xfrm>
            <a:off x="6457950" y="3619500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检出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定级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派单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复扫</a:t>
            </a:r>
            <a:r>
              <a:rPr lang="en-US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关闭，没闭环的检出只是一次性报告。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0" name="圆角矩形 999"/>
          <p:cNvSpPr/>
          <p:nvPr/>
        </p:nvSpPr>
        <p:spPr>
          <a:xfrm>
            <a:off x="6343650" y="4105275"/>
            <a:ext cx="5162550" cy="771525"/>
          </a:xfrm>
          <a:prstGeom prst="roundRect">
            <a:avLst>
              <a:gd name="adj" fmla="val 12346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1001" name="文本框 1000" descr="{&quot;isTemplate&quot;:true,&quot;type&quot;:&quot;text&quot;}"/>
          <p:cNvSpPr txBox="1"/>
          <p:nvPr/>
        </p:nvSpPr>
        <p:spPr>
          <a:xfrm>
            <a:off x="6457950" y="4295775"/>
            <a:ext cx="2009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漏洞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可视化</a:t>
            </a:r>
            <a:r>
              <a:rPr lang="en-US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过程要「看得见」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2" name="文本框 1001" descr="{&quot;isTemplate&quot;:true,&quot;type&quot;:&quot;text&quot;}"/>
          <p:cNvSpPr txBox="1"/>
          <p:nvPr/>
        </p:nvSpPr>
        <p:spPr>
          <a:xfrm>
            <a:off x="10972800" y="4314825"/>
            <a:ext cx="41910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二期承接</a:t>
            </a:r>
            <a:endParaRPr lang="zh-CN" sz="825" b="1">
              <a:solidFill>
                <a:srgbClr val="E5B4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6457950" y="4486275"/>
            <a:ext cx="4933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分布、趋势、误报反馈沉淀成看板，让投入和改进有据可依。</a:t>
            </a:r>
            <a:endParaRPr lang="zh-CN" sz="94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4" name="圆角矩形 1003"/>
          <p:cNvSpPr/>
          <p:nvPr/>
        </p:nvSpPr>
        <p:spPr>
          <a:xfrm>
            <a:off x="533400" y="5162550"/>
            <a:ext cx="11125200" cy="447675"/>
          </a:xfrm>
          <a:prstGeom prst="roundRect">
            <a:avLst>
              <a:gd name="adj" fmla="val 25532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1005" name="文本框 1004" descr="{&quot;isTemplate&quot;:true,&quot;type&quot;:&quot;text&quot;}"/>
          <p:cNvSpPr txBox="1"/>
          <p:nvPr/>
        </p:nvSpPr>
        <p:spPr>
          <a:xfrm>
            <a:off x="704850" y="5257800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核心思路：把「规则驱动的匹配」换成「语义驱动的判定」。本期交付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可检测</a:t>
            </a:r>
            <a:r>
              <a:rPr lang="en-US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可分类</a:t>
            </a:r>
            <a:r>
              <a:rPr lang="zh-CN" sz="112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两项模型能力，闭环与可视化由二期平台承接。</a:t>
            </a:r>
            <a:endParaRPr lang="zh-CN" sz="112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6" name="图片 10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781675"/>
            <a:ext cx="152400" cy="152400"/>
          </a:xfrm>
          <a:prstGeom prst="rect">
            <a:avLst/>
          </a:prstGeom>
        </p:spPr>
      </p:pic>
      <p:sp>
        <p:nvSpPr>
          <p:cNvPr id="1007" name="文本框 1006" descr="{&quot;isTemplate&quot;:true,&quot;type&quot;:&quot;text&quot;}"/>
          <p:cNvSpPr txBox="1"/>
          <p:nvPr/>
        </p:nvSpPr>
        <p:spPr>
          <a:xfrm>
            <a:off x="762000" y="57816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8" name="文本框 1007" descr="{&quot;isTemplate&quot;:true,&quot;type&quot;:&quot;text&quot;}"/>
          <p:cNvSpPr txBox="1"/>
          <p:nvPr/>
        </p:nvSpPr>
        <p:spPr>
          <a:xfrm>
            <a:off x="11239500" y="57816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09" name="图片 1008"/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4750" y="2476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0" name="" descr="&lt;Slide style={{ width: '1280px', height: '720px', padding: '24px 56px', background: '#FFFBF5', position: 'relative', flexDirection: 'column', fontFamily: 'Microsoft YaHei' }}&gt;&#10;    &lt;FAIcon name='star' style={{ position: 'absolute', top: 30, right: 76, width: 20, height: 20, fill: '#E87E99', opacity: 0.55 }} /&gt;&#10;&#10;    &lt;Box style={{ flexDirection: 'row', alignItems: 'center', gap: 16, height: 88 }}&gt;&#10;        &lt;Text style={{ fontSize: 66, fontWeight: 'bold', color: '#E87E99', fontFamily: 'Consolas', lineHeight: 1 }}&gt;03&lt;/Text&gt;&#10;        &lt;Box style={{ flexDirection: 'column', gap: 6 }}&gt;&#10;            &lt;Text style={{ fontSize: 32, fontWeight: 'bold', color: '#42425A' }}&gt;业务流程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Ken&lt;/Text&gt;&#10;        &lt;/Box&gt;&#10;    &lt;/Box&gt;&#10;&#10;    &lt;Box style={{ flexDirection: 'row', gap: 22, height: 420, marginTop: 4 }}&gt;&#10;        &lt;Box style={{ flex: 3, background: '#FFFFFF', border: '2px solid #42425A', borderRadius: 14, boxShadow: '4px 4px 0 #42425A', padding: 20, flexDirection: 'column', gap: 8, alignItems: 'center' }}&gt;&#10;            &lt;Text style={{ fontSize: 15, fontWeight: 'bold', color: 'rgba(66,66,90,0.6)' }}&gt;一次扫描要经过哪几步&lt;/Text&gt;&#10;            &lt;Box style={{ width: '86%', background: '#6A6FC9', border: '2px solid #42425A', borderRadius: 12, padding: '12px 16px', alignItems: 'center', gap: 3 }}&gt;&#10;                &lt;Text style={{ fontSize: 18, fontWeight: 'bold', color: '#FFFFFF' }}&gt;ScanMan 扫描器&lt;/Text&gt;&#10;                &lt;Text style={{ fontSize: 13, color: 'rgba(255,255,255,0.9)' }}&gt;嵌入 CI 流程进行代码扫描（支持 GitLab / GitHub）&lt;/Text&gt;&#10;            &lt;/Box&gt;&#10;            &lt;Box style={{ flexDirection: 'column', alignItems: 'center', gap: 0 }}&gt;&#10;                &lt;Box style={{ width: 3, height: 14, background: '#42425A' }} /&gt;&#10;                &lt;Text style={{ fontSize: 12, color: 'rgba(66,66,90,0.65)' }}&gt;发送扫描结果&lt;/Text&gt;&#10;                &lt;FAIcon name='arrow-down' style={{ fill: '#42425A', width: 16, height: 16 }} /&gt;&#10;            &lt;/Box&gt;&#10;            &lt;Box style={{ width: '86%', background: '#45A99D', border: '2px solid #42425A', borderRadius: 12, padding: '12px 16px', alignItems: 'center', gap: 3 }}&gt;&#10;                &lt;Text style={{ fontSize: 18, fontWeight: 'bold', color: '#FFFFFF' }}&gt;ScanMan Dashboard 漏洞管理平台&lt;/Text&gt;&#10;                &lt;Text style={{ fontSize: 13, color: 'rgba(255,255,255,0.9)' }}&gt;漏洞加白 / 漏洞修复 / 漏洞申诉（二期交付）&lt;/Text&gt;&#10;            &lt;/Box&gt;&#10;            &lt;Box style={{ flexDirection: 'column', alignItems: 'center', gap: 0 }}&gt;&#10;                &lt;Box style={{ width: 3, height: 14, background: '#42425A' }} /&gt;&#10;                &lt;Text style={{ fontSize: 12, color: 'rgba(66,66,90,0.65)' }}&gt;根据漏洞级别预警&lt;/Text&gt;&#10;                &lt;FAIcon name='arrow-down' style={{ fill: '#42425A', width: 16, height: 16 }} /&gt;&#10;            &lt;/Box&gt;&#10;            &lt;Box style={{ width: '86%', background: '#E87E99', border: '2px solid #42425A', borderRadius: 12, padding: '12px 16px', alignItems: 'center', gap: 3 }}&gt;&#10;                &lt;Text style={{ fontSize: 18, fontWeight: 'bold', color: '#FFFFFF' }}&gt;Vulnerability Warning 漏洞预警&lt;/Text&gt;&#10;                &lt;Text style={{ fontSize: 13, color: 'rgba(255,255,255,0.9)' }}&gt;支持飞书 / 企业微信 / 钉钉 / Slack 触达责任人&lt;/Text&gt;&#10;            &lt;/Box&gt;&#10;            &lt;Box style={{ flexDirection: 'row', alignItems: 'center', gap: 8, background: 'rgba(229,180,92,0.18)', border: '2px dashed #E5B45C', borderRadius: 10, padding: '6px 14px' }}&gt;&#10;                &lt;FAIcon name='sync-alt' style={{ fill: '#42425A', width: 15, height: 15 }} /&gt;&#10;                &lt;Text style={{ fontSize: 13, fontWeight: 'bold', color: '#42425A' }}&gt;责任人跟进漏洞 → 回到平台修复、复扫、关闭，形成闭环&lt;/Text&gt;&#10;            &lt;/Box&gt;&#10;        &lt;/Box&gt;&#10;&#10;        &lt;Box style={{ flex: 2, flexDirection: 'column', gap: 14 }}&gt;&#10;            {[&#10;                { tag: '上半段', c: '#6A6FC9', t: '模型说了算', d: '切分、清洗、检测、分类全部离线批量执行，产出一份带概率与 CWE 类型的候选清单。' },&#10;                { tag: '下半段', c: '#45A99D', t: '人说了算', d: '人工复核结论决定这条告警是误报还是真实漏洞，复核结果同时沉淀为下一轮训练数据。' },&#10;                { tag: '关键', c: '#E87E99', t: '为什么留人工复核', d: '当前精度还不足以直接推送给开发。人工环节既是质量闸门，也是数据飞轮的入口。' },&#10;            ].map((it, i) =&gt; (&#10;                &lt;Box key={i} style={{ flex: 1, background: '#FFFFFF', border: '2px solid #42425A', borderRadius: 14, boxShadow: '4px 4px 0 #42425A', padding: 16, flexDirection: 'column', gap: 6 }}&gt;&#10;                    &lt;Box style={{ flexDirection: 'row', alignItems: 'center', gap: 10 }}&gt;&#10;                        &lt;Box style={{ background: it.c, borderRadius: 8, padding: '3px 12px', border: '2px solid #42425A' }}&gt;&#10;                            &lt;Text style={{ fontSize: 13, fontWeight: 'bold', color: '#FFFFFF' }}&gt;{it.tag}&lt;/Text&gt;&#10;                        &lt;/Box&gt;&#10;                        &lt;Text style={{ fontSize: 18, fontWeight: 'bold', color: '#42425A' }}&gt;{it.t}&lt;/Text&gt;&#10;                    &lt;/Box&gt;&#10;                    &lt;Text style={{ fontSize: 14, color: 'rgba(66,66,90,0.8)', lineHeight: 1.55 }}&gt;{it.d}&lt;/Text&gt;&#10;                &lt;/Box&gt;&#10;            ))}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矩形 10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533400" y="266700"/>
            <a:ext cx="695325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49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3" name="文本框 1012" descr="{&quot;isTemplate&quot;:true,&quot;type&quot;:&quot;text&quot;}"/>
          <p:cNvSpPr txBox="1"/>
          <p:nvPr/>
        </p:nvSpPr>
        <p:spPr>
          <a:xfrm>
            <a:off x="1381125" y="409575"/>
            <a:ext cx="1219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业务流程</a:t>
            </a:r>
            <a:endParaRPr lang="zh-CN" sz="24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4" name="圆角矩形 1013"/>
          <p:cNvSpPr/>
          <p:nvPr/>
        </p:nvSpPr>
        <p:spPr>
          <a:xfrm>
            <a:off x="1381125" y="8382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015" name="圆角矩形 1014"/>
          <p:cNvSpPr/>
          <p:nvPr/>
        </p:nvSpPr>
        <p:spPr>
          <a:xfrm>
            <a:off x="10868025" y="504825"/>
            <a:ext cx="7905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016" name="图片 101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20425" y="581025"/>
            <a:ext cx="133350" cy="133350"/>
          </a:xfrm>
          <a:prstGeom prst="rect">
            <a:avLst/>
          </a:prstGeom>
        </p:spPr>
      </p:pic>
      <p:sp>
        <p:nvSpPr>
          <p:cNvPr id="1017" name="文本框 1016" descr="{&quot;isTemplate&quot;:true,&quot;type&quot;:&quot;text&quot;}"/>
          <p:cNvSpPr txBox="1"/>
          <p:nvPr/>
        </p:nvSpPr>
        <p:spPr>
          <a:xfrm>
            <a:off x="11229975" y="561975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8" name="圆角矩形 1017"/>
          <p:cNvSpPr/>
          <p:nvPr/>
        </p:nvSpPr>
        <p:spPr>
          <a:xfrm>
            <a:off x="533400" y="1104900"/>
            <a:ext cx="65532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019" name="文本框 1018" descr="{&quot;isTemplate&quot;:true,&quot;type&quot;:&quot;text&quot;}"/>
          <p:cNvSpPr txBox="1"/>
          <p:nvPr/>
        </p:nvSpPr>
        <p:spPr>
          <a:xfrm>
            <a:off x="3095625" y="1295400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一次扫描要经过哪几步</a:t>
            </a:r>
            <a:endParaRPr lang="zh-CN" sz="1125" b="1">
              <a:solidFill>
                <a:srgbClr val="42425A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0" name="圆角矩形 1019"/>
          <p:cNvSpPr/>
          <p:nvPr/>
        </p:nvSpPr>
        <p:spPr>
          <a:xfrm>
            <a:off x="1152525" y="1543050"/>
            <a:ext cx="5314950" cy="619125"/>
          </a:xfrm>
          <a:prstGeom prst="roundRect">
            <a:avLst>
              <a:gd name="adj" fmla="val 18462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3133725" y="1657350"/>
            <a:ext cx="1362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ScanMan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扫描器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2362200" y="1895475"/>
            <a:ext cx="2895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嵌入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CI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流程进行代码扫描（支持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GitLab / GitHub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3" name="矩形 1022"/>
          <p:cNvSpPr/>
          <p:nvPr/>
        </p:nvSpPr>
        <p:spPr>
          <a:xfrm>
            <a:off x="3800475" y="2238375"/>
            <a:ext cx="28575" cy="133350"/>
          </a:xfrm>
          <a:prstGeom prst="rect">
            <a:avLst/>
          </a:prstGeom>
          <a:solidFill>
            <a:srgbClr val="42425A"/>
          </a:solidFill>
        </p:spPr>
        <p:txBody>
          <a:bodyPr/>
          <a:p/>
        </p:txBody>
      </p:sp>
      <p:sp>
        <p:nvSpPr>
          <p:cNvPr id="1024" name="文本框 1023" descr="{&quot;isTemplate&quot;:true,&quot;type&quot;:&quot;text&quot;}"/>
          <p:cNvSpPr txBox="1"/>
          <p:nvPr/>
        </p:nvSpPr>
        <p:spPr>
          <a:xfrm>
            <a:off x="3467100" y="2371725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发送扫描结果</a:t>
            </a:r>
            <a:endParaRPr lang="zh-CN" sz="900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5" name="图片 10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800" y="2514600"/>
            <a:ext cx="152400" cy="152400"/>
          </a:xfrm>
          <a:prstGeom prst="rect">
            <a:avLst/>
          </a:prstGeom>
        </p:spPr>
      </p:pic>
      <p:sp>
        <p:nvSpPr>
          <p:cNvPr id="1026" name="圆角矩形 1025"/>
          <p:cNvSpPr/>
          <p:nvPr/>
        </p:nvSpPr>
        <p:spPr>
          <a:xfrm>
            <a:off x="1152525" y="2743200"/>
            <a:ext cx="5314950" cy="619125"/>
          </a:xfrm>
          <a:prstGeom prst="roundRect">
            <a:avLst>
              <a:gd name="adj" fmla="val 18462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2381250" y="2857500"/>
            <a:ext cx="2867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ScanMan Dashboard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漏洞管理平台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2571750" y="3095625"/>
            <a:ext cx="2486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漏洞加白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漏洞修复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漏洞申诉（二期交付）</a:t>
            </a:r>
            <a:endParaRPr lang="zh-CN" sz="9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9" name="矩形 1028"/>
          <p:cNvSpPr/>
          <p:nvPr/>
        </p:nvSpPr>
        <p:spPr>
          <a:xfrm>
            <a:off x="3800475" y="3438525"/>
            <a:ext cx="28575" cy="133350"/>
          </a:xfrm>
          <a:prstGeom prst="rect">
            <a:avLst/>
          </a:prstGeom>
          <a:solidFill>
            <a:srgbClr val="42425A"/>
          </a:solidFill>
        </p:spPr>
        <p:txBody>
          <a:bodyPr/>
          <a:p/>
        </p:txBody>
      </p:sp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3352800" y="3571875"/>
            <a:ext cx="914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根据漏洞级别预警</a:t>
            </a:r>
            <a:endParaRPr lang="zh-CN" sz="900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31" name="图片 10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800" y="3714750"/>
            <a:ext cx="152400" cy="152400"/>
          </a:xfrm>
          <a:prstGeom prst="rect">
            <a:avLst/>
          </a:prstGeom>
        </p:spPr>
      </p:pic>
      <p:sp>
        <p:nvSpPr>
          <p:cNvPr id="1032" name="圆角矩形 1031"/>
          <p:cNvSpPr/>
          <p:nvPr/>
        </p:nvSpPr>
        <p:spPr>
          <a:xfrm>
            <a:off x="1152525" y="3943350"/>
            <a:ext cx="5314950" cy="619125"/>
          </a:xfrm>
          <a:prstGeom prst="roundRect">
            <a:avLst>
              <a:gd name="adj" fmla="val 18462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33" name="文本框 1032" descr="{&quot;isTemplate&quot;:true,&quot;type&quot;:&quot;text&quot;}"/>
          <p:cNvSpPr txBox="1"/>
          <p:nvPr/>
        </p:nvSpPr>
        <p:spPr>
          <a:xfrm>
            <a:off x="2495550" y="4057650"/>
            <a:ext cx="2628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Vulnerability Warning </a:t>
            </a: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漏洞预警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2524125" y="4295775"/>
            <a:ext cx="25812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支持飞书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企业微信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钉钉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Slack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触达责任人</a:t>
            </a:r>
            <a:endParaRPr lang="zh-CN" sz="97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5" name="圆角矩形 1034"/>
          <p:cNvSpPr/>
          <p:nvPr/>
        </p:nvSpPr>
        <p:spPr>
          <a:xfrm>
            <a:off x="1981200" y="4638675"/>
            <a:ext cx="3657600" cy="266700"/>
          </a:xfrm>
          <a:prstGeom prst="roundRect">
            <a:avLst>
              <a:gd name="adj" fmla="val 35714"/>
            </a:avLst>
          </a:prstGeom>
          <a:solidFill>
            <a:srgbClr val="E5B45C">
              <a:alpha val="18000"/>
            </a:srgbClr>
          </a:solidFill>
          <a:ln w="25400">
            <a:solidFill>
              <a:srgbClr val="E5B45C"/>
            </a:solidFill>
            <a:prstDash val="dash"/>
          </a:ln>
        </p:spPr>
        <p:txBody>
          <a:bodyPr/>
          <a:p/>
        </p:txBody>
      </p:sp>
      <p:pic>
        <p:nvPicPr>
          <p:cNvPr id="1036" name="图片 103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4550" y="4705350"/>
            <a:ext cx="142875" cy="142875"/>
          </a:xfrm>
          <a:prstGeom prst="rect">
            <a:avLst/>
          </a:prstGeom>
        </p:spPr>
      </p:pic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2333625" y="4695825"/>
            <a:ext cx="3171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责任人跟进漏洞</a:t>
            </a:r>
            <a:r>
              <a:rPr lang="en-US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回到平台修复、复扫、关闭，形成闭环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8" name="圆角矩形 1037"/>
          <p:cNvSpPr/>
          <p:nvPr/>
        </p:nvSpPr>
        <p:spPr>
          <a:xfrm>
            <a:off x="7296150" y="1104900"/>
            <a:ext cx="4362450" cy="1247775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039" name="圆角矩形 1038"/>
          <p:cNvSpPr/>
          <p:nvPr/>
        </p:nvSpPr>
        <p:spPr>
          <a:xfrm>
            <a:off x="7448550" y="1257300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7562850" y="1285875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上半段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8143875" y="1257300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模型说了算</a:t>
            </a:r>
            <a:endParaRPr lang="zh-CN" sz="13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7448550" y="1524000"/>
            <a:ext cx="40576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切分、清洗、检测、分类全部离线批量执行，产出一份带概率与</a:t>
            </a:r>
            <a:r>
              <a:rPr lang="en-US" sz="105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 </a:t>
            </a:r>
            <a:r>
              <a:rPr lang="zh-CN" sz="105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类型的候选清单。</a:t>
            </a:r>
            <a:endParaRPr lang="zh-CN" sz="105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3" name="圆角矩形 1042"/>
          <p:cNvSpPr/>
          <p:nvPr/>
        </p:nvSpPr>
        <p:spPr>
          <a:xfrm>
            <a:off x="7296150" y="2486025"/>
            <a:ext cx="43624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044" name="圆角矩形 1043"/>
          <p:cNvSpPr/>
          <p:nvPr/>
        </p:nvSpPr>
        <p:spPr>
          <a:xfrm>
            <a:off x="7448550" y="2638425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45" name="文本框 1044" descr="{&quot;isTemplate&quot;:true,&quot;type&quot;:&quot;text&quot;}"/>
          <p:cNvSpPr txBox="1"/>
          <p:nvPr/>
        </p:nvSpPr>
        <p:spPr>
          <a:xfrm>
            <a:off x="7562850" y="266700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下半段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8143875" y="2638425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人说了算</a:t>
            </a:r>
            <a:endParaRPr lang="zh-CN" sz="13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7448550" y="2905125"/>
            <a:ext cx="40576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人工复核结论决定这条告警是误报还是真实漏洞，复核结果同时沉淀为下一轮训练数据。</a:t>
            </a:r>
            <a:endParaRPr lang="zh-CN" sz="105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" name="圆角矩形 1047"/>
          <p:cNvSpPr/>
          <p:nvPr/>
        </p:nvSpPr>
        <p:spPr>
          <a:xfrm>
            <a:off x="7296150" y="3857625"/>
            <a:ext cx="4362450" cy="1247775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049" name="圆角矩形 1048"/>
          <p:cNvSpPr/>
          <p:nvPr/>
        </p:nvSpPr>
        <p:spPr>
          <a:xfrm>
            <a:off x="7448550" y="4010025"/>
            <a:ext cx="476250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50" name="文本框 1049" descr="{&quot;isTemplate&quot;:true,&quot;type&quot;:&quot;text&quot;}"/>
          <p:cNvSpPr txBox="1"/>
          <p:nvPr/>
        </p:nvSpPr>
        <p:spPr>
          <a:xfrm>
            <a:off x="7562850" y="403860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1" name="文本框 1050" descr="{&quot;isTemplate&quot;:true,&quot;type&quot;:&quot;text&quot;}"/>
          <p:cNvSpPr txBox="1"/>
          <p:nvPr/>
        </p:nvSpPr>
        <p:spPr>
          <a:xfrm>
            <a:off x="8020050" y="4010025"/>
            <a:ext cx="1371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为什么留人工复核</a:t>
            </a:r>
            <a:endParaRPr lang="zh-CN" sz="13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2" name="文本框 1051" descr="{&quot;isTemplate&quot;:true,&quot;type&quot;:&quot;text&quot;}"/>
          <p:cNvSpPr txBox="1"/>
          <p:nvPr/>
        </p:nvSpPr>
        <p:spPr>
          <a:xfrm>
            <a:off x="7448550" y="4276725"/>
            <a:ext cx="40576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当前精度还不足以直接推送给开发。人工环节既是质量闸门，也是数据飞轮的入口。</a:t>
            </a:r>
            <a:endParaRPr lang="zh-CN" sz="105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53" name="图片 105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" y="5276850"/>
            <a:ext cx="152400" cy="152400"/>
          </a:xfrm>
          <a:prstGeom prst="rect">
            <a:avLst/>
          </a:prstGeom>
        </p:spPr>
      </p:pic>
      <p:sp>
        <p:nvSpPr>
          <p:cNvPr id="1054" name="文本框 1053" descr="{&quot;isTemplate&quot;:true,&quot;type&quot;:&quot;text&quot;}"/>
          <p:cNvSpPr txBox="1"/>
          <p:nvPr/>
        </p:nvSpPr>
        <p:spPr>
          <a:xfrm>
            <a:off x="762000" y="52768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5" name="文本框 1054" descr="{&quot;isTemplate&quot;:true,&quot;type&quot;:&quot;text&quot;}"/>
          <p:cNvSpPr txBox="1"/>
          <p:nvPr/>
        </p:nvSpPr>
        <p:spPr>
          <a:xfrm>
            <a:off x="11239500" y="52768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06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56" name="图片 1055"/>
          <p:cNvPicPr>
            <a:picLocks noChangeAspect="1"/>
          </p:cNvPicPr>
          <p:nvPr/>
        </p:nvPicPr>
        <p:blipFill>
          <a:blip r:embed="rId9">
            <a:alphaModFix amt="5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2857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7" name="" descr="&lt;Slide style={{ width: '1280px', height: '720px', padding: '24px 56px', background: '#FFFBF5', position: 'relative', flexDirection: 'column', fontFamily: 'Microsoft YaHei' }}&gt;&#10;    &lt;FAIcon name='circle' style={{ position: 'absolute', top: 36, right: 80, width: 12, height: 12, fill: '#E5B45C', opacity: 0.6 }} /&gt;&#10;&#10;    &lt;Box style={{ flexDirection: 'row', alignItems: 'center', gap: 14, height: 80 }}&gt;&#10;        &lt;Text style={{ fontSize: 54, fontWeight: 'bold', color: '#E5B45C', fontFamily: 'Consolas', lineHeight: 1 }}&gt;04&lt;/Text&gt;&#10;        &lt;Text style={{ fontSize: 30, fontWeight: 'bold', color: 'rgba(66,66,90,0.4)', fontFamily: 'Consolas' }}&gt;·&lt;/Text&gt;&#10;        &lt;Text style={{ fontSize: 54, fontWeight: 'bold', color: '#6A6FC9', fontFamily: 'Consolas', lineHeight: 1 }}&gt;05&lt;/Text&gt;&#10;        &lt;Box style={{ flexDirection: 'column', gap: 6, marginLeft: 6 }}&gt;&#10;            &lt;Text style={{ fontSize: 30, fontWeight: 'bold', color: '#42425A' }}&gt;技术架构设计 × 项目里程碑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Ken&lt;/Text&gt;&#10;        &lt;/Box&gt;&#10;    &lt;/Box&gt;&#10;&#10;    &lt;Box style={{ flexDirection: 'row', gap: 20, height: 430, marginTop: 4 }}&gt;&#10;        {/* 左：五层架构 */}&#10;        &lt;Box style={{ flex: 3, background: '#FFFFFF', border: '2px solid #42425A', borderRadius: 14, boxShadow: '4px 4px 0 #42425A', padding: 16, flexDirection: 'column', gap: 8 }}&gt;&#10;            &lt;Box style={{ flexDirection: 'row', alignItems: 'center', gap: 8 }}&gt;&#10;                &lt;FAIcon name='layer-group' style={{ fill: '#6A6FC9', width: 18, height: 18 }} /&gt;&#10;                &lt;Text style={{ fontSize: 15, fontWeight: 'bold', color: 'rgba(66,66,90,0.65)' }}&gt;五层单向依赖 · depth: 5 · cycles: 0&lt;/Text&gt;&#10;            &lt;/Box&gt;&#10;            {[&#10;                { n: 'L5', t: '接入层 · 二期 Dashboard', d: 'React + Antd 前端 / Node.js API（规划中），只读产物', c: '#6A6FC9' },&#10;                { n: 'L4', t: '脚本编排层 · scripts/', d: 'check_env → download → build → train → predict 六步流水线', c: '#45A99D' },&#10;                { n: 'L3', t: '核心库层 · src/', d: 'config / utils / models / metrics / datasets 五模块，无命令行解析', c: '#E87E99' },&#10;                { n: 'L2', t: '模型与权重层 · models/', d: 'codebert-base 预训练权重（477 MB）+ 微调 best 检查点', c: '#E5B45C' },&#10;                { n: 'L1', t: '数据层 · data/', d: 'CVEfixes 原始 1.1 GB → 治理后 JSONL 56 MB，按 group 8:1:1 划分', c: '#6A6FC9' },&#10;            ].map((it, i) =&gt; (&#10;                &lt;Box key={i} style={{ flex: 1, flexDirection: 'row', alignItems: 'center', gap: 12, background: 'rgba(66,66,90,0.04)', border: '2px solid #42425A', borderRadius: 10, padding: '5px 14px' }}&gt;&#10;                    &lt;Box style={{ width: 38, height: 38, borderRadius: 10, background: it.c, border: '2px solid #42425A', justifyContent: 'center', alignItems: 'center' }}&gt;&#10;                        &lt;Text style={{ fontSize: 14, fontWeight: 'bold', color: '#FFFFFF', fontFamily: 'Consolas' }}&gt;{it.n}&lt;/Text&gt;&#10;                    &lt;/Box&gt;&#10;                    &lt;Box style={{ flex: 1, flexDirection: 'column', gap: 1 }}&gt;&#10;                        &lt;Text style={{ fontSize: 15, fontWeight: 'bold', color: '#42425A' }}&gt;{it.t}&lt;/Text&gt;&#10;                        &lt;Text style={{ fontSize: 12, color: 'rgba(66,66,90,0.7)' }}&gt;{it.d}&lt;/Text&gt;&#10;                    &lt;/Box&gt;&#10;                &lt;/Box&gt;&#10;            ))}&#10;            &lt;Box style={{ background: 'rgba(106,111,201,0.08)', borderRadius: 10, padding: '7px 12px' }}&gt;&#10;                &lt;Text style={{ fontSize: 13, color: '#42425A', lineHeight: 1.5 }}&gt;&lt;span style={{ fontWeight: 'bold', color: '#6A6FC9' }}&gt;取舍：&lt;/span&gt;全链路离线、无 API、无数据库，状态落在文件系统——换来可复现；换模型只改配置一个字段。&lt;/Text&gt;&#10;            &lt;/Box&gt;&#10;        &lt;/Box&gt;&#10;&#10;        {/* 右：里程碑 */}&#10;        &lt;Box style={{ flex: 2, flexDirection: 'column', gap: 12 }}&gt;&#10;            {[&#10;                { tag: '一期 · 本期', c: '#45A99D', date: '2026/09/22', t: '漏洞扫描模型 V1.0 上线', d: '建设 V1.0 模型与扫描引擎评估、迭代机制；完成本次汇报。' },&#10;                { tag: '二期 · 规划中', c: '#E5B45C', date: '2026/10/22', t: '漏洞运营管理平台', d: '落实运营流程、培训相关部门、完善操作指南，试推行 3 个月收集反馈。' },&#10;                { tag: '三期 · 规划中', c: '#E87E99', date: '2026/10/22', t: '漏洞扫描模型 V2.0 上线', d: '用真实项目函数级数据重训，缩小「训练碎片 vs 真实函数」的分布差异。' },&#10;            ].map((it, i) =&gt; (&#10;                &lt;Box key={i} style={{ flex: 1, background: '#FFFFFF', border: '2px solid #42425A', borderRadius: 14, boxShadow: '4px 4px 0 #42425A', padding: 14, flexDirection: 'column', gap: 6, justifyContent: 'center' }}&gt;&#10;                    &lt;Box style={{ flexDirection: 'row', alignItems: 'center', justifyContent: 'space-between' }}&gt;&#10;                        &lt;Box style={{ background: it.c, borderRadius: 8, padding: '3px 12px', border: '2px solid #42425A' }}&gt;&#10;                            &lt;Text style={{ fontSize: 13, fontWeight: 'bold', color: i === 1 ? '#42425A' : '#FFFFFF' }}&gt;{it.tag}&lt;/Text&gt;&#10;                        &lt;/Box&gt;&#10;                        &lt;Text style={{ fontSize: 14, fontWeight: 'bold', color: it.c, fontFamily: 'Consolas' }}&gt;{it.date}&lt;/Text&gt;&#10;                    &lt;/Box&gt;&#10;                    &lt;Text style={{ fontSize: 17, fontWeight: 'bold', color: '#42425A' }}&gt;{it.t}&lt;/Text&gt;&#10;                    &lt;Text style={{ fontSize: 13, color: 'rgba(66,66,90,0.78)', lineHeight: 1.5 }}&gt;{it.d}&lt;/Text&gt;&#10;                &lt;/Box&gt;&#10;            ))}&#10;            &lt;Box style={{ background: '#42425A', borderRadius: 12, padding: '8px 14px' }}&gt;&#10;                &lt;Text style={{ fontSize: 13, color: '#FFFBF5', lineHeight: 1.45 }}&gt;二期与三期目标日期并列（均 2026/10/22），平台建设与 V2.0 并行推进，实际节奏以二期试运行反馈为准。&lt;/Text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矩形 10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533400" y="304800"/>
            <a:ext cx="57150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04</a:t>
            </a:r>
            <a:endParaRPr lang="en-US" sz="405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1238250" y="438150"/>
            <a:ext cx="1619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42425A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·</a:t>
            </a:r>
            <a:endParaRPr sz="2250" b="1">
              <a:solidFill>
                <a:srgbClr val="42425A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1533525" y="304800"/>
            <a:ext cx="57150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05</a:t>
            </a:r>
            <a:endParaRPr lang="en-US" sz="40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62" name="文本框 1061" descr="{&quot;isTemplate&quot;:true,&quot;type&quot;:&quot;text&quot;}"/>
          <p:cNvSpPr txBox="1"/>
          <p:nvPr/>
        </p:nvSpPr>
        <p:spPr>
          <a:xfrm>
            <a:off x="2295525" y="381000"/>
            <a:ext cx="35337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技术架构设计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项目里程碑</a:t>
            </a:r>
            <a:endParaRPr lang="zh-CN" sz="22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3" name="圆角矩形 1062"/>
          <p:cNvSpPr/>
          <p:nvPr/>
        </p:nvSpPr>
        <p:spPr>
          <a:xfrm>
            <a:off x="2295525" y="7810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064" name="圆角矩形 1063"/>
          <p:cNvSpPr/>
          <p:nvPr/>
        </p:nvSpPr>
        <p:spPr>
          <a:xfrm>
            <a:off x="10868025" y="466725"/>
            <a:ext cx="7905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065" name="图片 106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20425" y="542925"/>
            <a:ext cx="133350" cy="133350"/>
          </a:xfrm>
          <a:prstGeom prst="rect">
            <a:avLst/>
          </a:prstGeom>
        </p:spPr>
      </p:pic>
      <p:sp>
        <p:nvSpPr>
          <p:cNvPr id="1066" name="文本框 1065" descr="{&quot;isTemplate&quot;:true,&quot;type&quot;:&quot;text&quot;}"/>
          <p:cNvSpPr txBox="1"/>
          <p:nvPr/>
        </p:nvSpPr>
        <p:spPr>
          <a:xfrm>
            <a:off x="11229975" y="523875"/>
            <a:ext cx="27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7" name="圆角矩形 1066"/>
          <p:cNvSpPr/>
          <p:nvPr/>
        </p:nvSpPr>
        <p:spPr>
          <a:xfrm>
            <a:off x="533400" y="1028700"/>
            <a:ext cx="6562725" cy="409575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pic>
        <p:nvPicPr>
          <p:cNvPr id="1068" name="图片 10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181100"/>
            <a:ext cx="171450" cy="171450"/>
          </a:xfrm>
          <a:prstGeom prst="rect">
            <a:avLst/>
          </a:prstGeom>
        </p:spPr>
      </p:pic>
      <p:sp>
        <p:nvSpPr>
          <p:cNvPr id="1069" name="文本框 1068" descr="{&quot;isTemplate&quot;:true,&quot;type&quot;:&quot;text&quot;}"/>
          <p:cNvSpPr txBox="1"/>
          <p:nvPr/>
        </p:nvSpPr>
        <p:spPr>
          <a:xfrm>
            <a:off x="933450" y="1181100"/>
            <a:ext cx="23526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五层单向依赖</a:t>
            </a:r>
            <a:r>
              <a:rPr lang="en-US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depth: 5 · cycles: 0</a:t>
            </a:r>
            <a:endParaRPr lang="en-US" sz="1125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0" name="圆角矩形 1069"/>
          <p:cNvSpPr/>
          <p:nvPr/>
        </p:nvSpPr>
        <p:spPr>
          <a:xfrm>
            <a:off x="685800" y="1428750"/>
            <a:ext cx="6257925" cy="561975"/>
          </a:xfrm>
          <a:prstGeom prst="roundRect">
            <a:avLst>
              <a:gd name="adj" fmla="val 16949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71" name="圆角矩形 1070"/>
          <p:cNvSpPr/>
          <p:nvPr/>
        </p:nvSpPr>
        <p:spPr>
          <a:xfrm>
            <a:off x="819150" y="15335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923925" y="1638300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L5</a:t>
            </a:r>
            <a:endParaRPr lang="en-US" sz="10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1295400" y="1552575"/>
            <a:ext cx="551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二期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Dashboard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4" name="文本框 1073" descr="{&quot;isTemplate&quot;:true,&quot;type&quot;:&quot;text&quot;}"/>
          <p:cNvSpPr txBox="1"/>
          <p:nvPr/>
        </p:nvSpPr>
        <p:spPr>
          <a:xfrm>
            <a:off x="1295400" y="1733550"/>
            <a:ext cx="55149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React + Antd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Node.js API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（规划中），只读产物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5" name="圆角矩形 1074"/>
          <p:cNvSpPr/>
          <p:nvPr/>
        </p:nvSpPr>
        <p:spPr>
          <a:xfrm>
            <a:off x="685800" y="2066925"/>
            <a:ext cx="6257925" cy="561975"/>
          </a:xfrm>
          <a:prstGeom prst="roundRect">
            <a:avLst>
              <a:gd name="adj" fmla="val 16949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76" name="圆角矩形 1075"/>
          <p:cNvSpPr/>
          <p:nvPr/>
        </p:nvSpPr>
        <p:spPr>
          <a:xfrm>
            <a:off x="819150" y="21717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923925" y="22764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L4</a:t>
            </a:r>
            <a:endParaRPr lang="en-US" sz="10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1295400" y="2190750"/>
            <a:ext cx="551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脚本编排层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scripts/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1295400" y="2371725"/>
            <a:ext cx="55149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check_env → download → build → train → predict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六步流水线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0" name="圆角矩形 1079"/>
          <p:cNvSpPr/>
          <p:nvPr/>
        </p:nvSpPr>
        <p:spPr>
          <a:xfrm>
            <a:off x="685800" y="2705100"/>
            <a:ext cx="6257925" cy="552450"/>
          </a:xfrm>
          <a:prstGeom prst="roundRect">
            <a:avLst>
              <a:gd name="adj" fmla="val 17241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81" name="圆角矩形 1080"/>
          <p:cNvSpPr/>
          <p:nvPr/>
        </p:nvSpPr>
        <p:spPr>
          <a:xfrm>
            <a:off x="819150" y="280035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82" name="文本框 1081" descr="{&quot;isTemplate&quot;:true,&quot;type&quot;:&quot;text&quot;}"/>
          <p:cNvSpPr txBox="1"/>
          <p:nvPr/>
        </p:nvSpPr>
        <p:spPr>
          <a:xfrm>
            <a:off x="923925" y="290512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L3</a:t>
            </a:r>
            <a:endParaRPr lang="en-US" sz="10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83" name="文本框 1082" descr="{&quot;isTemplate&quot;:true,&quot;type&quot;:&quot;text&quot;}"/>
          <p:cNvSpPr txBox="1"/>
          <p:nvPr/>
        </p:nvSpPr>
        <p:spPr>
          <a:xfrm>
            <a:off x="1295400" y="2819400"/>
            <a:ext cx="551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核心库层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src/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4" name="文本框 1083" descr="{&quot;isTemplate&quot;:true,&quot;type&quot;:&quot;text&quot;}"/>
          <p:cNvSpPr txBox="1"/>
          <p:nvPr/>
        </p:nvSpPr>
        <p:spPr>
          <a:xfrm>
            <a:off x="1295400" y="3000375"/>
            <a:ext cx="55149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config / utils / models / metrics / datasets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五模块，无命令行解析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5" name="圆角矩形 1084"/>
          <p:cNvSpPr/>
          <p:nvPr/>
        </p:nvSpPr>
        <p:spPr>
          <a:xfrm>
            <a:off x="685800" y="3333750"/>
            <a:ext cx="6257925" cy="561975"/>
          </a:xfrm>
          <a:prstGeom prst="roundRect">
            <a:avLst>
              <a:gd name="adj" fmla="val 16949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86" name="圆角矩形 1085"/>
          <p:cNvSpPr/>
          <p:nvPr/>
        </p:nvSpPr>
        <p:spPr>
          <a:xfrm>
            <a:off x="819150" y="34385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87" name="文本框 1086" descr="{&quot;isTemplate&quot;:true,&quot;type&quot;:&quot;text&quot;}"/>
          <p:cNvSpPr txBox="1"/>
          <p:nvPr/>
        </p:nvSpPr>
        <p:spPr>
          <a:xfrm>
            <a:off x="923925" y="3543300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L2</a:t>
            </a:r>
            <a:endParaRPr lang="en-US" sz="10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88" name="文本框 1087" descr="{&quot;isTemplate&quot;:true,&quot;type&quot;:&quot;text&quot;}"/>
          <p:cNvSpPr txBox="1"/>
          <p:nvPr/>
        </p:nvSpPr>
        <p:spPr>
          <a:xfrm>
            <a:off x="1295400" y="3457575"/>
            <a:ext cx="551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模型与权重层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models/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9" name="文本框 1088" descr="{&quot;isTemplate&quot;:true,&quot;type&quot;:&quot;text&quot;}"/>
          <p:cNvSpPr txBox="1"/>
          <p:nvPr/>
        </p:nvSpPr>
        <p:spPr>
          <a:xfrm>
            <a:off x="1295400" y="3638550"/>
            <a:ext cx="55149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codebert-base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预训练权重（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477 MB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微调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best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检查点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0" name="圆角矩形 1089"/>
          <p:cNvSpPr/>
          <p:nvPr/>
        </p:nvSpPr>
        <p:spPr>
          <a:xfrm>
            <a:off x="685800" y="3971925"/>
            <a:ext cx="6257925" cy="561975"/>
          </a:xfrm>
          <a:prstGeom prst="roundRect">
            <a:avLst>
              <a:gd name="adj" fmla="val 16949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91" name="圆角矩形 1090"/>
          <p:cNvSpPr/>
          <p:nvPr/>
        </p:nvSpPr>
        <p:spPr>
          <a:xfrm>
            <a:off x="819150" y="4076700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92" name="文本框 1091" descr="{&quot;isTemplate&quot;:true,&quot;type&quot;:&quot;text&quot;}"/>
          <p:cNvSpPr txBox="1"/>
          <p:nvPr/>
        </p:nvSpPr>
        <p:spPr>
          <a:xfrm>
            <a:off x="923925" y="4181475"/>
            <a:ext cx="152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L1</a:t>
            </a:r>
            <a:endParaRPr lang="en-US" sz="10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93" name="文本框 1092" descr="{&quot;isTemplate&quot;:true,&quot;type&quot;:&quot;text&quot;}"/>
          <p:cNvSpPr txBox="1"/>
          <p:nvPr/>
        </p:nvSpPr>
        <p:spPr>
          <a:xfrm>
            <a:off x="1295400" y="4095750"/>
            <a:ext cx="551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data/</a:t>
            </a:r>
            <a:endParaRPr lang="en-US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1295400" y="4276725"/>
            <a:ext cx="55149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CVEfixes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原始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1.1 GB →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治理后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JSONL 56 MB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，按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group 8:1:1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划分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5" name="圆角矩形 1094"/>
          <p:cNvSpPr/>
          <p:nvPr/>
        </p:nvSpPr>
        <p:spPr>
          <a:xfrm>
            <a:off x="685800" y="4610100"/>
            <a:ext cx="6257925" cy="361950"/>
          </a:xfrm>
          <a:prstGeom prst="roundRect">
            <a:avLst>
              <a:gd name="adj" fmla="val 26316"/>
            </a:avLst>
          </a:prstGeom>
          <a:solidFill>
            <a:srgbClr val="6A6FC9">
              <a:alpha val="8000"/>
            </a:srgbClr>
          </a:solidFill>
        </p:spPr>
        <p:txBody>
          <a:bodyPr/>
          <a:p/>
        </p:txBody>
      </p:sp>
      <p:sp>
        <p:nvSpPr>
          <p:cNvPr id="1096" name="文本框 1095" descr="{&quot;isTemplate&quot;:true,&quot;type&quot;:&quot;text&quot;}"/>
          <p:cNvSpPr txBox="1"/>
          <p:nvPr/>
        </p:nvSpPr>
        <p:spPr>
          <a:xfrm>
            <a:off x="800100" y="4676775"/>
            <a:ext cx="60293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取舍：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全链路离线、无</a:t>
            </a:r>
            <a:r>
              <a:rPr lang="en-US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API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、无数据库，状态落在文件系统——换来可复现；换模型只改配置一个字段。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7" name="圆角矩形 1096"/>
          <p:cNvSpPr/>
          <p:nvPr/>
        </p:nvSpPr>
        <p:spPr>
          <a:xfrm>
            <a:off x="7286625" y="1028700"/>
            <a:ext cx="4371975" cy="1057275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098" name="圆角矩形 1097"/>
          <p:cNvSpPr/>
          <p:nvPr/>
        </p:nvSpPr>
        <p:spPr>
          <a:xfrm>
            <a:off x="7419975" y="1181100"/>
            <a:ext cx="857250" cy="209550"/>
          </a:xfrm>
          <a:prstGeom prst="roundRect">
            <a:avLst>
              <a:gd name="adj" fmla="val 36364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099" name="文本框 1098" descr="{&quot;isTemplate&quot;:true,&quot;type&quot;:&quot;text&quot;}"/>
          <p:cNvSpPr txBox="1"/>
          <p:nvPr/>
        </p:nvSpPr>
        <p:spPr>
          <a:xfrm>
            <a:off x="7534275" y="1209675"/>
            <a:ext cx="628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一期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本期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0" name="文本框 1099" descr="{&quot;isTemplate&quot;:true,&quot;type&quot;:&quot;text&quot;}"/>
          <p:cNvSpPr txBox="1"/>
          <p:nvPr/>
        </p:nvSpPr>
        <p:spPr>
          <a:xfrm>
            <a:off x="10791825" y="1209675"/>
            <a:ext cx="733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2026/09/22</a:t>
            </a:r>
            <a:endParaRPr lang="en-US" sz="10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01" name="文本框 1100" descr="{&quot;isTemplate&quot;:true,&quot;type&quot;:&quot;text&quot;}"/>
          <p:cNvSpPr txBox="1"/>
          <p:nvPr/>
        </p:nvSpPr>
        <p:spPr>
          <a:xfrm>
            <a:off x="7419975" y="1447800"/>
            <a:ext cx="4105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漏洞扫描模型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V1.0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上线</a:t>
            </a:r>
            <a:endParaRPr lang="zh-CN" sz="12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7419975" y="1704975"/>
            <a:ext cx="41052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建设</a:t>
            </a:r>
            <a:r>
              <a:rPr lang="en-US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V1.0 </a:t>
            </a: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模型与扫描引擎评估、迭代机制；完成本次汇报。</a:t>
            </a:r>
            <a:endParaRPr lang="zh-CN" sz="975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3" name="圆角矩形 1102"/>
          <p:cNvSpPr/>
          <p:nvPr/>
        </p:nvSpPr>
        <p:spPr>
          <a:xfrm>
            <a:off x="7286625" y="2200275"/>
            <a:ext cx="4371975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04" name="圆角矩形 1103"/>
          <p:cNvSpPr/>
          <p:nvPr/>
        </p:nvSpPr>
        <p:spPr>
          <a:xfrm>
            <a:off x="7419975" y="2352675"/>
            <a:ext cx="981075" cy="209550"/>
          </a:xfrm>
          <a:prstGeom prst="roundRect">
            <a:avLst>
              <a:gd name="adj" fmla="val 36364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7534275" y="2381250"/>
            <a:ext cx="752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二期</a:t>
            </a:r>
            <a:r>
              <a:rPr lang="en-US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规划中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6" name="文本框 1105" descr="{&quot;isTemplate&quot;:true,&quot;type&quot;:&quot;text&quot;}"/>
          <p:cNvSpPr txBox="1"/>
          <p:nvPr/>
        </p:nvSpPr>
        <p:spPr>
          <a:xfrm>
            <a:off x="10791825" y="2381250"/>
            <a:ext cx="733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2026/10/22</a:t>
            </a:r>
            <a:endParaRPr lang="en-US" sz="105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07" name="文本框 1106" descr="{&quot;isTemplate&quot;:true,&quot;type&quot;:&quot;text&quot;}"/>
          <p:cNvSpPr txBox="1"/>
          <p:nvPr/>
        </p:nvSpPr>
        <p:spPr>
          <a:xfrm>
            <a:off x="7419975" y="2619375"/>
            <a:ext cx="4105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漏洞运营管理平台</a:t>
            </a:r>
            <a:endParaRPr lang="zh-CN" sz="12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8" name="文本框 1107" descr="{&quot;isTemplate&quot;:true,&quot;type&quot;:&quot;text&quot;}"/>
          <p:cNvSpPr txBox="1"/>
          <p:nvPr/>
        </p:nvSpPr>
        <p:spPr>
          <a:xfrm>
            <a:off x="7419975" y="2876550"/>
            <a:ext cx="41052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落实运营流程、培训相关部门、完善操作指南，试推行</a:t>
            </a:r>
            <a:r>
              <a:rPr lang="en-US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个月收集反馈。</a:t>
            </a:r>
            <a:endParaRPr lang="zh-CN" sz="975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9" name="圆角矩形 1108"/>
          <p:cNvSpPr/>
          <p:nvPr/>
        </p:nvSpPr>
        <p:spPr>
          <a:xfrm>
            <a:off x="7286625" y="3362325"/>
            <a:ext cx="4371975" cy="1057275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10" name="圆角矩形 1109"/>
          <p:cNvSpPr/>
          <p:nvPr/>
        </p:nvSpPr>
        <p:spPr>
          <a:xfrm>
            <a:off x="7419975" y="3514725"/>
            <a:ext cx="981075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7534275" y="3543300"/>
            <a:ext cx="752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三期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规划中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2" name="文本框 1111" descr="{&quot;isTemplate&quot;:true,&quot;type&quot;:&quot;text&quot;}"/>
          <p:cNvSpPr txBox="1"/>
          <p:nvPr/>
        </p:nvSpPr>
        <p:spPr>
          <a:xfrm>
            <a:off x="10791825" y="3543300"/>
            <a:ext cx="733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2026/10/22</a:t>
            </a:r>
            <a:endParaRPr lang="en-US" sz="10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13" name="文本框 1112" descr="{&quot;isTemplate&quot;:true,&quot;type&quot;:&quot;text&quot;}"/>
          <p:cNvSpPr txBox="1"/>
          <p:nvPr/>
        </p:nvSpPr>
        <p:spPr>
          <a:xfrm>
            <a:off x="7419975" y="3781425"/>
            <a:ext cx="41052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漏洞扫描模型</a:t>
            </a: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V2.0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上线</a:t>
            </a:r>
            <a:endParaRPr lang="zh-CN" sz="12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4" name="文本框 1113" descr="{&quot;isTemplate&quot;:true,&quot;type&quot;:&quot;text&quot;}"/>
          <p:cNvSpPr txBox="1"/>
          <p:nvPr/>
        </p:nvSpPr>
        <p:spPr>
          <a:xfrm>
            <a:off x="7419975" y="4038600"/>
            <a:ext cx="41052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用真实项目函数级数据重训，缩小「训练碎片</a:t>
            </a:r>
            <a:r>
              <a:rPr lang="en-US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真实函数」的分布差异。</a:t>
            </a:r>
            <a:endParaRPr lang="zh-CN" sz="975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5" name="圆角矩形 1114"/>
          <p:cNvSpPr/>
          <p:nvPr/>
        </p:nvSpPr>
        <p:spPr>
          <a:xfrm>
            <a:off x="7286625" y="4533900"/>
            <a:ext cx="4371975" cy="590550"/>
          </a:xfrm>
          <a:prstGeom prst="roundRect">
            <a:avLst>
              <a:gd name="adj" fmla="val 19355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1116" name="文本框 1115" descr="{&quot;isTemplate&quot;:true,&quot;type&quot;:&quot;text&quot;}"/>
          <p:cNvSpPr txBox="1"/>
          <p:nvPr/>
        </p:nvSpPr>
        <p:spPr>
          <a:xfrm>
            <a:off x="7419975" y="4610100"/>
            <a:ext cx="410527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二期与三期目标日期并列（均</a:t>
            </a:r>
            <a:r>
              <a:rPr lang="en-US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2026/10/22</a:t>
            </a:r>
            <a:r>
              <a:rPr lang="zh-CN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），平台建设与</a:t>
            </a:r>
            <a:r>
              <a:rPr lang="en-US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V2.0 </a:t>
            </a:r>
            <a:r>
              <a:rPr lang="zh-CN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并行推进，实际节奏以二期试运行反馈为准。</a:t>
            </a:r>
            <a:endParaRPr lang="zh-CN" sz="97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17" name="图片 11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5295900"/>
            <a:ext cx="152400" cy="152400"/>
          </a:xfrm>
          <a:prstGeom prst="rect">
            <a:avLst/>
          </a:prstGeom>
        </p:spPr>
      </p:pic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762000" y="52959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11239500" y="52959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07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20" name="图片 1119"/>
          <p:cNvPicPr>
            <a:picLocks noChangeAspect="1"/>
          </p:cNvPicPr>
          <p:nvPr/>
        </p:nvPicPr>
        <p:blipFill>
          <a:blip r:embed="rId7"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15700" y="34290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1" name="" descr="&lt;Slide style={{ width: '1280px', height: '720px', padding: '24px 56px', background: '#FFFBF5', position: 'relative', flexDirection: 'column', fontFamily: 'Microsoft YaHei' }}&gt;&#10;    &lt;FAIcon name='star' style={{ position: 'absolute', top: 26, right: 66, width: 22, height: 22, fill: '#E87E99', opacity: 0.55 }} /&gt;&#10;    &lt;FAIcon name='circle' style={{ position: 'absolute', bottom: 70, right: 130, width: 12, height: 12, fill: '#45A99D', opacity: 0.55 }} /&gt;&#10;&#10;    &lt;Box style={{ flexDirection: 'row', alignItems: 'center', gap: 16, height: 88 }}&gt;&#10;        &lt;Text style={{ fontSize: 66, fontWeight: 'bold', color: '#45A99D', fontFamily: 'Consolas', lineHeight: 1 }}&gt;06&lt;/Text&gt;&#10;        &lt;Box style={{ flexDirection: 'column', gap: 6 }}&gt;&#10;            &lt;Text style={{ fontSize: 32, fontWeight: 'bold', color: '#42425A' }}&gt;模型训练 &lt;span style={{ fontSize: 18, color: 'rgba(66,66,90,0.5)' }}&gt;· 八个环节，一条主线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s' style={{ fill: '#6A6FC9', width: 16, height: 16 }} /&gt;&#10;            &lt;Text style={{ fontSize: 15, color: '#42425A', fontWeight: 'bold' }}&gt;小组全员 · 分工协作&lt;/Text&gt;&#10;        &lt;/Box&gt;&#10;    &lt;/Box&gt;&#10;&#10;    &lt;Box style={{ flexDirection: 'row', gap: 14, height: 428, marginTop: 4 }}&gt;&#10;        &lt;Box style={{ flex: 1, flexDirection: 'column', gap: 14 }}&gt;&#10;            {[&#10;                { n: 'Ken', t: '背景 · 目标 · 流程 · 架构 · 里程碑', d: '定义问题与验收边界，设计业务链路与五层架构', c: '#6A6FC9', icon: 'compass' },&#10;                { n: '钟祖滨', t: '数据质量与分布分析', d: '缺失 / 异常 / 重复识别，七张 EDA 图定策略', c: '#E87E99', icon: 'microscope' },&#10;                { n: '罗天伦', t: '训练与调参', d: 'baseline 先行，超参与训练策略迭代', c: '#E5B45C', icon: 'sliders-h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gap: 10 }}&gt;&#10;                        &lt;Box style={{ width: 40, height: 40, borderRadius: 10, background: it.c, border: '2px solid #42425A', justifyContent: 'center', alignItems: 'center' }}&gt;&#10;                            &lt;FAIcon name={it.icon} style={{ fill: '#FFFFFF', width: 19, height: 19 }} /&gt;&#10;                        &lt;/Box&gt;&#10;                        &lt;Text style={{ fontSize: 19, fontWeight: 'bold', color: '#42425A' }}&gt;{it.n}&lt;/Text&gt;&#10;                    &lt;/Box&gt;&#10;                    &lt;Text style={{ fontSize: 15, fontWeight: 'bold', color: it.c }}&gt;{it.t}&lt;/Text&gt;&#10;                    &lt;Text style={{ fontSize: 13, color: 'rgba(66,66,90,0.75)', lineHeight: 1.5 }}&gt;{it.d}&lt;/Text&gt;&#10;                &lt;/Box&gt;&#10;            ))}&#10;        &lt;/Box&gt;&#10;        &lt;Box style={{ flex: 1, flexDirection: 'column', gap: 14 }}&gt;&#10;            {[&#10;                { n: '郑志伟', t: '工程骨架与模块化', d: '核心库与脚本两层拆分，配置集中于一处', c: '#45A99D', icon: 'sitemap' },&#10;                { n: '温玉贵', t: '数据预处理实施', d: '八步治理工序，产出统一格式 JSONL', c: '#6A6FC9', icon: 'filter' },&#10;                { n: '罗文龙', t: '效果评估口径', d: '行业指标对齐：六项指标与阈值权衡', c: '#E87E99', icon: 'chart-line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gap: 10 }}&gt;&#10;                        &lt;Box style={{ width: 40, height: 40, borderRadius: 10, background: it.c, border: '2px solid #42425A', justifyContent: 'center', alignItems: 'center' }}&gt;&#10;                            &lt;FAIcon name={it.icon} style={{ fill: '#FFFFFF', width: 19, height: 19 }} /&gt;&#10;                        &lt;/Box&gt;&#10;                        &lt;Text style={{ fontSize: 19, fontWeight: 'bold', color: '#42425A' }}&gt;{it.n}&lt;/Text&gt;&#10;                    &lt;/Box&gt;&#10;                    &lt;Text style={{ fontSize: 15, fontWeight: 'bold', color: it.c }}&gt;{it.t}&lt;/Text&gt;&#10;                    &lt;Text style={{ fontSize: 13, color: 'rgba(66,66,90,0.75)', lineHeight: 1.5 }}&gt;{it.d}&lt;/Text&gt;&#10;                &lt;/Box&gt;&#10;            ))}&#10;        &lt;/Box&gt;&#10;        &lt;Box style={{ flex: 1, flexDirection: 'column', gap: 14 }}&gt;&#10;            {[&#10;                { n: '钟泽平', t: '数据与模型选型', d: '算力约束下的最优解：CVEfixes + CodeBERT', c: '#E5B45C', icon: 'balance-scale' },&#10;                { n: '张墨含', t: '特征工程链路', d: '数据流水线：两阶段、三级截断与实测发现', c: '#45A99D', icon: 'cogs' },&#10;                { n: '余敏 + 闪闪', t: '演示 · 回顾 · 展望', d: '检测与分类现场演示，七个高频问题作答', c: '#6A6FC9', icon: 'play-circle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gap: 10 }}&gt;&#10;                        &lt;Box style={{ width: 40, height: 40, borderRadius: 10, background: it.c, border: '2px solid #42425A', justifyContent: 'center', alignItems: 'center' }}&gt;&#10;                            &lt;FAIcon name={it.icon} style={{ fill: '#FFFFFF', width: 19, height: 19 }} /&gt;&#10;                        &lt;/Box&gt;&#10;                        &lt;Text style={{ fontSize: 19, fontWeight: 'bold', color: '#42425A' }}&gt;{it.n}&lt;/Text&gt;&#10;                    &lt;/Box&gt;&#10;                    &lt;Text style={{ fontSize: 15, fontWeight: 'bold', color: it.c }}&gt;{it.t}&lt;/Text&gt;&#10;                    &lt;Text style={{ fontSize: 13, color: 'rgba(66,66,90,0.75)', lineHeight: 1.5 }}&gt;{it.d}&lt;/Text&gt;&#10;                &lt;/Box&gt;&#10;            ))}&#10;        &lt;/Box&gt;&#10;    &lt;/Box&gt;&#10;&#10;    &lt;Box style={{ marginTop: 12, background: '#42425A', borderRadius: 12, padding: '10px 18px' }}&gt;&#10;        &lt;Text style={{ fontSize: 15, color: '#FFFBF5' }}&gt;一条主线：&lt;span style={{ fontWeight: 'bold', color: '#E5B45C' }}&gt;数据怎么来 → 怎么处理 → 怎么训 → 怎么看结果&lt;/span&gt;，下面按这条顺序逐节展开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矩形 1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533400" y="266700"/>
            <a:ext cx="695325" cy="762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9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06</a:t>
            </a:r>
            <a:endParaRPr lang="en-US" sz="49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24" name="文本框 1123" descr="{&quot;isTemplate&quot;:true,&quot;type&quot;:&quot;text&quot;}"/>
          <p:cNvSpPr txBox="1"/>
          <p:nvPr/>
        </p:nvSpPr>
        <p:spPr>
          <a:xfrm>
            <a:off x="1381125" y="409575"/>
            <a:ext cx="29813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模型训练</a:t>
            </a:r>
            <a:r>
              <a:rPr lang="en-US" sz="24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八个环节，一条主线</a:t>
            </a:r>
            <a:endParaRPr lang="zh-CN" sz="135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5" name="圆角矩形 1124"/>
          <p:cNvSpPr/>
          <p:nvPr/>
        </p:nvSpPr>
        <p:spPr>
          <a:xfrm>
            <a:off x="1381125" y="8382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126" name="圆角矩形 1125"/>
          <p:cNvSpPr/>
          <p:nvPr/>
        </p:nvSpPr>
        <p:spPr>
          <a:xfrm>
            <a:off x="9829800" y="504825"/>
            <a:ext cx="1828800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27" name="图片 11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82200" y="571500"/>
            <a:ext cx="152400" cy="152400"/>
          </a:xfrm>
          <a:prstGeom prst="rect">
            <a:avLst/>
          </a:prstGeom>
        </p:spPr>
      </p:pic>
      <p:sp>
        <p:nvSpPr>
          <p:cNvPr id="1128" name="文本框 1127" descr="{&quot;isTemplate&quot;:true,&quot;type&quot;:&quot;text&quot;}"/>
          <p:cNvSpPr txBox="1"/>
          <p:nvPr/>
        </p:nvSpPr>
        <p:spPr>
          <a:xfrm>
            <a:off x="10210800" y="561975"/>
            <a:ext cx="12954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小组全员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分工协作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9" name="圆角矩形 1128"/>
          <p:cNvSpPr/>
          <p:nvPr/>
        </p:nvSpPr>
        <p:spPr>
          <a:xfrm>
            <a:off x="533400" y="1104900"/>
            <a:ext cx="361950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30" name="圆角矩形 1129"/>
          <p:cNvSpPr/>
          <p:nvPr/>
        </p:nvSpPr>
        <p:spPr>
          <a:xfrm>
            <a:off x="666750" y="12382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31" name="图片 113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1343025"/>
            <a:ext cx="180975" cy="180975"/>
          </a:xfrm>
          <a:prstGeom prst="rect">
            <a:avLst/>
          </a:prstGeom>
        </p:spPr>
      </p:pic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1143000" y="1323975"/>
            <a:ext cx="3524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Ken</a:t>
            </a:r>
            <a:endParaRPr lang="en-US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3" name="文本框 1132" descr="{&quot;isTemplate&quot;:true,&quot;type&quot;:&quot;text&quot;}"/>
          <p:cNvSpPr txBox="1"/>
          <p:nvPr/>
        </p:nvSpPr>
        <p:spPr>
          <a:xfrm>
            <a:off x="666750" y="1676400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流程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里程碑</a:t>
            </a:r>
            <a:endParaRPr lang="zh-CN" sz="112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4" name="文本框 1133" descr="{&quot;isTemplate&quot;:true,&quot;type&quot;:&quot;text&quot;}"/>
          <p:cNvSpPr txBox="1"/>
          <p:nvPr/>
        </p:nvSpPr>
        <p:spPr>
          <a:xfrm>
            <a:off x="666750" y="1905000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定义问题与验收边界，设计业务链路与五层架构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5" name="圆角矩形 1134"/>
          <p:cNvSpPr/>
          <p:nvPr/>
        </p:nvSpPr>
        <p:spPr>
          <a:xfrm>
            <a:off x="533400" y="2505075"/>
            <a:ext cx="3619500" cy="12763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36" name="圆角矩形 1135"/>
          <p:cNvSpPr/>
          <p:nvPr/>
        </p:nvSpPr>
        <p:spPr>
          <a:xfrm>
            <a:off x="666750" y="26384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37" name="图片 113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525" y="2743200"/>
            <a:ext cx="180975" cy="180975"/>
          </a:xfrm>
          <a:prstGeom prst="rect">
            <a:avLst/>
          </a:prstGeom>
        </p:spPr>
      </p:pic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1143000" y="2724150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钟祖滨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666750" y="3076575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数据质量与分布分析</a:t>
            </a:r>
            <a:endParaRPr lang="zh-CN" sz="112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0" name="文本框 1139" descr="{&quot;isTemplate&quot;:true,&quot;type&quot;:&quot;text&quot;}"/>
          <p:cNvSpPr txBox="1"/>
          <p:nvPr/>
        </p:nvSpPr>
        <p:spPr>
          <a:xfrm>
            <a:off x="666750" y="3305175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缺失</a:t>
            </a:r>
            <a:r>
              <a:rPr lang="en-US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en-US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重复识别，七张</a:t>
            </a:r>
            <a:r>
              <a:rPr lang="en-US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EDA </a:t>
            </a: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图定策略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1" name="圆角矩形 1140"/>
          <p:cNvSpPr/>
          <p:nvPr/>
        </p:nvSpPr>
        <p:spPr>
          <a:xfrm>
            <a:off x="533400" y="3914775"/>
            <a:ext cx="361950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42" name="圆角矩形 1141"/>
          <p:cNvSpPr/>
          <p:nvPr/>
        </p:nvSpPr>
        <p:spPr>
          <a:xfrm>
            <a:off x="666750" y="40481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43" name="图片 114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525" y="4152900"/>
            <a:ext cx="180975" cy="180975"/>
          </a:xfrm>
          <a:prstGeom prst="rect">
            <a:avLst/>
          </a:prstGeom>
        </p:spPr>
      </p:pic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1143000" y="4133850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罗天伦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666750" y="4486275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训练与调参</a:t>
            </a:r>
            <a:endParaRPr lang="zh-CN" sz="1125" b="1">
              <a:solidFill>
                <a:srgbClr val="E5B4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6" name="文本框 1145" descr="{&quot;isTemplate&quot;:true,&quot;type&quot;:&quot;text&quot;}"/>
          <p:cNvSpPr txBox="1"/>
          <p:nvPr/>
        </p:nvSpPr>
        <p:spPr>
          <a:xfrm>
            <a:off x="666750" y="4714875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baseline </a:t>
            </a: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先行，超参与训练策略迭代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7" name="圆角矩形 1146"/>
          <p:cNvSpPr/>
          <p:nvPr/>
        </p:nvSpPr>
        <p:spPr>
          <a:xfrm>
            <a:off x="4286250" y="1104900"/>
            <a:ext cx="361950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48" name="圆角矩形 1147"/>
          <p:cNvSpPr/>
          <p:nvPr/>
        </p:nvSpPr>
        <p:spPr>
          <a:xfrm>
            <a:off x="4419600" y="12382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49" name="图片 1148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4375" y="1343025"/>
            <a:ext cx="180975" cy="180975"/>
          </a:xfrm>
          <a:prstGeom prst="rect">
            <a:avLst/>
          </a:prstGeom>
        </p:spPr>
      </p:pic>
      <p:sp>
        <p:nvSpPr>
          <p:cNvPr id="1150" name="文本框 1149" descr="{&quot;isTemplate&quot;:true,&quot;type&quot;:&quot;text&quot;}"/>
          <p:cNvSpPr txBox="1"/>
          <p:nvPr/>
        </p:nvSpPr>
        <p:spPr>
          <a:xfrm>
            <a:off x="4895850" y="1323975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郑志伟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1" name="文本框 1150" descr="{&quot;isTemplate&quot;:true,&quot;type&quot;:&quot;text&quot;}"/>
          <p:cNvSpPr txBox="1"/>
          <p:nvPr/>
        </p:nvSpPr>
        <p:spPr>
          <a:xfrm>
            <a:off x="4419600" y="1676400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工程骨架与模块化</a:t>
            </a:r>
            <a:endParaRPr lang="zh-CN" sz="112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2" name="文本框 1151" descr="{&quot;isTemplate&quot;:true,&quot;type&quot;:&quot;text&quot;}"/>
          <p:cNvSpPr txBox="1"/>
          <p:nvPr/>
        </p:nvSpPr>
        <p:spPr>
          <a:xfrm>
            <a:off x="4419600" y="1905000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核心库与脚本两层拆分，配置集中于一处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3" name="圆角矩形 1152"/>
          <p:cNvSpPr/>
          <p:nvPr/>
        </p:nvSpPr>
        <p:spPr>
          <a:xfrm>
            <a:off x="4286250" y="2505075"/>
            <a:ext cx="3619500" cy="12763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54" name="圆角矩形 1153"/>
          <p:cNvSpPr/>
          <p:nvPr/>
        </p:nvSpPr>
        <p:spPr>
          <a:xfrm>
            <a:off x="4419600" y="26384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55" name="图片 115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24375" y="2743200"/>
            <a:ext cx="180975" cy="180975"/>
          </a:xfrm>
          <a:prstGeom prst="rect">
            <a:avLst/>
          </a:prstGeom>
        </p:spPr>
      </p:pic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4895850" y="2724150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温玉贵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" name="文本框 1156" descr="{&quot;isTemplate&quot;:true,&quot;type&quot;:&quot;text&quot;}"/>
          <p:cNvSpPr txBox="1"/>
          <p:nvPr/>
        </p:nvSpPr>
        <p:spPr>
          <a:xfrm>
            <a:off x="4419600" y="3076575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数据预处理实施</a:t>
            </a:r>
            <a:endParaRPr lang="zh-CN" sz="112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8" name="文本框 1157" descr="{&quot;isTemplate&quot;:true,&quot;type&quot;:&quot;text&quot;}"/>
          <p:cNvSpPr txBox="1"/>
          <p:nvPr/>
        </p:nvSpPr>
        <p:spPr>
          <a:xfrm>
            <a:off x="4419600" y="3305175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八步治理工序，产出统一格式</a:t>
            </a:r>
            <a:r>
              <a:rPr lang="en-US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JSONL</a:t>
            </a:r>
            <a:endParaRPr lang="en-US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9" name="圆角矩形 1158"/>
          <p:cNvSpPr/>
          <p:nvPr/>
        </p:nvSpPr>
        <p:spPr>
          <a:xfrm>
            <a:off x="4286250" y="3914775"/>
            <a:ext cx="361950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60" name="圆角矩形 1159"/>
          <p:cNvSpPr/>
          <p:nvPr/>
        </p:nvSpPr>
        <p:spPr>
          <a:xfrm>
            <a:off x="4419600" y="40481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61" name="图片 116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4375" y="4152900"/>
            <a:ext cx="180975" cy="180975"/>
          </a:xfrm>
          <a:prstGeom prst="rect">
            <a:avLst/>
          </a:prstGeom>
        </p:spPr>
      </p:pic>
      <p:sp>
        <p:nvSpPr>
          <p:cNvPr id="1162" name="文本框 1161" descr="{&quot;isTemplate&quot;:true,&quot;type&quot;:&quot;text&quot;}"/>
          <p:cNvSpPr txBox="1"/>
          <p:nvPr/>
        </p:nvSpPr>
        <p:spPr>
          <a:xfrm>
            <a:off x="4895850" y="4133850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罗文龙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4419600" y="4486275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效果评估口径</a:t>
            </a:r>
            <a:endParaRPr lang="zh-CN" sz="112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4" name="文本框 1163" descr="{&quot;isTemplate&quot;:true,&quot;type&quot;:&quot;text&quot;}"/>
          <p:cNvSpPr txBox="1"/>
          <p:nvPr/>
        </p:nvSpPr>
        <p:spPr>
          <a:xfrm>
            <a:off x="4419600" y="4714875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行业指标对齐：六项指标与阈值权衡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5" name="圆角矩形 1164"/>
          <p:cNvSpPr/>
          <p:nvPr/>
        </p:nvSpPr>
        <p:spPr>
          <a:xfrm>
            <a:off x="8039100" y="1104900"/>
            <a:ext cx="361950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66" name="圆角矩形 1165"/>
          <p:cNvSpPr/>
          <p:nvPr/>
        </p:nvSpPr>
        <p:spPr>
          <a:xfrm>
            <a:off x="8172450" y="12382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67" name="图片 116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77225" y="1343025"/>
            <a:ext cx="180975" cy="180975"/>
          </a:xfrm>
          <a:prstGeom prst="rect">
            <a:avLst/>
          </a:prstGeom>
        </p:spPr>
      </p:pic>
      <p:sp>
        <p:nvSpPr>
          <p:cNvPr id="1168" name="文本框 1167" descr="{&quot;isTemplate&quot;:true,&quot;type&quot;:&quot;text&quot;}"/>
          <p:cNvSpPr txBox="1"/>
          <p:nvPr/>
        </p:nvSpPr>
        <p:spPr>
          <a:xfrm>
            <a:off x="8648700" y="1323975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钟泽平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9" name="文本框 1168" descr="{&quot;isTemplate&quot;:true,&quot;type&quot;:&quot;text&quot;}"/>
          <p:cNvSpPr txBox="1"/>
          <p:nvPr/>
        </p:nvSpPr>
        <p:spPr>
          <a:xfrm>
            <a:off x="8172450" y="1676400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数据与模型选型</a:t>
            </a:r>
            <a:endParaRPr lang="zh-CN" sz="1125" b="1">
              <a:solidFill>
                <a:srgbClr val="E5B4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0" name="文本框 1169" descr="{&quot;isTemplate&quot;:true,&quot;type&quot;:&quot;text&quot;}"/>
          <p:cNvSpPr txBox="1"/>
          <p:nvPr/>
        </p:nvSpPr>
        <p:spPr>
          <a:xfrm>
            <a:off x="8172450" y="1905000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算力约束下的最优解：</a:t>
            </a:r>
            <a:r>
              <a:rPr lang="en-US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CVEfixes + CodeBERT</a:t>
            </a:r>
            <a:endParaRPr lang="en-US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1" name="圆角矩形 1170"/>
          <p:cNvSpPr/>
          <p:nvPr/>
        </p:nvSpPr>
        <p:spPr>
          <a:xfrm>
            <a:off x="8039100" y="2505075"/>
            <a:ext cx="3619500" cy="1276350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72" name="圆角矩形 1171"/>
          <p:cNvSpPr/>
          <p:nvPr/>
        </p:nvSpPr>
        <p:spPr>
          <a:xfrm>
            <a:off x="8172450" y="26384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73" name="图片 117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77225" y="2743200"/>
            <a:ext cx="180975" cy="180975"/>
          </a:xfrm>
          <a:prstGeom prst="rect">
            <a:avLst/>
          </a:prstGeom>
        </p:spPr>
      </p:pic>
      <p:sp>
        <p:nvSpPr>
          <p:cNvPr id="1174" name="文本框 1173" descr="{&quot;isTemplate&quot;:true,&quot;type&quot;:&quot;text&quot;}"/>
          <p:cNvSpPr txBox="1"/>
          <p:nvPr/>
        </p:nvSpPr>
        <p:spPr>
          <a:xfrm>
            <a:off x="8648700" y="2724150"/>
            <a:ext cx="542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张墨含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5" name="文本框 1174" descr="{&quot;isTemplate&quot;:true,&quot;type&quot;:&quot;text&quot;}"/>
          <p:cNvSpPr txBox="1"/>
          <p:nvPr/>
        </p:nvSpPr>
        <p:spPr>
          <a:xfrm>
            <a:off x="8172450" y="3076575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特征工程链路</a:t>
            </a:r>
            <a:endParaRPr lang="zh-CN" sz="112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6" name="文本框 1175" descr="{&quot;isTemplate&quot;:true,&quot;type&quot;:&quot;text&quot;}"/>
          <p:cNvSpPr txBox="1"/>
          <p:nvPr/>
        </p:nvSpPr>
        <p:spPr>
          <a:xfrm>
            <a:off x="8172450" y="3305175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数据流水线：两阶段、三级截断与实测发现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7" name="圆角矩形 1176"/>
          <p:cNvSpPr/>
          <p:nvPr/>
        </p:nvSpPr>
        <p:spPr>
          <a:xfrm>
            <a:off x="8039100" y="3914775"/>
            <a:ext cx="3619500" cy="12668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78" name="圆角矩形 1177"/>
          <p:cNvSpPr/>
          <p:nvPr/>
        </p:nvSpPr>
        <p:spPr>
          <a:xfrm>
            <a:off x="8172450" y="40481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79" name="图片 1178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77225" y="4152900"/>
            <a:ext cx="180975" cy="180975"/>
          </a:xfrm>
          <a:prstGeom prst="rect">
            <a:avLst/>
          </a:prstGeom>
        </p:spPr>
      </p:pic>
      <p:sp>
        <p:nvSpPr>
          <p:cNvPr id="1180" name="文本框 1179" descr="{&quot;isTemplate&quot;:true,&quot;type&quot;:&quot;text&quot;}"/>
          <p:cNvSpPr txBox="1"/>
          <p:nvPr/>
        </p:nvSpPr>
        <p:spPr>
          <a:xfrm>
            <a:off x="8648700" y="4133850"/>
            <a:ext cx="9715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余敏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1" name="文本框 1180" descr="{&quot;isTemplate&quot;:true,&quot;type&quot;:&quot;text&quot;}"/>
          <p:cNvSpPr txBox="1"/>
          <p:nvPr/>
        </p:nvSpPr>
        <p:spPr>
          <a:xfrm>
            <a:off x="8172450" y="4486275"/>
            <a:ext cx="3352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回顾</a:t>
            </a:r>
            <a:r>
              <a:rPr lang="en-US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  <a:endParaRPr lang="zh-CN" sz="112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2" name="文本框 1181" descr="{&quot;isTemplate&quot;:true,&quot;type&quot;:&quot;text&quot;}"/>
          <p:cNvSpPr txBox="1"/>
          <p:nvPr/>
        </p:nvSpPr>
        <p:spPr>
          <a:xfrm>
            <a:off x="8172450" y="4714875"/>
            <a:ext cx="33528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检测与分类现场演示，七个高频问题作答</a:t>
            </a:r>
            <a:endParaRPr lang="zh-CN" sz="97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3" name="圆角矩形 1182"/>
          <p:cNvSpPr/>
          <p:nvPr/>
        </p:nvSpPr>
        <p:spPr>
          <a:xfrm>
            <a:off x="533400" y="5295900"/>
            <a:ext cx="11125200" cy="361950"/>
          </a:xfrm>
          <a:prstGeom prst="roundRect">
            <a:avLst>
              <a:gd name="adj" fmla="val 31579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1184" name="文本框 1183" descr="{&quot;isTemplate&quot;:true,&quot;type&quot;:&quot;text&quot;}"/>
          <p:cNvSpPr txBox="1"/>
          <p:nvPr/>
        </p:nvSpPr>
        <p:spPr>
          <a:xfrm>
            <a:off x="704850" y="5391150"/>
            <a:ext cx="10782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一条主线：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数据怎么来</a:t>
            </a:r>
            <a:r>
              <a:rPr lang="en-US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怎么处理</a:t>
            </a:r>
            <a:r>
              <a:rPr lang="en-US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怎么训</a:t>
            </a:r>
            <a:r>
              <a:rPr lang="en-US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怎么看结果</a:t>
            </a:r>
            <a:r>
              <a:rPr lang="zh-CN" sz="112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，下面按这条顺序逐节展开。</a:t>
            </a:r>
            <a:endParaRPr lang="zh-CN" sz="112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85" name="图片 1184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3400" y="5829300"/>
            <a:ext cx="152400" cy="152400"/>
          </a:xfrm>
          <a:prstGeom prst="rect">
            <a:avLst/>
          </a:prstGeom>
        </p:spPr>
      </p:pic>
      <p:sp>
        <p:nvSpPr>
          <p:cNvPr id="1186" name="文本框 1185" descr="{&quot;isTemplate&quot;:true,&quot;type&quot;:&quot;text&quot;}"/>
          <p:cNvSpPr txBox="1"/>
          <p:nvPr/>
        </p:nvSpPr>
        <p:spPr>
          <a:xfrm>
            <a:off x="762000" y="58293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7" name="文本框 1186" descr="{&quot;isTemplate&quot;:true,&quot;type&quot;:&quot;text&quot;}"/>
          <p:cNvSpPr txBox="1"/>
          <p:nvPr/>
        </p:nvSpPr>
        <p:spPr>
          <a:xfrm>
            <a:off x="11239500" y="58293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08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88" name="图片 1187"/>
          <p:cNvPicPr>
            <a:picLocks noChangeAspect="1"/>
          </p:cNvPicPr>
          <p:nvPr/>
        </p:nvPicPr>
        <p:blipFill>
          <a:blip r:embed="rId23">
            <a:alphaModFix amt="55000"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353800" y="247650"/>
            <a:ext cx="209550" cy="209550"/>
          </a:xfrm>
          <a:prstGeom prst="rect">
            <a:avLst/>
          </a:prstGeom>
        </p:spPr>
      </p:pic>
      <p:pic>
        <p:nvPicPr>
          <p:cNvPr id="1189" name="图片 1188"/>
          <p:cNvPicPr>
            <a:picLocks noChangeAspect="1"/>
          </p:cNvPicPr>
          <p:nvPr/>
        </p:nvPicPr>
        <p:blipFill>
          <a:blip r:embed="rId25">
            <a:alphaModFix amt="55000"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839450" y="607695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0" name="" descr="&lt;Slide style={{ width: '1280px', height: '720px', padding: '24px 56px', background: '#FFFBF5', position: 'relative', flexDirection: 'column', fontFamily: 'Microsoft YaHei' }}&gt;&#10;    &lt;FAIcon name='star' style={{ position: 'absolute', top: 30, right: 70, width: 20, height: 20, fill: '#E5B45C', opacity: 0.6 }} /&gt;&#10;&#10;    &lt;Box style={{ flexDirection: 'row', alignItems: 'center', gap: 14, height: 76 }}&gt;&#10;        &lt;Box style={{ background: '#6A6FC9', borderRadius: 10, padding: '8px 14px', border: '2px solid #42425A', boxShadow: '3px 3px 0 #42425A' }}&gt;&#10;            &lt;Text style={{ fontSize: 18, fontWeight: 'bold', color: '#FFFFFF', fontFamily: 'Consolas' }}&gt;06.1&lt;/Text&gt;&#10;        &lt;/Box&gt;&#10;        &lt;Box style={{ flexDirection: 'column', gap: 6 }}&gt;&#10;            &lt;Text style={{ fontSize: 30, fontWeight: 'bold', color: '#42425A' }}&gt;模块设计 &lt;span style={{ fontSize: 17, color: 'rgba(66,66,90,0.5)' }}&gt;· 先分层，再写代码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郑志伟&lt;/Text&gt;&#10;        &lt;/Box&gt;&#10;    &lt;/Box&gt;&#10;&#10;    &lt;Box style={{ flexDirection: 'row', gap: 20, height: 462, marginTop: 4 }}&gt;&#10;        {/* 左：目录树 */}&#10;        &lt;Box style={{ flex: 5, flexDirection: 'column', gap: 10 }}&gt;&#10;            &lt;CodeBlock&#10;                code={`vuln_bert/&#10;├── README.md            # 完整操作手册&#10;├── requirements.txt     # 依赖清单&#10;├── configs/&#10;│   └── config.yaml      # 训练配置（模型/任务/数据/超参）&#10;├── src/                 # 可复用模块&#10;│   ├── config.py        # 配置加载（三层合并）&#10;│   ├── utils.py         # 种子、日志、头尾截断&#10;│   ├── models.py        # VulnClassifier（BERT + 分类头）&#10;│   ├── metrics.py       # 二分类 / 多分类指标&#10;│   └── datasets.py      # Torch Dataset + 动态 padding&#10;├── scripts/             # 可执行脚本（①~⑥ 即执行顺序）&#10;│   ├── check_env.py  download_data.py  download_model.py&#10;│   ├── build_dataset.py  train.py  predict.py&#10;├── data/                # raw 1.1GB → processed 56MB&#10;├── models/              # 预训练权重 477MB&#10;└── outputs/             # 训练产物 + 生效配置回写`}&#10;                language='bash'&#10;                width={620}&#10;                fontSize={12.5}&#10;                theme='github-light'&#10;            /&gt;&#10;            &lt;Box style={{ flexDirection: 'row', gap: 12 }}&gt;&#10;                {[&#10;                    { n: '1.1 GB', t: 'data/raw 原始数据', c: '#6A6FC9' },&#10;                    { n: '56 MB', t: 'processed JSONL', c: '#45A99D' },&#10;                    { n: '477 MB', t: 'CodeBERT 权重', c: '#E87E99' },&#10;                ].map((it, i) =&gt; (&#10;                    &lt;Box key={i} style={{ flex: 1, background: '#FFFFFF', border: '2px solid #42425A', borderRadius: 12, boxShadow: '3px 3px 0 #42425A', padding: '8px 12px', alignItems: 'center', gap: 2 }}&gt;&#10;                        &lt;Text style={{ fontSize: 22, fontWeight: 'bold', color: it.c, fontFamily: 'Consolas' }}&gt;{it.n}&lt;/Text&gt;&#10;                        &lt;Text style={{ fontSize: 12, color: 'rgba(66,66,90,0.7)' }}&gt;{it.t}&lt;/Text&gt;&#10;                    &lt;/Box&gt;&#10;                ))}&#10;            &lt;/Box&gt;&#10;        &lt;/Box&gt;&#10;&#10;        {/* 右：三原则 */}&#10;        &lt;Box style={{ flex: 4, flexDirection: 'column', gap: 12 }}&gt;&#10;            {[&#10;                { n: '原则一', c: '#6A6FC9', t: 'scripts/ 只做编排', d: '每支脚本对应流水线上的一步，编号 ①~⑥ 就是执行顺序；脚本不写通用逻辑，只负责串流程。' },&#10;                { n: '原则二', c: '#45A99D', t: 'src/ 只做复用', d: '核心库不带命令行解析，也不反向依赖任何脚本；同一套模型代码，训练与推理都直接调用。' },&#10;                { n: '原则三', c: '#E87E99', t: '配置集中在一处', d: '模型、任务、数据、超参全部写在 config.yaml，改参数不动代码；优先级：默认值 &lt; yaml &lt; 命令行。' },&#10;            ].map((it, i) =&gt; (&#10;                &lt;Box key={i} style={{ flex: 1, background: '#FFFFFF', border: '2px solid #42425A', borderRadius: 14, boxShadow: '4px 4px 0 #42425A', padding: 14, flexDirection: 'column', gap: 5, justifyContent: 'center' }}&gt;&#10;                    &lt;Box style={{ flexDirection: 'row', alignItems: 'center', gap: 10 }}&gt;&#10;                        &lt;Box style={{ background: it.c, borderRadius: 8, padding: '3px 12px', border: '2px solid #42425A' }}&gt;&#10;                            &lt;Text style={{ fontSize: 13, fontWeight: 'bold', color: '#FFFFFF' }}&gt;{it.n}&lt;/Text&gt;&#10;                        &lt;/Box&gt;&#10;                        &lt;Text style={{ fontSize: 17, fontWeight: 'bold', color: '#42425A' }}&gt;{it.t}&lt;/Text&gt;&#10;                    &lt;/Box&gt;&#10;                    &lt;Text style={{ fontSize: 13, color: 'rgba(66,66,90,0.8)', lineHeight: 1.5 }}&gt;{it.d}&lt;/Text&gt;&#10;                &lt;/Box&gt;&#10;            ))}&#10;            &lt;Box style={{ background: 'rgba(229,180,92,0.15)', border: '2px dashed #E5B45C', borderRadius: 12, padding: '8px 14px' }}&gt;&#10;                &lt;Text style={{ fontSize: 13, color: '#42425A', lineHeight: 1.5 }}&gt;每个 module 只做一件事：换任何一个，都不影响其余四个。&lt;/Text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0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圆角矩形 1191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193" name="文本框 1192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06.1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94" name="文本框 1193" descr="{&quot;isTemplate&quot;:true,&quot;type&quot;:&quot;text&quot;}"/>
          <p:cNvSpPr txBox="1"/>
          <p:nvPr/>
        </p:nvSpPr>
        <p:spPr>
          <a:xfrm>
            <a:off x="1314450" y="361950"/>
            <a:ext cx="2647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模块设计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先分层，再写代码</a:t>
            </a:r>
            <a:endParaRPr lang="zh-CN" sz="1275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5" name="圆角矩形 1194"/>
          <p:cNvSpPr/>
          <p:nvPr/>
        </p:nvSpPr>
        <p:spPr>
          <a:xfrm>
            <a:off x="1314450" y="7620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196" name="圆角矩形 1195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197" name="图片 119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1198" name="文本框 1197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郑志伟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9" name="圆角矩形 1198"/>
          <p:cNvSpPr/>
          <p:nvPr/>
        </p:nvSpPr>
        <p:spPr>
          <a:xfrm>
            <a:off x="533400" y="4752975"/>
            <a:ext cx="1952625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200" name="文本框 1199" descr="{&quot;isTemplate&quot;:true,&quot;type&quot;:&quot;text&quot;}"/>
          <p:cNvSpPr txBox="1"/>
          <p:nvPr/>
        </p:nvSpPr>
        <p:spPr>
          <a:xfrm>
            <a:off x="1162050" y="4829175"/>
            <a:ext cx="6953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1.1 GB</a:t>
            </a:r>
            <a:endParaRPr lang="en-US" sz="16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01" name="文本框 1200" descr="{&quot;isTemplate&quot;:true,&quot;type&quot;:&quot;text&quot;}"/>
          <p:cNvSpPr txBox="1"/>
          <p:nvPr/>
        </p:nvSpPr>
        <p:spPr>
          <a:xfrm>
            <a:off x="1019175" y="5105400"/>
            <a:ext cx="9810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data/raw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2" name="圆角矩形 1201"/>
          <p:cNvSpPr/>
          <p:nvPr/>
        </p:nvSpPr>
        <p:spPr>
          <a:xfrm>
            <a:off x="2600325" y="4752975"/>
            <a:ext cx="19431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203" name="文本框 1202" descr="{&quot;isTemplate&quot;:true,&quot;type&quot;:&quot;text&quot;}"/>
          <p:cNvSpPr txBox="1"/>
          <p:nvPr/>
        </p:nvSpPr>
        <p:spPr>
          <a:xfrm>
            <a:off x="3286125" y="4829175"/>
            <a:ext cx="5810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56 MB</a:t>
            </a:r>
            <a:endParaRPr lang="en-US" sz="16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04" name="文本框 1203" descr="{&quot;isTemplate&quot;:true,&quot;type&quot;:&quot;text&quot;}"/>
          <p:cNvSpPr txBox="1"/>
          <p:nvPr/>
        </p:nvSpPr>
        <p:spPr>
          <a:xfrm>
            <a:off x="3095625" y="5105400"/>
            <a:ext cx="952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processed JSONL</a:t>
            </a:r>
            <a:endParaRPr lang="en-US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5" name="圆角矩形 1204"/>
          <p:cNvSpPr/>
          <p:nvPr/>
        </p:nvSpPr>
        <p:spPr>
          <a:xfrm>
            <a:off x="4657725" y="4752975"/>
            <a:ext cx="1952625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206" name="文本框 1205" descr="{&quot;isTemplate&quot;:true,&quot;type&quot;:&quot;text&quot;}"/>
          <p:cNvSpPr txBox="1"/>
          <p:nvPr/>
        </p:nvSpPr>
        <p:spPr>
          <a:xfrm>
            <a:off x="5286375" y="4829175"/>
            <a:ext cx="6953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477 MB</a:t>
            </a:r>
            <a:endParaRPr lang="en-US" sz="16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07" name="文本框 1206" descr="{&quot;isTemplate&quot;:true,&quot;type&quot;:&quot;text&quot;}"/>
          <p:cNvSpPr txBox="1"/>
          <p:nvPr/>
        </p:nvSpPr>
        <p:spPr>
          <a:xfrm>
            <a:off x="5219700" y="5105400"/>
            <a:ext cx="8286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权重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8" name="圆角矩形 1207"/>
          <p:cNvSpPr/>
          <p:nvPr/>
        </p:nvSpPr>
        <p:spPr>
          <a:xfrm>
            <a:off x="6800850" y="990600"/>
            <a:ext cx="485775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209" name="圆角矩形 1208"/>
          <p:cNvSpPr/>
          <p:nvPr/>
        </p:nvSpPr>
        <p:spPr>
          <a:xfrm>
            <a:off x="6934200" y="1257300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210" name="文本框 1209" descr="{&quot;isTemplate&quot;:true,&quot;type&quot;:&quot;text&quot;}"/>
          <p:cNvSpPr txBox="1"/>
          <p:nvPr/>
        </p:nvSpPr>
        <p:spPr>
          <a:xfrm>
            <a:off x="7048500" y="1285875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原则一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1" name="文本框 1210" descr="{&quot;isTemplate&quot;:true,&quot;type&quot;:&quot;text&quot;}"/>
          <p:cNvSpPr txBox="1"/>
          <p:nvPr/>
        </p:nvSpPr>
        <p:spPr>
          <a:xfrm>
            <a:off x="7629525" y="1266825"/>
            <a:ext cx="13144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scripts/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只做编排</a:t>
            </a:r>
            <a:endParaRPr lang="zh-CN" sz="12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2" name="文本框 1211" descr="{&quot;isTemplate&quot;:true,&quot;type&quot;:&quot;text&quot;}"/>
          <p:cNvSpPr txBox="1"/>
          <p:nvPr/>
        </p:nvSpPr>
        <p:spPr>
          <a:xfrm>
            <a:off x="6934200" y="1514475"/>
            <a:ext cx="45910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每支脚本对应流水线上的一步，编号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①~⑥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就是执行顺序；脚本不写通用逻辑，只负责串流程。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3" name="圆角矩形 1212"/>
          <p:cNvSpPr/>
          <p:nvPr/>
        </p:nvSpPr>
        <p:spPr>
          <a:xfrm>
            <a:off x="6800850" y="2333625"/>
            <a:ext cx="4857750" cy="1219200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214" name="圆角矩形 1213"/>
          <p:cNvSpPr/>
          <p:nvPr/>
        </p:nvSpPr>
        <p:spPr>
          <a:xfrm>
            <a:off x="6934200" y="2590800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215" name="文本框 1214" descr="{&quot;isTemplate&quot;:true,&quot;type&quot;:&quot;text&quot;}"/>
          <p:cNvSpPr txBox="1"/>
          <p:nvPr/>
        </p:nvSpPr>
        <p:spPr>
          <a:xfrm>
            <a:off x="7048500" y="2619375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原则二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6" name="文本框 1215" descr="{&quot;isTemplate&quot;:true,&quot;type&quot;:&quot;text&quot;}"/>
          <p:cNvSpPr txBox="1"/>
          <p:nvPr/>
        </p:nvSpPr>
        <p:spPr>
          <a:xfrm>
            <a:off x="7629525" y="2600325"/>
            <a:ext cx="1009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src/ </a:t>
            </a: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只做复用</a:t>
            </a:r>
            <a:endParaRPr lang="zh-CN" sz="12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7" name="文本框 1216" descr="{&quot;isTemplate&quot;:true,&quot;type&quot;:&quot;text&quot;}"/>
          <p:cNvSpPr txBox="1"/>
          <p:nvPr/>
        </p:nvSpPr>
        <p:spPr>
          <a:xfrm>
            <a:off x="6934200" y="2847975"/>
            <a:ext cx="45910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核心库不带命令行解析，也不反向依赖任何脚本；同一套模型代码，训练与推理都直接调用。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8" name="圆角矩形 1217"/>
          <p:cNvSpPr/>
          <p:nvPr/>
        </p:nvSpPr>
        <p:spPr>
          <a:xfrm>
            <a:off x="6800850" y="3667125"/>
            <a:ext cx="4857750" cy="1228725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219" name="圆角矩形 1218"/>
          <p:cNvSpPr/>
          <p:nvPr/>
        </p:nvSpPr>
        <p:spPr>
          <a:xfrm>
            <a:off x="6934200" y="3933825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1220" name="文本框 1219" descr="{&quot;isTemplate&quot;:true,&quot;type&quot;:&quot;text&quot;}"/>
          <p:cNvSpPr txBox="1"/>
          <p:nvPr/>
        </p:nvSpPr>
        <p:spPr>
          <a:xfrm>
            <a:off x="7048500" y="396240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原则三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7629525" y="3943350"/>
            <a:ext cx="113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配置集中在一处</a:t>
            </a:r>
            <a:endParaRPr lang="zh-CN" sz="12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2" name="文本框 1221" descr="{&quot;isTemplate&quot;:true,&quot;type&quot;:&quot;text&quot;}"/>
          <p:cNvSpPr txBox="1"/>
          <p:nvPr/>
        </p:nvSpPr>
        <p:spPr>
          <a:xfrm>
            <a:off x="6934200" y="4191000"/>
            <a:ext cx="45910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模型、任务、数据、超参全部写在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config.yaml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，改参数不动代码；优先级：默认值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&lt; yaml &lt;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命令行。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3" name="圆角矩形 1222"/>
          <p:cNvSpPr/>
          <p:nvPr/>
        </p:nvSpPr>
        <p:spPr>
          <a:xfrm>
            <a:off x="6800850" y="5010150"/>
            <a:ext cx="4857750" cy="381000"/>
          </a:xfrm>
          <a:prstGeom prst="roundRect">
            <a:avLst>
              <a:gd name="adj" fmla="val 30000"/>
            </a:avLst>
          </a:prstGeom>
          <a:solidFill>
            <a:srgbClr val="E5B45C">
              <a:alpha val="15000"/>
            </a:srgbClr>
          </a:solidFill>
          <a:ln w="25400">
            <a:solidFill>
              <a:srgbClr val="E5B45C"/>
            </a:solidFill>
            <a:prstDash val="dash"/>
          </a:ln>
        </p:spPr>
        <p:txBody>
          <a:bodyPr/>
          <a:p/>
        </p:txBody>
      </p:sp>
      <p:sp>
        <p:nvSpPr>
          <p:cNvPr id="1224" name="文本框 1223" descr="{&quot;isTemplate&quot;:true,&quot;type&quot;:&quot;text&quot;}"/>
          <p:cNvSpPr txBox="1"/>
          <p:nvPr/>
        </p:nvSpPr>
        <p:spPr>
          <a:xfrm>
            <a:off x="6934200" y="5086350"/>
            <a:ext cx="4591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每个</a:t>
            </a:r>
            <a:r>
              <a:rPr lang="en-US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module 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只做一件事：换任何一个，都不影响其余四个。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25" name="图片 12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562600"/>
            <a:ext cx="152400" cy="152400"/>
          </a:xfrm>
          <a:prstGeom prst="rect">
            <a:avLst/>
          </a:prstGeom>
        </p:spPr>
      </p:pic>
      <p:sp>
        <p:nvSpPr>
          <p:cNvPr id="1226" name="文本框 1225" descr="{&quot;isTemplate&quot;:true,&quot;type&quot;:&quot;text&quot;}"/>
          <p:cNvSpPr txBox="1"/>
          <p:nvPr/>
        </p:nvSpPr>
        <p:spPr>
          <a:xfrm>
            <a:off x="762000" y="55626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7" name="文本框 1226" descr="{&quot;isTemplate&quot;:true,&quot;type&quot;:&quot;text&quot;}"/>
          <p:cNvSpPr txBox="1"/>
          <p:nvPr/>
        </p:nvSpPr>
        <p:spPr>
          <a:xfrm>
            <a:off x="11239500" y="55626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09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28" name="图片 1227"/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34750" y="285750"/>
            <a:ext cx="190500" cy="190500"/>
          </a:xfrm>
          <a:prstGeom prst="rect">
            <a:avLst/>
          </a:prstGeom>
        </p:spPr>
      </p:pic>
      <p:sp>
        <p:nvSpPr>
          <p:cNvPr id="1229" name="圆角矩形 1228"/>
          <p:cNvSpPr/>
          <p:nvPr/>
        </p:nvSpPr>
        <p:spPr>
          <a:xfrm>
            <a:off x="533400" y="990600"/>
            <a:ext cx="6076950" cy="3667125"/>
          </a:xfrm>
          <a:prstGeom prst="roundRect">
            <a:avLst>
              <a:gd name="adj" fmla="val 2078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1230" name="文本框 1229"/>
          <p:cNvSpPr txBox="1"/>
          <p:nvPr/>
        </p:nvSpPr>
        <p:spPr>
          <a:xfrm>
            <a:off x="685800" y="1123950"/>
            <a:ext cx="5772150" cy="3400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vuln_bert/</a:t>
            </a:r>
            <a:endParaRPr sz="940">
              <a:solidFill>
                <a:srgbClr val="6F42C1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README.md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完整操作手册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requirements.txt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依赖清单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configs/</a:t>
            </a:r>
            <a:endParaRPr sz="940">
              <a:solidFill>
                <a:srgbClr val="032F62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└──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config.yaml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训练配置（模型/任务/数据/超参）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src/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可复用模块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config.py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配置加载（三层合并）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utils.py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种子、日志、头尾截断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models.py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VulnClassifier（BERT + 分类头）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metrics.py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二分类 / 多分类指标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└──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datasets.py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Torch Dataset + 动态 padding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scripts/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可执行脚本（①~⑥ 即执行顺序）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check_env.py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download_data.py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download_model.py</a:t>
            </a:r>
            <a:endParaRPr sz="940">
              <a:solidFill>
                <a:srgbClr val="032F62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│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build_dataset.py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train.py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predict.py</a:t>
            </a:r>
            <a:endParaRPr sz="940">
              <a:solidFill>
                <a:srgbClr val="032F62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data/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raw 1.1GB → processed 56MB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├──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models/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预训练权重 477MB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940">
                <a:solidFill>
                  <a:srgbClr val="6F42C1"/>
                </a:solidFill>
                <a:latin typeface="Menlo"/>
                <a:ea typeface="Menlo"/>
              </a:rPr>
              <a:t>└──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940">
                <a:solidFill>
                  <a:srgbClr val="032F62"/>
                </a:solidFill>
                <a:latin typeface="Menlo"/>
                <a:ea typeface="Menlo"/>
              </a:rPr>
              <a:t>outputs/</a:t>
            </a:r>
            <a:r>
              <a:rPr sz="940">
                <a:solidFill>
                  <a:srgbClr val="24292E"/>
                </a:solidFill>
                <a:latin typeface="Menlo"/>
                <a:ea typeface="Menlo"/>
              </a:rPr>
              <a:t>             </a:t>
            </a:r>
            <a:r>
              <a:rPr sz="940">
                <a:solidFill>
                  <a:srgbClr val="6A737D"/>
                </a:solidFill>
                <a:latin typeface="Menlo"/>
                <a:ea typeface="Menlo"/>
              </a:rPr>
              <a:t># 训练产物 + 生效配置回写</a:t>
            </a:r>
            <a:endParaRPr sz="940">
              <a:solidFill>
                <a:srgbClr val="6A737D"/>
              </a:solidFill>
              <a:latin typeface="Menlo"/>
              <a:ea typeface="Menlo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123190" y="8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 descr="&lt;Slide style={{ width: '1280px', height: '720px', padding: '24px 56px', background: '#FFFBF5', position: 'relative', flexDirection: 'column', fontFamily: 'Microsoft YaHei' }}&gt;&#10;    &lt;FAIcon name='circle' style={{ position: 'absolute', top: 34, right: 76, width: 12, height: 12, fill: '#45A99D', opacity: 0.6 }} /&gt;&#10;&#10;    &lt;Box style={{ flexDirection: 'row', alignItems: 'center', gap: 14, height: 76 }}&gt;&#10;        &lt;Box style={{ background: '#45A99D', borderRadius: 10, padding: '8px 14px', border: '2px solid #42425A', boxShadow: '3px 3px 0 #42425A' }}&gt;&#10;            &lt;Text style={{ fontSize: 18, fontWeight: 'bold', color: '#FFFFFF', fontFamily: 'Consolas' }}&gt;06.2&lt;/Text&gt;&#10;        &lt;/Box&gt;&#10;        &lt;Box style={{ flexDirection: 'column', gap: 6 }}&gt;&#10;            &lt;Text style={{ fontSize: 28, fontWeight: 'bold', color: '#42425A' }}&gt;数据集及模型选取 · 数据集的对比与选择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钟泽平&lt;/Text&gt;&#10;        &lt;/Box&gt;&#10;    &lt;/Box&gt;&#10;&#10;    &lt;Box style={{ flexDirection: 'row', gap: 12, marginTop: 2, marginBottom: 10 }}&gt;&#10;        {[&#10;            { t: '约束一 · 成本', d: '只用开源数据与开源模型', c: '#6A6FC9' },&#10;            { t: '约束二 · 输入', d: '只有纯代码，没有语法树 / 数据流图', c: '#45A99D' },&#10;            { t: '约束三 · 任务', d: '做分类，不做代码生成', c: '#E87E99' },&#10;        ].map((it, i) =&gt; (&#10;            &lt;Box key={i} style={{ flex: 1, background: '#FFFFFF', border: '2px solid #42425A', borderRadius: 10, boxShadow: '3px 3px 0 #42425A', padding: '6px 12px', flexDirection: 'row', alignItems: 'center', gap: 8 }}&gt;&#10;                &lt;Box style={{ width: 10, height: 10, borderRadius: 999, background: it.c, border: '2px solid #42425A' }} /&gt;&#10;                &lt;Text style={{ fontSize: 13, color: '#42425A' }}&gt;&lt;span style={{ fontWeight: 'bold', color: it.c }}&gt;{it.t}&lt;/span&gt;　{it.d}&lt;/Text&gt;&#10;            &lt;/Box&gt;&#10;        ))}&#10;    &lt;/Box&gt;&#10;&#10;    &lt;Box style={{ flexDirection: 'row', gap: 18, height: 356 }}&gt;&#10;        &lt;Box style={{ flex: 3, background: '#FFFFFF', border: '2px solid #42425A', borderRadius: 14, boxShadow: '4px 4px 0 #42425A', padding: 14, flexDirection: 'column', gap: 8 }}&gt;&#10;            &lt;Text style={{ fontSize: 15, fontWeight: 'bold', color: 'rgba(66,66,90,0.65)' }}&gt;四个候选数据集实测对比（来源：项目文档）&lt;/Text&gt;&#10;            &lt;Image src=&quot;assets/dataset_compare.png&quot; style={{ width: '100%', flex: 1, objectFit: 'contain' }} /&gt;&#10;        &lt;/Box&gt;&#10;        &lt;Box style={{ width: 450, flexDirection: 'column', gap: 8 }}&gt;&#10;            &lt;Text style={{ fontSize: 16, fontWeight: 'bold', color: '#42425A' }}&gt;为什么是 &lt;span style={{ color: '#45A99D' }}&gt;CVEfixes&lt;/span&gt;？四条理由对应硬约束&lt;/Text&gt;&#10;            {[&#10;                { n: '①', t: '唯一能做分类任务', d: '多数公开数据集只有二分类标签；CVEfixes 带 CWE 字段，才有做 41 类分类的可能。' },&#10;                { n: '②', t: '规模适中，单卡训得完', d: '处理后检测样本约 1.9 万条，一轮训练约 27 分钟，再大这张卡就吃不消了。' },&#10;                { n: '③', t: '正负天然均衡', d: '每条 CVE 同时给出漏洞版与修复版，接近 1:1 对照，省掉大量人工配平。' },&#10;                { n: '④', t: '多语言 + 字段全', d: '覆盖 C / C++ / PHP 等 27 种语言，CVE 编号、CWE 类型等字段完整可追踪。' },&#10;            ].map((it, i) =&gt; (&#10;                &lt;Box key={i} style={{ height: 72, background: 'rgba(69,169,157,0.08)', borderRadius: 10, padding: '4px 12px', flexDirection: 'row', gap: 10, alignItems: 'center' }}&gt;&#10;                    &lt;Text style={{ fontSize: 18, fontWeight: 'bold', color: '#45A99D', fontFamily: 'Consolas' }}&gt;{it.n}&lt;/Text&gt;&#10;                    &lt;Box style={{ flexDirection: 'column', gap: 0, flex: 1 }}&gt;&#10;                        &lt;Text style={{ fontSize: 13, fontWeight: 'bold', color: '#42425A' }}&gt;{it.t}&lt;/Text&gt;&#10;                        &lt;Text style={{ fontSize: 11, color: 'rgba(66,66,90,0.75)', lineHeight: 1.3 }}&gt;{it.d}&lt;/Text&gt;&#10;                    &lt;/Box&gt;&#10;                &lt;/Box&gt;&#10;            ))}&#10;        &lt;/Box&gt;&#10;    &lt;/Box&gt;&#10;&#10;    &lt;Box style={{ marginTop: 12, background: '#42425A', borderRadius: 12, padding: '8px 18px' }}&gt;&#10;        &lt;Text style={{ fontSize: 14, color: '#FFFBF5' }}&gt;注意最后一列：&lt;span style={{ fontWeight: 'bold', color: '#E5B45C' }}&gt;漏洞占比 44.5%&lt;/span&gt;——正负接近均衡是 CVEfixes 独有的，BigVul 只有 5.2%、DiverseVul 8.0%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27" name="圆角矩形 26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06.2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1314450" y="371475"/>
            <a:ext cx="48101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数据集及模型选取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数据集的对比与选择</a:t>
            </a:r>
            <a:endParaRPr lang="zh-CN" sz="21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31" name="圆角矩形 30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钟泽平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33400" y="971550"/>
            <a:ext cx="3629025" cy="266700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5" name="圆角矩形 34"/>
          <p:cNvSpPr/>
          <p:nvPr/>
        </p:nvSpPr>
        <p:spPr>
          <a:xfrm>
            <a:off x="647700" y="1057275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819150" y="1028700"/>
            <a:ext cx="2238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约束一</a:t>
            </a:r>
            <a:r>
              <a:rPr lang="en-US" sz="9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成本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只用开源数据与开源模型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276725" y="971550"/>
            <a:ext cx="3638550" cy="266700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8" name="圆角矩形 37"/>
          <p:cNvSpPr/>
          <p:nvPr/>
        </p:nvSpPr>
        <p:spPr>
          <a:xfrm>
            <a:off x="4391025" y="1057275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4562475" y="1028700"/>
            <a:ext cx="2857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约束二</a:t>
            </a:r>
            <a:r>
              <a:rPr lang="en-US" sz="97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输入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只有纯代码，没有语法树</a:t>
            </a:r>
            <a:r>
              <a:rPr lang="en-US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数据流图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8029575" y="971550"/>
            <a:ext cx="3629025" cy="266700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41" name="圆角矩形 40"/>
          <p:cNvSpPr/>
          <p:nvPr/>
        </p:nvSpPr>
        <p:spPr>
          <a:xfrm>
            <a:off x="8143875" y="1057275"/>
            <a:ext cx="95250" cy="95250"/>
          </a:xfrm>
          <a:prstGeom prst="roundRect">
            <a:avLst>
              <a:gd name="adj" fmla="val 999000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8315325" y="1028700"/>
            <a:ext cx="2114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约束三</a:t>
            </a:r>
            <a:r>
              <a:rPr lang="en-US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做分类，不做代码生成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33400" y="1333500"/>
            <a:ext cx="6667500" cy="33909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666750" y="1466850"/>
            <a:ext cx="6400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四个候选数据集实测对比（来源：项目文档）</a:t>
            </a:r>
            <a:endParaRPr lang="zh-CN" sz="1125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rcRect l="7585" r="7585"/>
          <a:stretch>
            <a:fillRect/>
          </a:stretch>
        </p:blipFill>
        <p:spPr>
          <a:xfrm>
            <a:off x="666750" y="1714500"/>
            <a:ext cx="6400800" cy="2876550"/>
          </a:xfrm>
          <a:prstGeom prst="rect">
            <a:avLst/>
          </a:prstGeom>
        </p:spPr>
      </p:pic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7372350" y="1333500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为什么是</a:t>
            </a: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CVEfixes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？四条理由对应硬约束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372350" y="1600200"/>
            <a:ext cx="4286250" cy="685800"/>
          </a:xfrm>
          <a:prstGeom prst="roundRect">
            <a:avLst>
              <a:gd name="adj" fmla="val 13889"/>
            </a:avLst>
          </a:prstGeom>
          <a:solidFill>
            <a:srgbClr val="45A99D">
              <a:alpha val="8000"/>
            </a:srgbClr>
          </a:solidFill>
        </p:spPr>
        <p:txBody>
          <a:bodyPr/>
          <a:p/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7486650" y="1838325"/>
            <a:ext cx="95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①</a:t>
            </a:r>
            <a:endParaRPr sz="13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7677150" y="1704975"/>
            <a:ext cx="3867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唯一能做分类任务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7677150" y="1857375"/>
            <a:ext cx="3867150" cy="333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多数公开数据集只有二分类标签；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CVEfixes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字段，才有做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41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类分类的可能。</a:t>
            </a:r>
            <a:endParaRPr lang="zh-CN" sz="82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372350" y="2362200"/>
            <a:ext cx="4286250" cy="685800"/>
          </a:xfrm>
          <a:prstGeom prst="roundRect">
            <a:avLst>
              <a:gd name="adj" fmla="val 13889"/>
            </a:avLst>
          </a:prstGeom>
          <a:solidFill>
            <a:srgbClr val="45A99D">
              <a:alpha val="8000"/>
            </a:srgbClr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7486650" y="2600325"/>
            <a:ext cx="95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②</a:t>
            </a:r>
            <a:endParaRPr sz="13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7677150" y="2543175"/>
            <a:ext cx="3867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规模适中，单卡训得完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7677150" y="2695575"/>
            <a:ext cx="3867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处理后检测样本约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1.9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万条，一轮训练约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27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分钟，再大这张卡就吃不消了。</a:t>
            </a:r>
            <a:endParaRPr lang="zh-CN" sz="82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372350" y="3124200"/>
            <a:ext cx="4286250" cy="685800"/>
          </a:xfrm>
          <a:prstGeom prst="roundRect">
            <a:avLst>
              <a:gd name="adj" fmla="val 13889"/>
            </a:avLst>
          </a:prstGeom>
          <a:solidFill>
            <a:srgbClr val="45A99D">
              <a:alpha val="8000"/>
            </a:srgbClr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486650" y="3362325"/>
            <a:ext cx="95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③</a:t>
            </a:r>
            <a:endParaRPr sz="13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7677150" y="3305175"/>
            <a:ext cx="3867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正负天然均衡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677150" y="3457575"/>
            <a:ext cx="3867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每条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CVE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同时给出漏洞版与修复版，接近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1:1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对照，省掉大量人工配平。</a:t>
            </a:r>
            <a:endParaRPr lang="zh-CN" sz="82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372350" y="3886200"/>
            <a:ext cx="4286250" cy="685800"/>
          </a:xfrm>
          <a:prstGeom prst="roundRect">
            <a:avLst>
              <a:gd name="adj" fmla="val 13889"/>
            </a:avLst>
          </a:prstGeom>
          <a:solidFill>
            <a:srgbClr val="45A99D">
              <a:alpha val="8000"/>
            </a:srgbClr>
          </a:solidFill>
        </p:spPr>
        <p:txBody>
          <a:bodyPr/>
          <a:p/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7486650" y="4124325"/>
            <a:ext cx="95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④</a:t>
            </a:r>
            <a:endParaRPr sz="13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677150" y="4067175"/>
            <a:ext cx="3867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多语言</a:t>
            </a:r>
            <a:r>
              <a:rPr lang="en-US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字段全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677150" y="4219575"/>
            <a:ext cx="38671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 / C++ / PHP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等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27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种语言，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编号、</a:t>
            </a:r>
            <a:r>
              <a:rPr lang="en-US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CWE </a:t>
            </a:r>
            <a:r>
              <a:rPr lang="zh-CN" sz="82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类型等字段完整可追踪。</a:t>
            </a:r>
            <a:endParaRPr lang="zh-CN" sz="82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533400" y="4838700"/>
            <a:ext cx="11125200" cy="314325"/>
          </a:xfrm>
          <a:prstGeom prst="roundRect">
            <a:avLst>
              <a:gd name="adj" fmla="val 36364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04850" y="4914900"/>
            <a:ext cx="1078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注意最后一列：</a:t>
            </a:r>
            <a:r>
              <a:rPr lang="zh-CN" sz="1050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漏洞占比</a:t>
            </a:r>
            <a:r>
              <a:rPr lang="en-US" sz="1050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44.5%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——正负接近均衡是</a:t>
            </a:r>
            <a:r>
              <a:rPr lang="en-US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CVEfixes 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独有的，</a:t>
            </a:r>
            <a:r>
              <a:rPr lang="en-US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BigVul 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只有</a:t>
            </a:r>
            <a:r>
              <a:rPr lang="en-US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5.2%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DiverseVul 8.0%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5324475"/>
            <a:ext cx="152400" cy="152400"/>
          </a:xfrm>
          <a:prstGeom prst="rect">
            <a:avLst/>
          </a:prstGeom>
        </p:spPr>
      </p:pic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762000" y="53244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1239500" y="53244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10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6">
            <a:alphaModFix amt="6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53800" y="32385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 descr="&lt;Slide style={{ width: '1280px', height: '720px', padding: '24px 56px', background: '#FFFBF5', position: 'relative', flexDirection: 'column', fontFamily: 'Microsoft YaHei' }}&gt;&#10;    &lt;FAIcon name='star' style={{ position: 'absolute', top: 30, right: 72, width: 20, height: 20, fill: '#E87E99', opacity: 0.55 }} /&gt;&#10;&#10;    &lt;Box style={{ flexDirection: 'row', alignItems: 'center', gap: 14, height: 76 }}&gt;&#10;        &lt;Box style={{ background: '#45A99D', borderRadius: 10, padding: '8px 14px', border: '2px solid #42425A', boxShadow: '3px 3px 0 #42425A' }}&gt;&#10;            &lt;Text style={{ fontSize: 18, fontWeight: 'bold', color: '#FFFFFF', fontFamily: 'Consolas' }}&gt;06.2&lt;/Text&gt;&#10;        &lt;/Box&gt;&#10;        &lt;Box style={{ flexDirection: 'column', gap: 6 }}&gt;&#10;            &lt;Text style={{ fontSize: 28, fontWeight: 'bold', color: '#42425A' }}&gt;数据集及模型选取 · 模型对比与选择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钟泽平&lt;/Text&gt;&#10;        &lt;/Box&gt;&#10;    &lt;/Box&gt;&#10;&#10;    &lt;Box style={{ flexDirection: 'row', gap: 18, height: 350, marginTop: 2 }}&gt;&#10;        &lt;Box style={{ flex: 3, background: '#FFFFFF', border: '2px solid #42425A', borderRadius: 14, boxShadow: '4px 4px 0 #42425A', padding: 14, flexDirection: 'column', gap: 8 }}&gt;&#10;            &lt;Text style={{ fontSize: 15, fontWeight: 'bold', color: 'rgba(66,66,90,0.65)' }}&gt;五条筛选线 × 五个候选模型（来源：项目文档）&lt;/Text&gt;&#10;            &lt;Image src=&quot;assets/model_compare.png&quot; style={{ width: '100%', flex: 1, objectFit: 'contain' }} /&gt;&#10;        &lt;/Box&gt;&#10;        &lt;Box style={{ flex: 2, flexDirection: 'column', gap: 10 }}&gt;&#10;            &lt;Box style={{ background: '#FFFFFF', border: '2px solid #42425A', borderRadius: 14, boxShadow: '4px 4px 0 #42425A', padding: 14, flexDirection: 'column', gap: 4, alignItems: 'center' }}&gt;&#10;                &lt;Text style={{ fontSize: 13, fontWeight: 'bold', color: 'rgba(66,66,90,0.6)' }}&gt;codebert-base · 125M 实测 F1&lt;/Text&gt;&#10;                &lt;Text style={{ fontSize: 52, fontWeight: 'bold', color: '#E87E99', fontFamily: 'Consolas', lineHeight: 1.05 }}&gt;0.7521&lt;/Text&gt;&#10;                &lt;Text style={{ fontSize: 12.5, color: 'rgba(66,66,90,0.7)', textAlign: 'center', lineHeight: 1.4 }}&gt;落在文献区间 0.75~0.85 下沿：方向对，轮数还有空间&lt;/Text&gt;&#10;            &lt;/Box&gt;&#10;            &lt;Box style={{ flex: 1, background: '#FFFFFF', border: '2px solid #42425A', borderRadius: 14, boxShadow: '4px 4px 0 #42425A', padding: 14, flexDirection: 'column', gap: 6 }}&gt;&#10;                &lt;Text style={{ fontSize: 15, fontWeight: 'bold', color: '#42425A' }}&gt;为什么是 CodeBERT 而不是原始 BERT？&lt;/Text&gt;&#10;                &lt;Text style={{ fontSize: 12.5, color: 'rgba(66,66,90,0.8)', lineHeight: 1.5 }}&gt;同为 BERT 家族，差别全在预训练语料：一个读英文，一个读代码。代码有严格语法与作用域，&lt;span style={{ fontWeight: 'bold', color: '#6A6FC9' }}&gt;memcpy / free / sprintf&lt;/span&gt; 这类标识符承载关键风险信号，通用词表里它们只是陌生词。&lt;/Text&gt;&#10;                &lt;Text style={{ fontSize: 12.5, color: 'rgba(66,66,90,0.8)', lineHeight: 1.5 }}&gt;GraphCodeBERT / UniXcoder 需要语法树、数据流图，我们喂不进去；CodeT5 / PLBART 的 decoder 用不上，PLBART 还只懂 Java / Python。&lt;/Text&gt;&#10;            &lt;/Box&gt;&#10;        &lt;/Box&gt;&#10;    &lt;/Box&gt;&#10;&#10;    &lt;Box style={{ marginTop: 12, background: '#42425A', borderRadius: 12, padding: '8px 18px' }}&gt;&#10;        &lt;Text style={{ fontSize: 14, color: '#FFFBF5' }}&gt;第 4 条筛选线最关键：&lt;span style={{ fontWeight: 'bold', color: '#E5B45C' }}&gt;结果可比性&lt;/span&gt;——只有 CodeBERT 的公开结果够多，我们做出的数字才有外部参照物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71" name="圆角矩形 70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06.2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1314450" y="371475"/>
            <a:ext cx="42767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数据集及模型选取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模型对比与选择</a:t>
            </a:r>
            <a:endParaRPr lang="zh-CN" sz="21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75" name="圆角矩形 74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钟泽平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533400" y="971550"/>
            <a:ext cx="657225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66750" y="1104900"/>
            <a:ext cx="6305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五条筛选线</a:t>
            </a:r>
            <a:r>
              <a:rPr lang="en-US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五个候选模型（来源：项目文档）</a:t>
            </a:r>
            <a:endParaRPr lang="zh-CN" sz="1125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3"/>
          <a:srcRect l="12098" r="12098"/>
          <a:stretch>
            <a:fillRect/>
          </a:stretch>
        </p:blipFill>
        <p:spPr>
          <a:xfrm>
            <a:off x="666750" y="1352550"/>
            <a:ext cx="6305550" cy="2819400"/>
          </a:xfrm>
          <a:prstGeom prst="rect">
            <a:avLst/>
          </a:prstGeom>
        </p:spPr>
      </p:pic>
      <p:sp>
        <p:nvSpPr>
          <p:cNvPr id="81" name="圆角矩形 80"/>
          <p:cNvSpPr/>
          <p:nvPr/>
        </p:nvSpPr>
        <p:spPr>
          <a:xfrm>
            <a:off x="7277100" y="971550"/>
            <a:ext cx="438150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8543925" y="1104900"/>
            <a:ext cx="1847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codebert-base · 125M </a:t>
            </a:r>
            <a:r>
              <a:rPr lang="zh-CN" sz="97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实测</a:t>
            </a:r>
            <a:r>
              <a:rPr lang="en-US" sz="97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F1</a:t>
            </a:r>
            <a:endParaRPr lang="en-US" sz="975" b="1">
              <a:solidFill>
                <a:srgbClr val="42425A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8648700" y="1295400"/>
            <a:ext cx="1638300" cy="628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0.7521</a:t>
            </a:r>
            <a:endParaRPr lang="en-US" sz="390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020050" y="1962150"/>
            <a:ext cx="2905125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4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落在文献区间</a:t>
            </a:r>
            <a:r>
              <a:rPr lang="en-US" sz="94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0.75~0.85 </a:t>
            </a:r>
            <a:r>
              <a:rPr lang="zh-CN" sz="94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下沿：方向对，轮数还有空间</a:t>
            </a:r>
            <a:endParaRPr lang="zh-CN" sz="94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7277100" y="2390775"/>
            <a:ext cx="4381500" cy="1914525"/>
          </a:xfrm>
          <a:prstGeom prst="roundRect">
            <a:avLst>
              <a:gd name="adj" fmla="val 6965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7410450" y="2524125"/>
            <a:ext cx="4114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为什么是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CodeBERT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而不是原始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BERT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7410450" y="2752725"/>
            <a:ext cx="41148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同为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BERT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家族，差别全在预训练语料：一个读英文，一个读代码。代码有严格语法与作用域，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memcpy / free / sprintf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这类标识符承载关键风险信号，通用词表里它们只是陌生词。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7410450" y="3457575"/>
            <a:ext cx="411480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GraphCodeBERT / UniXcoder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需要语法树、数据流图，我们喂不进去；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CodeT5 / PLBART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decoder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用不上，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PLBART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还只懂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Java / Python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533400" y="4419600"/>
            <a:ext cx="11125200" cy="314325"/>
          </a:xfrm>
          <a:prstGeom prst="roundRect">
            <a:avLst>
              <a:gd name="adj" fmla="val 36364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704850" y="4495800"/>
            <a:ext cx="1078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条筛选线最关键：</a:t>
            </a:r>
            <a:r>
              <a:rPr lang="zh-CN" sz="1050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结果可比性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——只有</a:t>
            </a:r>
            <a:r>
              <a:rPr lang="en-US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CodeBERT </a:t>
            </a: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的公开结果够多，我们做出的数字才有外部参照物。</a:t>
            </a:r>
            <a:endParaRPr lang="zh-CN" sz="1050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4905375"/>
            <a:ext cx="152400" cy="152400"/>
          </a:xfrm>
          <a:prstGeom prst="rect">
            <a:avLst/>
          </a:prstGeom>
        </p:spPr>
      </p:pic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762000" y="49053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1239500" y="49053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11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6">
            <a:alphaModFix amt="5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15700" y="2857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 descr="&lt;Slide style={{ width: '1280px', height: '720px', padding: '24px 56px', background: '#FFFBF5', position: 'relative', flexDirection: 'column', fontFamily: 'Microsoft YaHei' }}&gt;&#10;    &lt;FAIcon name='star' style={{ position: 'absolute', top: 28, right: 70, width: 20, height: 20, fill: '#E5B45C', opacity: 0.6 }} /&gt;&#10;&#10;    &lt;Box style={{ flexDirection: 'row', alignItems: 'center', gap: 14, height: 76 }}&gt;&#10;        &lt;Box style={{ background: '#E87E99', borderRadius: 10, padding: '8px 14px', border: '2px solid #42425A', boxShadow: '3px 3px 0 #42425A' }}&gt;&#10;            &lt;Text style={{ fontSize: 18, fontWeight: 'bold', color: '#FFFFFF', fontFamily: 'Consolas' }}&gt;06.3&lt;/Text&gt;&#10;        &lt;/Box&gt;&#10;        &lt;Box style={{ flexDirection: 'column', gap: 6 }}&gt;&#10;            &lt;Text style={{ fontSize: 26, fontWeight: 'bold', color: '#42425A' }}&gt;原数据集和预处理后数据集分析 · (1) 缺失 / 异常 / 重复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钟祖滨&lt;/Text&gt;&#10;        &lt;/Box&gt;&#10;    &lt;/Box&gt;&#10;&#10;    &lt;Box style={{ flexDirection: 'row', gap: 12, marginTop: 2, marginBottom: 10 }}&gt;&#10;        {[&#10;            { n: '12,987', t: '原始记录（1.1 GB parquet）', c: '#6A6FC9' },&#10;            { n: '1.1GB → 56MB', t: '治理后训练 JSONL', c: '#E87E99' },&#10;            { n: '18,925', t: '最终训练样本（去重后）', c: '#45A99D' },&#10;            { n: '27 种', t: '覆盖编程语言', c: '#E5B45C' },&#10;        ].map((it, i) =&gt; (&#10;            &lt;Box key={i} style={{ flex: 1, background: '#FFFFFF', border: '2px solid #42425A', borderRadius: 12, boxShadow: '3px 3px 0 #42425A', padding: '6px 12px', alignItems: 'center', gap: 1 }}&gt;&#10;                &lt;Text style={{ fontSize: 21, fontWeight: 'bold', color: it.c, fontFamily: 'Consolas' }}&gt;{it.n}&lt;/Text&gt;&#10;                &lt;Text style={{ fontSize: 12, color: 'rgba(66,66,90,0.7)' }}&gt;{it.t}&lt;/Text&gt;&#10;            &lt;/Box&gt;&#10;        ))}&#10;    &lt;/Box&gt;&#10;&#10;    &lt;Box style={{ flexDirection: 'row', gap: 16, height: 360 }}&gt;&#10;        &lt;Box style={{ flex: 3, background: '#FFFFFF', border: '2px solid #42425A', borderRadius: 14, boxShadow: '4px 4px 0 #42425A', padding: 12, flexDirection: 'column', gap: 6 }}&gt;&#10;            &lt;Text style={{ fontSize: 14, fontWeight: 'bold', color: 'rgba(66,66,90,0.65)' }}&gt;缺失 · 逐字段缺失率：问题集中在代码与评分字段&lt;/Text&gt;&#10;            &lt;Image src=&quot;assets/eda_missing.png&quot; style={{ width: '100%', flex: 1, objectFit: 'contain' }} /&gt;&#10;        &lt;/Box&gt;&#10;        &lt;Box style={{ flex: 2, flexDirection: 'column', gap: 12 }}&gt;&#10;            &lt;Box style={{ flex: 1, background: '#FFFFFF', border: '2px solid #42425A', borderRadius: 14, boxShadow: '4px 4px 0 #42425A', padding: 10, flexDirection: 'column', gap: 4 }}&gt;&#10;                &lt;Text style={{ fontSize: 14, fontWeight: 'bold', color: 'rgba(66,66,90,0.65)' }}&gt;重复 · 同一 CVE / 同一提交出现多次&lt;/Text&gt;&#10;                &lt;Image src=&quot;assets/eda_dup.png&quot; style={{ width: '100%', flex: 1, objectFit: 'contain' }} /&gt;&#10;            &lt;/Box&gt;&#10;            &lt;Box style={{ flex: 1, background: '#FFFFFF', border: '2px solid #42425A', borderRadius: 14, boxShadow: '4px 4px 0 #42425A', padding: 10, flexDirection: 'column', gap: 4 }}&gt;&#10;                &lt;Text style={{ fontSize: 14, fontWeight: 'bold', color: 'rgba(66,66,90,0.65)' }}&gt;异常 · 代码长度极端离群（最大 5,500 万字符）&lt;/Text&gt;&#10;                &lt;Image src=&quot;assets/eda_outlier.png&quot; style={{ width: '100%', flex: 1, objectFit: 'contain' }} /&gt;&#10;            &lt;/Box&gt;&#10;        &lt;/Box&gt;&#10;    &lt;/Box&gt;&#10;&#10;    &lt;Box style={{ marginTop: 10, background: '#42425A', borderRadius: 12, padding: '8px 18px' }}&gt;&#10;        &lt;Text style={{ fontSize: 13.5, color: '#FFFBF5', lineHeight: 1.5 }}&gt;处置优先级：&lt;span style={{ fontWeight: 'bold', color: '#E5B45C' }}&gt;先去重 → 清缺失 → 治异常 → 再划分&lt;/span&gt;。缺 CWE 的记录保留给检测任务、退出分类任务——宁可少一类数据，不让标签带噪声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97" name="圆角矩形 96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06.3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1314450" y="381000"/>
            <a:ext cx="61626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原数据集和预处理后数据集分析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(1)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缺失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重复</a:t>
            </a:r>
            <a:endParaRPr lang="zh-CN" sz="19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1314450" y="7429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01" name="圆角矩形 100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钟祖滨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533400" y="971550"/>
            <a:ext cx="26955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1552575" y="1028700"/>
            <a:ext cx="6667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12,987</a:t>
            </a:r>
            <a:endParaRPr lang="en-US" sz="157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33475" y="1285875"/>
            <a:ext cx="15049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原始记录（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1.1 GB parquet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3343275" y="971550"/>
            <a:ext cx="26955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4029075" y="1028700"/>
            <a:ext cx="13239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1.1GB → 56MB</a:t>
            </a:r>
            <a:endParaRPr lang="en-US" sz="1575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4210050" y="1285875"/>
            <a:ext cx="962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治理后训练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JSONL</a:t>
            </a:r>
            <a:endParaRPr lang="en-US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6153150" y="971550"/>
            <a:ext cx="26955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172325" y="1028700"/>
            <a:ext cx="6667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18,925</a:t>
            </a:r>
            <a:endParaRPr lang="en-US" sz="1575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877050" y="1285875"/>
            <a:ext cx="1257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最终训练样本（去重后）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8963025" y="971550"/>
            <a:ext cx="26955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10029825" y="1028700"/>
            <a:ext cx="571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27 </a:t>
            </a:r>
            <a:r>
              <a:rPr lang="zh-CN" sz="157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种</a:t>
            </a:r>
            <a:endParaRPr lang="zh-CN" sz="1575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9972675" y="1285875"/>
            <a:ext cx="6858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覆盖编程语言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533400" y="1581150"/>
            <a:ext cx="6581775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647700" y="1695450"/>
            <a:ext cx="6353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缺失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逐字段缺失率：问题集中在代码与评分字段</a:t>
            </a:r>
            <a:endParaRPr lang="zh-CN" sz="1050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3"/>
          <a:srcRect t="7976" b="7976"/>
          <a:stretch>
            <a:fillRect/>
          </a:stretch>
        </p:blipFill>
        <p:spPr>
          <a:xfrm>
            <a:off x="647700" y="1914525"/>
            <a:ext cx="6353175" cy="2981325"/>
          </a:xfrm>
          <a:prstGeom prst="rect">
            <a:avLst/>
          </a:prstGeom>
        </p:spPr>
      </p:pic>
      <p:sp>
        <p:nvSpPr>
          <p:cNvPr id="119" name="圆角矩形 118"/>
          <p:cNvSpPr/>
          <p:nvPr/>
        </p:nvSpPr>
        <p:spPr>
          <a:xfrm>
            <a:off x="7267575" y="1581150"/>
            <a:ext cx="4391025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362825" y="1676400"/>
            <a:ext cx="420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重复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同一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CVE /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同一提交出现多次</a:t>
            </a:r>
            <a:endParaRPr lang="zh-CN" sz="1050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4"/>
          <a:srcRect l="19523" r="19523"/>
          <a:stretch>
            <a:fillRect/>
          </a:stretch>
        </p:blipFill>
        <p:spPr>
          <a:xfrm>
            <a:off x="7362825" y="1876425"/>
            <a:ext cx="4200525" cy="1266825"/>
          </a:xfrm>
          <a:prstGeom prst="rect">
            <a:avLst/>
          </a:prstGeom>
        </p:spPr>
      </p:pic>
      <p:sp>
        <p:nvSpPr>
          <p:cNvPr id="122" name="圆角矩形 121"/>
          <p:cNvSpPr/>
          <p:nvPr/>
        </p:nvSpPr>
        <p:spPr>
          <a:xfrm>
            <a:off x="7267575" y="3352800"/>
            <a:ext cx="4391025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7362825" y="3448050"/>
            <a:ext cx="420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代码长度极端离群（最大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5,500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万字符）</a:t>
            </a:r>
            <a:endParaRPr lang="zh-CN" sz="1050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5"/>
          <a:srcRect l="10050" r="10050"/>
          <a:stretch>
            <a:fillRect/>
          </a:stretch>
        </p:blipFill>
        <p:spPr>
          <a:xfrm>
            <a:off x="7362825" y="3648075"/>
            <a:ext cx="4200525" cy="1266825"/>
          </a:xfrm>
          <a:prstGeom prst="rect">
            <a:avLst/>
          </a:prstGeom>
        </p:spPr>
      </p:pic>
      <p:sp>
        <p:nvSpPr>
          <p:cNvPr id="125" name="圆角矩形 124"/>
          <p:cNvSpPr/>
          <p:nvPr/>
        </p:nvSpPr>
        <p:spPr>
          <a:xfrm>
            <a:off x="533400" y="51054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704850" y="518160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处置优先级：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先去重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清缺失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治异常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再划分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。缺</a:t>
            </a:r>
            <a:r>
              <a:rPr lang="en-US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CWE 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的记录保留给检测任务、退出分类任务——宁可少一类数据，不让标签带噪声。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" y="5667375"/>
            <a:ext cx="152400" cy="152400"/>
          </a:xfrm>
          <a:prstGeom prst="rect">
            <a:avLst/>
          </a:prstGeom>
        </p:spPr>
      </p:pic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762000" y="56673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1239500" y="56673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8">
            <a:alphaModFix amt="6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34750" y="2667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 descr="&lt;Slide style={{ width: '1280px', height: '720px', padding: '24px 56px', background: '#FFFBF5', position: 'relative', flexDirection: 'column', fontFamily: 'Microsoft YaHei' }}&gt;&#10;    &lt;FAIcon name='circle' style={{ position: 'absolute', top: 32, right: 74, width: 12, height: 12, fill: '#6A6FC9', opacity: 0.55 }} /&gt;&#10;&#10;    &lt;Box style={{ flexDirection: 'row', alignItems: 'center', gap: 14, height: 76 }}&gt;&#10;        &lt;Box style={{ background: '#E87E99', borderRadius: 10, padding: '8px 14px', border: '2px solid #42425A', boxShadow: '3px 3px 0 #42425A' }}&gt;&#10;            &lt;Text style={{ fontSize: 18, fontWeight: 'bold', color: '#FFFFFF', fontFamily: 'Consolas' }}&gt;06.3&lt;/Text&gt;&#10;        &lt;/Box&gt;&#10;        &lt;Box style={{ flexDirection: 'column', gap: 6 }}&gt;&#10;            &lt;Text style={{ fontSize: 26, fontWeight: 'bold', color: '#42425A' }}&gt;(2) 数据 EDA · 上 &lt;span style={{ fontSize: 17, color: 'rgba(66,66,90,0.5)' }}&gt;语言分布 / 预处理漏斗 / 长度分布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钟祖滨&lt;/Text&gt;&#10;        &lt;/Box&gt;&#10;    &lt;/Box&gt;&#10;&#10;    &lt;Box style={{ flexDirection: 'row', gap: 14, height: 400, marginTop: 4 }}&gt;&#10;        {[&#10;            { img: 'assets/eda_lang.png', t: '图 1 · 语言分布', d: 'C 与 PHP 合占约 45%；937 条语言未识别（file_paths 也为空），归入 Unknown 单独观察。' },&#10;            { img: 'assets/eda_funnel.png', t: '图 2 · 预处理流失漏斗', d: '12,987 行原始记录 → 展开 22,039 条样本 → 长度过滤 −998 → MD5 去重 −2,116 → 落盘 18,925 条。' },&#10;            { img: 'assets/eda_codelen.png', t: '图 3 · 代码长度分布', d: '典型长尾，最长超 5,500 万字符；修复版各分位普遍比漏洞版长 1.7~2.3 倍。' },&#10;        ].map((it, i) =&gt; (&#10;            &lt;Box key={i} style={{ flex: 1, background: '#FFFFFF', border: '2px solid #42425A', borderRadius: 14, boxShadow: '4px 4px 0 #42425A', padding: 12, flexDirection: 'column', gap: 6 }}&gt;&#10;                &lt;Text style={{ fontSize: 15, fontWeight: 'bold', color: '#42425A' }}&gt;{it.t}&lt;/Text&gt;&#10;                &lt;Image src={it.img} style={{ width: '100%', flex: 1, objectFit: 'contain' }} /&gt;&#10;                &lt;Text style={{ fontSize: 12, color: 'rgba(66,66,90,0.75)', lineHeight: 1.45 }}&gt;{it.d}&lt;/Text&gt;&#10;            &lt;/Box&gt;&#10;        ))}&#10;    &lt;/Box&gt;&#10;&#10;    &lt;Box style={{ marginTop: 12, background: '#42425A', borderRadius: 12, padding: '8px 18px' }}&gt;&#10;        &lt;Text style={{ fontSize: 13.5, color: '#FFFBF5', lineHeight: 1.5 }}&gt;读图结论：漏斗里&lt;span style={{ fontWeight: 'bold', color: '#E5B45C' }}&gt;去重是最大的流失环节（−10.1%）&lt;/span&gt;——CVEfixes 里漏洞版与修复版有时完全相同，不去重会造成标签互相打架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 1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133" name="圆角矩形 132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06.3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314450" y="381000"/>
            <a:ext cx="45434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(2)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EDA ·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语言分布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预处理漏斗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长度分布</a:t>
            </a:r>
            <a:endParaRPr lang="zh-CN" sz="1275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1314450" y="7429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37" name="圆角矩形 136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38" name="图片 13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钟祖滨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圆角矩形 139"/>
          <p:cNvSpPr/>
          <p:nvPr/>
        </p:nvSpPr>
        <p:spPr>
          <a:xfrm>
            <a:off x="533400" y="990600"/>
            <a:ext cx="3619500" cy="3810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647700" y="1104900"/>
            <a:ext cx="3390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1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语言分布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3"/>
          <a:srcRect l="13282" r="13282"/>
          <a:stretch>
            <a:fillRect/>
          </a:stretch>
        </p:blipFill>
        <p:spPr>
          <a:xfrm>
            <a:off x="647700" y="1333500"/>
            <a:ext cx="3390900" cy="2895600"/>
          </a:xfrm>
          <a:prstGeom prst="rect">
            <a:avLst/>
          </a:prstGeom>
        </p:spPr>
      </p:pic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647700" y="4286250"/>
            <a:ext cx="33909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PHP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合占约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45%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937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条语言未识别（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file_paths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也为空），归入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Unknown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单独观察。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4286250" y="990600"/>
            <a:ext cx="3619500" cy="3810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4400550" y="1104900"/>
            <a:ext cx="3390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2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预处理流失漏斗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4"/>
          <a:srcRect l="24345" r="24345"/>
          <a:stretch>
            <a:fillRect/>
          </a:stretch>
        </p:blipFill>
        <p:spPr>
          <a:xfrm>
            <a:off x="4400550" y="1333500"/>
            <a:ext cx="3390900" cy="2895600"/>
          </a:xfrm>
          <a:prstGeom prst="rect">
            <a:avLst/>
          </a:prstGeom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4400550" y="4286250"/>
            <a:ext cx="33909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12,987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行原始记录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展开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22,039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条样本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长度过滤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−998 → MD5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去重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−2,116 →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落盘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18,925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条。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8039100" y="990600"/>
            <a:ext cx="3619500" cy="3810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8153400" y="1104900"/>
            <a:ext cx="3390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代码长度分布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0" name="图片 149"/>
          <p:cNvPicPr>
            <a:picLocks noChangeAspect="1"/>
          </p:cNvPicPr>
          <p:nvPr/>
        </p:nvPicPr>
        <p:blipFill>
          <a:blip r:embed="rId5"/>
          <a:srcRect l="22922" r="22922"/>
          <a:stretch>
            <a:fillRect/>
          </a:stretch>
        </p:blipFill>
        <p:spPr>
          <a:xfrm>
            <a:off x="8153400" y="1333500"/>
            <a:ext cx="3390900" cy="2895600"/>
          </a:xfrm>
          <a:prstGeom prst="rect">
            <a:avLst/>
          </a:prstGeom>
        </p:spPr>
      </p:pic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8153400" y="4286250"/>
            <a:ext cx="33909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典型长尾，最长超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5,500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万字符；修复版各分位普遍比漏洞版长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1.7~2.3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倍。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533400" y="49149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704850" y="499110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读图结论：漏斗里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去重是最大的流失环节（−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10.1%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——CVEfixes 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里漏洞版与修复版有时完全相同，不去重会造成标签互相打架。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4" name="图片 15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400" y="5476875"/>
            <a:ext cx="152400" cy="152400"/>
          </a:xfrm>
          <a:prstGeom prst="rect">
            <a:avLst/>
          </a:prstGeom>
        </p:spPr>
      </p:pic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62000" y="54768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1239500" y="54768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13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8">
            <a:alphaModFix amt="5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72850" y="30480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 descr="&lt;Slide style={{ width: '1280px', height: '720px', padding: '24px 56px', background: '#FFFBF5', position: 'relative', flexDirection: 'column', fontFamily: 'Microsoft YaHei' }}&gt;&#10;    &lt;FAIcon name='star' style={{ position: 'absolute', top: 28, right: 70, width: 20, height: 20, fill: '#45A99D', opacity: 0.55 }} /&gt;&#10;&#10;    &lt;Box style={{ flexDirection: 'row', alignItems: 'center', gap: 14, height: 76 }}&gt;&#10;        &lt;Box style={{ background: '#E87E99', borderRadius: 10, padding: '8px 14px', border: '2px solid #42425A', boxShadow: '3px 3px 0 #42425A' }}&gt;&#10;            &lt;Text style={{ fontSize: 18, fontWeight: 'bold', color: '#FFFFFF', fontFamily: 'Consolas' }}&gt;06.3&lt;/Text&gt;&#10;        &lt;/Box&gt;&#10;        &lt;Box style={{ flexDirection: 'column', gap: 6 }}&gt;&#10;            &lt;Text style={{ fontSize: 26, fontWeight: 'bold', color: '#42425A' }}&gt;(2) 数据 EDA · 下 &lt;span style={{ fontSize: 17, color: 'rgba(66,66,90,0.5)' }}&gt;词元窗口 / 集合划分 / 长度与标签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钟祖滨&lt;/Text&gt;&#10;        &lt;/Box&gt;&#10;    &lt;/Box&gt;&#10;&#10;    &lt;Box style={{ flexDirection: 'row', gap: 14, height: 400, marginTop: 4 }}&gt;&#10;        &lt;Box style={{ flex: 1, flexDirection: 'column', gap: 14 }}&gt;&#10;            {[&#10;                { img: 'assets/eda_token.png', t: '图 4 · 词元长度 vs 512 窗口', d: '三个集合都有约 27% 样本超过模型窗口，红虚线右侧会被 token 级截断。' },&#10;                { img: 'assets/eda_split.png', t: '图 5 · 三集合规模与正例率', d: '按 group 8:1:1 划分；正例率 44.5% / 43.8% / 44.8%，划分无标签偏斜。' },&#10;            ].map((it, i) =&gt; (&#10;                &lt;Box key={i} style={{ flex: 1, background: '#FFFFFF', border: '2px solid #42425A', borderRadius: 14, boxShadow: '4px 4px 0 #42425A', padding: 10, flexDirection: 'column', gap: 4 }}&gt;&#10;                    &lt;Text style={{ fontSize: 14, fontWeight: 'bold', color: '#42425A' }}&gt;{it.t}&lt;/Text&gt;&#10;                    &lt;Image src={it.img} style={{ width: '100%', flex: 1, objectFit: 'contain' }} /&gt;&#10;                    &lt;Text style={{ fontSize: 11.5, color: 'rgba(66,66,90,0.75)', lineHeight: 1.4 }}&gt;{it.d}&lt;/Text&gt;&#10;                &lt;/Box&gt;&#10;            ))}&#10;        &lt;/Box&gt;&#10;        &lt;Box style={{ flex: 1, flexDirection: 'column', gap: 14 }}&gt;&#10;            {[&#10;                { img: 'assets/eda_box.png', t: '图 6 · 长度箱线图（按标签分组）', d: '漏洞版显著短于安全版：训练集上安全版中位长度约为漏洞版的 2.1 倍——数据集构造偏置。' },&#10;                { img: 'assets/eda_lenlabel.png', t: '图 7 · 长度与漏洞标签的关系', d: '代码越短越容易被标为漏洞：长度分桶后漏洞占比从 62% 单调降到 30%。' },&#10;            ].map((it, i) =&gt; (&#10;                &lt;Box key={i} style={{ flex: 1, background: '#FFFFFF', border: '2px solid #42425A', borderRadius: 14, boxShadow: '4px 4px 0 #42425A', padding: 10, flexDirection: 'column', gap: 4 }}&gt;&#10;                    &lt;Text style={{ fontSize: 14, fontWeight: 'bold', color: '#42425A' }}&gt;{it.t}&lt;/Text&gt;&#10;                    &lt;Image src={it.img} style={{ width: '100%', flex: 1, objectFit: 'contain' }} /&gt;&#10;                    &lt;Text style={{ fontSize: 11.5, color: 'rgba(66,66,90,0.75)', lineHeight: 1.4 }}&gt;{it.d}&lt;/Text&gt;&#10;                &lt;/Box&gt;&#10;            ))}&#10;        &lt;/Box&gt;&#10;    &lt;/Box&gt;&#10;&#10;    &lt;Box style={{ marginTop: 12, background: '#42425A', borderRadius: 12, padding: '8px 18px' }}&gt;&#10;        &lt;Text style={{ fontSize: 13.5, color: '#FFFBF5', lineHeight: 1.5 }}&gt;EDA 的落点不是画图，是定策略：&lt;span style={{ fontWeight: 'bold', color: '#E5B45C' }}&gt;长度长尾 → 截断与过滤；CWE 长尾 → OTHER 合并；正负偏斜 → 保留原分布 + 加权损失&lt;/span&gt;。每条结论都对应一条预处理规则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 1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160" name="圆角矩形 159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06.3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1314450" y="381000"/>
            <a:ext cx="45434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(2)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EDA · </a:t>
            </a:r>
            <a:r>
              <a:rPr lang="zh-CN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下</a:t>
            </a:r>
            <a:r>
              <a:rPr lang="en-US" sz="19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词元窗口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集合划分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长度与标签</a:t>
            </a:r>
            <a:endParaRPr lang="zh-CN" sz="1275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圆角矩形 162"/>
          <p:cNvSpPr/>
          <p:nvPr/>
        </p:nvSpPr>
        <p:spPr>
          <a:xfrm>
            <a:off x="1314450" y="7429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64" name="圆角矩形 163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65" name="图片 16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钟祖滨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533400" y="990600"/>
            <a:ext cx="5495925" cy="1838325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628650" y="1085850"/>
            <a:ext cx="530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4 · 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词元长度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vs 512 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窗口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9" name="图片 168"/>
          <p:cNvPicPr>
            <a:picLocks noChangeAspect="1"/>
          </p:cNvPicPr>
          <p:nvPr/>
        </p:nvPicPr>
        <p:blipFill>
          <a:blip r:embed="rId3"/>
          <a:srcRect t="21274" b="21274"/>
          <a:stretch>
            <a:fillRect/>
          </a:stretch>
        </p:blipFill>
        <p:spPr>
          <a:xfrm>
            <a:off x="628650" y="1285875"/>
            <a:ext cx="5305425" cy="1219200"/>
          </a:xfrm>
          <a:prstGeom prst="rect">
            <a:avLst/>
          </a:prstGeom>
        </p:spPr>
      </p:pic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628650" y="2543175"/>
            <a:ext cx="530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三个集合都有约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27% 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样本超过模型窗口，红虚线右侧会被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token 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级截断。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533400" y="2962275"/>
            <a:ext cx="5495925" cy="1838325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28650" y="3057525"/>
            <a:ext cx="530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5 · 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三集合规模与正例率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3" name="图片 172"/>
          <p:cNvPicPr>
            <a:picLocks noChangeAspect="1"/>
          </p:cNvPicPr>
          <p:nvPr/>
        </p:nvPicPr>
        <p:blipFill>
          <a:blip r:embed="rId4"/>
          <a:srcRect t="24343" b="24343"/>
          <a:stretch>
            <a:fillRect/>
          </a:stretch>
        </p:blipFill>
        <p:spPr>
          <a:xfrm>
            <a:off x="628650" y="3257550"/>
            <a:ext cx="5305425" cy="1219200"/>
          </a:xfrm>
          <a:prstGeom prst="rect">
            <a:avLst/>
          </a:prstGeom>
        </p:spPr>
      </p:pic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628650" y="4514850"/>
            <a:ext cx="530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group 8:1:1 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划分；正例率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44.5% / 43.8% / 44.8%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，划分无标签偏斜。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圆角矩形 174"/>
          <p:cNvSpPr/>
          <p:nvPr/>
        </p:nvSpPr>
        <p:spPr>
          <a:xfrm>
            <a:off x="6162675" y="990600"/>
            <a:ext cx="5495925" cy="1838325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6257925" y="1085850"/>
            <a:ext cx="530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6 · 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长度箱线图（按标签分组）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7" name="图片 176"/>
          <p:cNvPicPr>
            <a:picLocks noChangeAspect="1"/>
          </p:cNvPicPr>
          <p:nvPr/>
        </p:nvPicPr>
        <p:blipFill>
          <a:blip r:embed="rId5"/>
          <a:srcRect t="25234" b="25234"/>
          <a:stretch>
            <a:fillRect/>
          </a:stretch>
        </p:blipFill>
        <p:spPr>
          <a:xfrm>
            <a:off x="6257925" y="1285875"/>
            <a:ext cx="5305425" cy="1219200"/>
          </a:xfrm>
          <a:prstGeom prst="rect">
            <a:avLst/>
          </a:prstGeom>
        </p:spPr>
      </p:pic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257925" y="2543175"/>
            <a:ext cx="530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漏洞版显著短于安全版：训练集上安全版中位长度约为漏洞版的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2.1 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倍——数据集构造偏置。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6162675" y="2962275"/>
            <a:ext cx="5495925" cy="1838325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6257925" y="3057525"/>
            <a:ext cx="530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7 · 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长度与漏洞标签的关系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1" name="图片 180"/>
          <p:cNvPicPr>
            <a:picLocks noChangeAspect="1"/>
          </p:cNvPicPr>
          <p:nvPr/>
        </p:nvPicPr>
        <p:blipFill>
          <a:blip r:embed="rId6"/>
          <a:srcRect t="25007" b="25007"/>
          <a:stretch>
            <a:fillRect/>
          </a:stretch>
        </p:blipFill>
        <p:spPr>
          <a:xfrm>
            <a:off x="6257925" y="3257550"/>
            <a:ext cx="5305425" cy="1219200"/>
          </a:xfrm>
          <a:prstGeom prst="rect">
            <a:avLst/>
          </a:prstGeom>
        </p:spPr>
      </p:pic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6257925" y="4514850"/>
            <a:ext cx="530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代码越短越容易被标为漏洞：长度分桶后漏洞占比从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62% 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单调降到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30%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圆角矩形 182"/>
          <p:cNvSpPr/>
          <p:nvPr/>
        </p:nvSpPr>
        <p:spPr>
          <a:xfrm>
            <a:off x="533400" y="49149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704850" y="499110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EDA 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的落点不是画图，是定策略：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长度长尾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截断与过滤；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CWE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长尾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OTHER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合并；正负偏斜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保留原分布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加权损失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。每条结论都对应一条预处理规则。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" y="5476875"/>
            <a:ext cx="152400" cy="152400"/>
          </a:xfrm>
          <a:prstGeom prst="rect">
            <a:avLst/>
          </a:prstGeom>
        </p:spPr>
      </p:pic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762000" y="54768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11239500" y="54768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14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8" name="图片 187"/>
          <p:cNvPicPr>
            <a:picLocks noChangeAspect="1"/>
          </p:cNvPicPr>
          <p:nvPr/>
        </p:nvPicPr>
        <p:blipFill>
          <a:blip r:embed="rId9">
            <a:alphaModFix amt="55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34750" y="2667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 descr="&lt;Slide style={{ width: '1280px', height: '720px', padding: '24px 56px', background: '#FFFBF5', position: 'relative', flexDirection: 'column', fontFamily: 'Microsoft YaHei' }}&gt;&#10;    &lt;FAIcon name='star' style={{ position: 'absolute', top: 30, right: 72, width: 20, height: 20, fill: '#E5B45C', opacity: 0.6 }} /&gt;&#10;&#10;    &lt;Box style={{ flexDirection: 'row', alignItems: 'center', gap: 14, height: 76 }}&gt;&#10;        &lt;Box style={{ background: '#E5B45C', borderRadius: 10, padding: '8px 14px', border: '2px solid #42425A', boxShadow: '3px 3px 0 #42425A' }}&gt;&#10;            &lt;Text style={{ fontSize: 18, fontWeight: 'bold', color: '#42425A', fontFamily: 'Consolas' }}&gt;06.4&lt;/Text&gt;&#10;        &lt;/Box&gt;&#10;        &lt;Box style={{ flexDirection: 'column', gap: 6 }}&gt;&#10;            &lt;Text style={{ fontSize: 30, fontWeight: 'bold', color: '#42425A' }}&gt;数据集预处理环节 &lt;span style={{ fontSize: 17, color: 'rgba(66,66,90,0.5)' }}&gt;· 八道治理工序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温玉贵&lt;/Text&gt;&#10;        &lt;/Box&gt;&#10;    &lt;/Box&gt;&#10;&#10;    &lt;Box style={{ flex: 1, marginTop: 4, background: '#FFFFFF', border: '2px solid #42425A', borderRadius: 14, boxShadow: '4px 4px 0 #42425A', padding: 12 }}&gt;&#10;        &lt;Table&#10;            style={{ width: '100%', height: '100%' }}&#10;            defaultTextStyle={{ fontSize: 13.5, textAlign: 'left', color: '#42425A' }}&#10;            defaultCellStyle={{&#10;                border: {&#10;                    left: { width: 1, color: '#E8E4DA' },&#10;                    right: { width: 1, color: '#E8E4DA' },&#10;                    top: { width: 1, color: '#E8E4DA' },&#10;                    bottom: { width: 1, color: '#E8E4DA' },&#10;                },&#10;            }}&#10;            cells={[&#10;                [&#10;                    { text: '工序', textStyle: { bold: true, color: '#FFFFFF', fontSize: 14 }, cellStyle: { background: { color: '#6A6FC9' } } },&#10;                    { text: '环节', textStyle: { bold: true, color: '#FFFFFF', fontSize: 14 }, cellStyle: { background: { color: '#6A6FC9' } } },&#10;                    { text: '实现位置', textStyle: { bold: true, color: '#FFFFFF', fontSize: 14 }, cellStyle: { background: { color: '#6A6FC9' } } },&#10;                    { text: '做法', textStyle: { bold: true, color: '#FFFFFF', fontSize: 14 }, cellStyle: { background: { color: '#6A6FC9' } } },&#10;                    { text: '为什么必须做', textStyle: { bold: true, color: '#FFFFFF', fontSize: 14 }, cellStyle: { background: { color: '#6A6FC9' } } },&#10;                ],&#10;                ['①', '字段归一化', 'build_cvefixes', '原始字段映射成统一格式', '原始字段名与训练格式不一致'],&#10;                ['②', '代码清洗', '_clean_code()', '统一换行符 + 去首尾空白', '换行符不统一会导致 MD5 去重失效'],&#10;                ['③', 'CWE 规范化', '_norm_cwe()', '统一成 CWE-&lt;数字&gt;', '同一类别可能写成 79 / cwe_79 / CWE-79'],&#10;                ['④', '长度过滤', 'min_code_chars: 30', '丢弃超短碎片', '短于 30 字符基本没有语义'],&#10;                ['⑤', '头尾截断', 'truncate_code()', '超 20,000 字符保留头 60% + 尾 40%', '漏洞信息集中在函数头尾'],&#10;                ['⑥', 'MD5 去重', 'hashlib.md5(code)', '相同代码只留一份', 'vuln / fixed 有时完全相同'],&#10;                ['⑦', '分组划分', 'split_groups()', '按 group_id 分 8:1:1', '防止修复前后代码泄漏到不同集合'],&#10;                ['⑧', '标签编码', 'prepare_task_data()', 'CWE 字符串 → 0~40 编号，长尾合并 OTHER', '分类任务需要整数标签'],&#10;            ]}&#10;        /&gt;&#10;    &lt;/Box&gt;&#10;&#10;    &lt;Box style={{ marginTop: 12, background: '#42425A', borderRadius: 12, padding: '8px 18px' }}&gt;&#10;        &lt;Text style={{ fontSize: 13.5, color: '#FFFBF5', lineHeight: 1.5 }}&gt;八步缺一不可：&lt;span style={{ fontWeight: 'bold', color: '#E5B45C' }}&gt;顺序也有讲究&lt;/span&gt;——先清洗再截断、去重之后才做 train/val/test 划分，否则统计口径全是虚的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 1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191" name="圆角矩形 190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42425A"/>
                </a:solidFill>
                <a:latin typeface="Consolas" panose="020B0609020204030204"/>
                <a:ea typeface="Consolas" panose="020B0609020204030204"/>
              </a:rPr>
              <a:t>06.4</a:t>
            </a:r>
            <a:endParaRPr lang="en-US" sz="1350" b="1">
              <a:solidFill>
                <a:srgbClr val="42425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1314450" y="361950"/>
            <a:ext cx="34671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数据集预处理环节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八道治理工序</a:t>
            </a:r>
            <a:endParaRPr lang="zh-CN" sz="1275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/>
        </p:nvSpPr>
        <p:spPr>
          <a:xfrm>
            <a:off x="1314450" y="7620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195" name="圆角矩形 194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196" name="图片 1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温玉贵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" name="圆角矩形 197"/>
          <p:cNvSpPr/>
          <p:nvPr/>
        </p:nvSpPr>
        <p:spPr>
          <a:xfrm>
            <a:off x="533400" y="990600"/>
            <a:ext cx="11125200" cy="4714875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graphicFrame>
        <p:nvGraphicFramePr>
          <p:cNvPr id="199" name="表格 198"/>
          <p:cNvGraphicFramePr/>
          <p:nvPr/>
        </p:nvGraphicFramePr>
        <p:xfrm>
          <a:off x="647700" y="1104900"/>
          <a:ext cx="10896600" cy="4486276"/>
        </p:xfrm>
        <a:graphic>
          <a:graphicData uri="http://schemas.openxmlformats.org/drawingml/2006/table">
            <a:tbl>
              <a:tblPr/>
              <a:tblGrid>
                <a:gridCol w="505817"/>
                <a:gridCol w="1138089"/>
                <a:gridCol w="1824172"/>
                <a:gridCol w="3868966"/>
                <a:gridCol w="3559556"/>
              </a:tblGrid>
              <a:tr h="5133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工序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环节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实现位置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做法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为什么必须做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字段归一化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build_cvefixes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原始字段映射成统一格式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原始字段名与训练格式不一致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代码清洗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_clean_code()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统一换行符 + 去首尾空白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换行符不统一会导致 MD5 去重失效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CWE 规范化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_norm_cwe()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统一成 CWE-&lt;数字&gt;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同一类别可能写成 79 / cwe_79 / CWE-79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④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长度过滤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min_code_chars: 30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丢弃超短碎片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短于 30 字符基本没有语义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⑤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头尾截断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truncate_code()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 20,000 字符保留头 60% + 尾 40%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漏洞信息集中在函数头尾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⑥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MD5 去重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hashlib.md5(code)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相同代码只留一份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vuln / fixed 有时完全相同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⑦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分组划分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split_groups()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group_id 分 8:1:1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防止修复前后代码泄漏到不同集合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661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⑧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标签编码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prepare_task_data()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CWE 字符串 → 0~40 编号，长尾合并 OTHER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分类任务需要整数标签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0" name="圆角矩形 199"/>
          <p:cNvSpPr/>
          <p:nvPr/>
        </p:nvSpPr>
        <p:spPr>
          <a:xfrm>
            <a:off x="533400" y="5819775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704850" y="5895975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八步缺一不可：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顺序也有讲究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——先清洗再截断、去重之后才做</a:t>
            </a:r>
            <a:r>
              <a:rPr lang="en-US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 train/val/test 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划分，否则统计口径全是虚的。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2" name="图片 20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6381750"/>
            <a:ext cx="152400" cy="152400"/>
          </a:xfrm>
          <a:prstGeom prst="rect">
            <a:avLst/>
          </a:prstGeom>
        </p:spPr>
      </p:pic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762000" y="63817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1239500" y="63817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15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" name="图片 204"/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5700" y="2857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" descr="&lt;Slide style={{ width: '1280px', height: '720px', padding: '24px 56px', background: '#FFFBF5', position: 'relative', flexDirection: 'column', fontFamily: 'Microsoft YaHei' }}&gt;&#10;    &lt;FAIcon name='star' style={{ position: 'absolute', top: 28, right: 70, width: 20, height: 20, fill: '#E87E99', opacity: 0.55 }} /&gt;&#10;&#10;    &lt;Box style={{ flexDirection: 'row', alignItems: 'center', gap: 14, height: 76 }}&gt;&#10;        &lt;Box style={{ background: '#6A6FC9', borderRadius: 10, padding: '8px 14px', border: '2px solid #42425A', boxShadow: '3px 3px 0 #42425A' }}&gt;&#10;            &lt;Text style={{ fontSize: 18, fontWeight: 'bold', color: '#FFFFFF', fontFamily: 'Consolas' }}&gt;06.5&lt;/Text&gt;&#10;        &lt;/Box&gt;&#10;        &lt;Box style={{ flexDirection: 'column', gap: 6 }}&gt;&#10;            &lt;Text style={{ fontSize: 27, fontWeight: 'bold', color: '#42425A' }}&gt;特征工程处理 · 定位与两阶段全景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张墨含&lt;/Text&gt;&#10;        &lt;/Box&gt;&#10;    &lt;/Box&gt;&#10;&#10;    &lt;Box style={{ background: 'rgba(106,111,201,0.08)', border: '2px dashed #6A6FC9', borderRadius: 12, padding: '8px 18px', marginBottom: 10 }}&gt;&#10;        &lt;Text style={{ fontSize: 15.5, color: '#42425A', lineHeight: 1.5 }}&gt;一句话主旨：这个项目&lt;span style={{ fontWeight: 'bold', color: '#E87E99' }}&gt;没有传统意义上的特征工程&lt;/span&gt;——人做的是&lt;span style={{ fontWeight: 'bold', color: '#6A6FC9' }}&gt;数据卫生&lt;/span&gt;，真正的特征学习全部交给 CodeBERT。&lt;/Text&gt;&#10;    &lt;/Box&gt;&#10;&#10;    &lt;Box style={{ flexDirection: 'row', gap: 16, height: 340 }}&gt;&#10;        {/* 左：对照表 */}&#10;        &lt;Box style={{ flex: 5, background: '#FFFFFF', border: '2px solid #42425A', borderRadius: 14, boxShadow: '4px 4px 0 #42425A', padding: 14, flexDirection: 'column', gap: 8 }}&gt;&#10;            &lt;Text style={{ fontSize: 15, fontWeight: 'bold', color: 'rgba(66,66,90,0.65)' }}&gt;传统做法 × 本项目&lt;/Text&gt;&#10;            {[&#10;                { a: 'TF-IDF / 词袋 / n-gram', b: '无', w: '代码的语义在结构里，不在词的频次里', hit: false },&#10;                { a: '手工统计特征（圈复杂度、危险函数计数）', b: '无', w: '让模型自己学，避免人工先验引入偏差', hit: false },&#10;                { a: '独热编码', b: '仅标签侧用类别 id', w: '标签侧需要，文本侧不需要', hit: false },&#10;                { a: '文本规范化 + 标签构造 + 防泄漏划分', b: '有，共 10 道工序', w: '决定指标可不可信', hit: true },&#10;            ].map((it, i) =&gt; (&#10;                &lt;Box key={i} style={{ flex: 1, flexDirection: 'row', alignItems: 'center', gap: 10, background: it.hit ? 'rgba(69,169,157,0.12)' : 'rgba(66,66,90,0.04)', borderRadius: 10, padding: '6px 12px', border: it.hit ? '2px solid #45A99D' : '2px solid transparent' }}&gt;&#10;                    &lt;Box style={{ flex: 3, flexDirection: 'column', gap: 1 }}&gt;&#10;                        &lt;Text style={{ fontSize: 13.5, fontWeight: 'bold', color: '#42425A' }}&gt;{it.a}&lt;/Text&gt;&#10;                        &lt;Text style={{ fontSize: 12, color: 'rgba(66,66,90,0.7)' }}&gt;{it.w}&lt;/Text&gt;&#10;                    &lt;/Box&gt;&#10;                    &lt;Box style={{ flex: 1, alignItems: 'flex-end' }}&gt;&#10;                        &lt;Text style={{ fontSize: 13.5, fontWeight: 'bold', color: it.hit ? '#45A99D' : 'rgba(66,66,90,0.45)' }}&gt;{it.b}&lt;/Text&gt;&#10;                    &lt;/Box&gt;&#10;                &lt;/Box&gt;&#10;            ))}&#10;        &lt;/Box&gt;&#10;&#10;        {/* 右：两阶段 */}&#10;        &lt;Box style={{ flex: 4, flexDirection: 'column', gap: 10 }}&gt;&#10;            &lt;Box style={{ flex: 1, background: '#FFFFFF', border: '2px solid #42425A', borderRadius: 14, boxShadow: '4px 4px 0 #42425A', padding: 14, flexDirection: 'column', gap: 6 }}&gt;&#10;                &lt;Box style={{ flexDirection: 'row', alignItems: 'center', gap: 8 }}&gt;&#10;                    &lt;Box style={{ background: '#6A6FC9', borderRadius: 8, padding: '3px 12px', border: '2px solid #42425A' }}&gt;&#10;                        &lt;Text style={{ fontSize: 13, fontWeight: 'bold', color: '#FFFFFF' }}&gt;离线&lt;/Text&gt;&#10;                    &lt;/Box&gt;&#10;                    &lt;Text style={{ fontSize: 15, fontWeight: 'bold', color: '#42425A' }}&gt;build_dataset.py · 跑一次落盘&lt;/Text&gt;&#10;                &lt;/Box&gt;&#10;                &lt;Text style={{ fontSize: 13, color: 'rgba(66,66,90,0.8)', lineHeight: 1.5 }}&gt;10 道工序把 1.16 GB parquet（12,987 行 × 23 列）治理成 &lt;span style={{ fontWeight: 'bold', color: '#6A6FC9' }}&gt;18,925 条&lt;/span&gt;统一格式 JSONL：列裁剪 → 成对展开 → 清洗 → 截断 → 去重 → 标签 → 分组划分。&lt;/Text&gt;&#10;            &lt;/Box&gt;&#10;            &lt;Box style={{ flexDirection: 'row', justifyContent: 'center' }}&gt;&#10;                &lt;FAIcon name='arrow-down' style={{ fill: '#42425A', width: 18, height: 18 }} /&gt;&#10;            &lt;/Box&gt;&#10;            &lt;Box style={{ flex: 1, background: '#FFFFFF', border: '2px solid #42425A', borderRadius: 14, boxShadow: '4px 4px 0 #42425A', padding: 14, flexDirection: 'column', gap: 6 }}&gt;&#10;                &lt;Box style={{ flexDirection: 'row', alignItems: 'center', gap: 8 }}&gt;&#10;                    &lt;Box style={{ background: '#E87E99', borderRadius: 8, padding: '3px 12px', border: '2px solid #42425A' }}&gt;&#10;                        &lt;Text style={{ fontSize: 13, fontWeight: 'bold', color: '#FFFFFF' }}&gt;在线&lt;/Text&gt;&#10;                    &lt;/Box&gt;&#10;                    &lt;Text style={{ fontSize: 15, fontWeight: 'bold', color: '#42425A' }}&gt;训练时每条样本实时跑&lt;/Text&gt;&#10;                &lt;/Box&gt;&#10;                &lt;Text style={{ fontSize: 13, color: 'rgba(66,66,90,0.8)', lineHeight: 1.5 }}&gt;分词 → 512 token 窗口 → 动态 padding，产出 input_ids / attention_mask 张量。&lt;span style={{ fontWeight: 'bold', color: '#E87E99' }}&gt;真正产生「特征」的是这一段&lt;/span&gt;——请记住 512 这个数字，下一页它会反复出现。&lt;/Text&gt;&#10;            &lt;/Box&gt;&#10;        &lt;/Box&gt;&#10;    &lt;/Box&gt;&#10;&#10;    &lt;Box style={{ marginTop: 12, background: '#42425A', borderRadius: 12, padding: '8px 18px' }}&gt;&#10;        &lt;Text style={{ fontSize: 13.5, color: '#FFFBF5', lineHeight: 1.5 }}&gt;两段的设计目标并不一致：离线想让模型看到函数的&lt;span style={{ fontWeight: 'bold', color: '#E5B45C' }}&gt;头部和尾部&lt;/span&gt;，在线却只允许模型看到&lt;span style={{ fontWeight: 'bold', color: '#E5B45C' }}&gt;前 512 个 token&lt;/span&gt;——这个矛盾下一页展开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 2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208" name="圆角矩形 207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06.5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1314450" y="381000"/>
            <a:ext cx="386715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特征工程处理</a:t>
            </a:r>
            <a:r>
              <a:rPr lang="en-US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定位与两阶段全景</a:t>
            </a:r>
            <a:endParaRPr lang="zh-CN" sz="20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圆角矩形 210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212" name="圆角矩形 211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213" name="图片 2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张墨含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533400" y="952500"/>
            <a:ext cx="11125200" cy="419100"/>
          </a:xfrm>
          <a:prstGeom prst="roundRect">
            <a:avLst>
              <a:gd name="adj" fmla="val 27273"/>
            </a:avLst>
          </a:prstGeom>
          <a:solidFill>
            <a:srgbClr val="6A6FC9">
              <a:alpha val="8000"/>
            </a:srgbClr>
          </a:solidFill>
          <a:ln w="25400">
            <a:solidFill>
              <a:srgbClr val="6A6FC9"/>
            </a:solidFill>
            <a:prstDash val="dash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04850" y="1028700"/>
            <a:ext cx="10782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一句话主旨：这个项目</a:t>
            </a:r>
            <a:r>
              <a:rPr lang="zh-CN" sz="116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没有传统意义上的特征工程</a:t>
            </a:r>
            <a:r>
              <a:rPr lang="zh-CN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——人做的是</a:t>
            </a:r>
            <a:r>
              <a:rPr lang="zh-CN" sz="116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数据卫生</a:t>
            </a:r>
            <a:r>
              <a:rPr lang="zh-CN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，真正的特征学习全部交给</a:t>
            </a:r>
            <a:r>
              <a:rPr lang="en-US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CodeBERT</a:t>
            </a:r>
            <a:r>
              <a:rPr lang="zh-CN" sz="116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16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圆角矩形 216"/>
          <p:cNvSpPr/>
          <p:nvPr/>
        </p:nvSpPr>
        <p:spPr>
          <a:xfrm>
            <a:off x="533400" y="1466850"/>
            <a:ext cx="6096000" cy="32385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666750" y="1600200"/>
            <a:ext cx="58293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传统做法</a:t>
            </a:r>
            <a:r>
              <a:rPr lang="en-US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125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本项目</a:t>
            </a:r>
            <a:endParaRPr lang="zh-CN" sz="1125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66750" y="1847850"/>
            <a:ext cx="5829300" cy="628650"/>
          </a:xfrm>
          <a:prstGeom prst="roundRect">
            <a:avLst>
              <a:gd name="adj" fmla="val 15152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781050" y="2009775"/>
            <a:ext cx="4133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TF-IDF / </a:t>
            </a:r>
            <a:r>
              <a:rPr lang="zh-CN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词袋</a:t>
            </a:r>
            <a:r>
              <a:rPr lang="en-US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/ n-gram</a:t>
            </a:r>
            <a:endParaRPr lang="en-US" sz="101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781050" y="2181225"/>
            <a:ext cx="4133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代码的语义在结构里，不在词的频次里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6248400" y="2085975"/>
            <a:ext cx="133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2425A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endParaRPr lang="zh-CN" sz="1015" b="1">
              <a:solidFill>
                <a:srgbClr val="42425A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666750" y="2552700"/>
            <a:ext cx="5829300" cy="619125"/>
          </a:xfrm>
          <a:prstGeom prst="roundRect">
            <a:avLst>
              <a:gd name="adj" fmla="val 15385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781050" y="2705100"/>
            <a:ext cx="4133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手工统计特征（圈复杂度、危险函数计数）</a:t>
            </a:r>
            <a:endParaRPr lang="zh-CN" sz="101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781050" y="2876550"/>
            <a:ext cx="4133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让模型自己学，避免人工先验引入偏差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6248400" y="2781300"/>
            <a:ext cx="1333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2425A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  <a:endParaRPr lang="zh-CN" sz="1015" b="1">
              <a:solidFill>
                <a:srgbClr val="42425A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66750" y="3248025"/>
            <a:ext cx="5829300" cy="628650"/>
          </a:xfrm>
          <a:prstGeom prst="roundRect">
            <a:avLst>
              <a:gd name="adj" fmla="val 15152"/>
            </a:avLst>
          </a:prstGeom>
          <a:solidFill>
            <a:srgbClr val="42425A">
              <a:alpha val="4000"/>
            </a:srgbClr>
          </a:solidFill>
          <a:ln w="254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781050" y="3409950"/>
            <a:ext cx="4133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独热编码</a:t>
            </a:r>
            <a:endParaRPr lang="zh-CN" sz="101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781050" y="3581400"/>
            <a:ext cx="4133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标签侧需要，文本侧不需要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5314950" y="348615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2425A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仅标签侧用类别</a:t>
            </a:r>
            <a:r>
              <a:rPr lang="en-US" sz="1015" b="1">
                <a:solidFill>
                  <a:srgbClr val="42425A">
                    <a:alpha val="4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endParaRPr lang="en-US" sz="1015" b="1">
              <a:solidFill>
                <a:srgbClr val="42425A">
                  <a:alpha val="4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666750" y="3952875"/>
            <a:ext cx="5829300" cy="619125"/>
          </a:xfrm>
          <a:prstGeom prst="roundRect">
            <a:avLst>
              <a:gd name="adj" fmla="val 15385"/>
            </a:avLst>
          </a:prstGeom>
          <a:solidFill>
            <a:srgbClr val="45A99D">
              <a:alpha val="12000"/>
            </a:srgbClr>
          </a:solidFill>
          <a:ln w="25400">
            <a:solidFill>
              <a:srgbClr val="45A99D"/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781050" y="4105275"/>
            <a:ext cx="4133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文本规范化</a:t>
            </a:r>
            <a:r>
              <a:rPr lang="en-US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标签构造</a:t>
            </a:r>
            <a:r>
              <a:rPr lang="en-US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1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防泄漏划分</a:t>
            </a:r>
            <a:endParaRPr lang="zh-CN" sz="101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781050" y="4276725"/>
            <a:ext cx="4133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决定指标可不可信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5372100" y="4181475"/>
            <a:ext cx="1009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有，共</a:t>
            </a:r>
            <a:r>
              <a:rPr lang="en-US" sz="101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01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道工序</a:t>
            </a:r>
            <a:endParaRPr lang="zh-CN" sz="101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圆角矩形 234"/>
          <p:cNvSpPr/>
          <p:nvPr/>
        </p:nvSpPr>
        <p:spPr>
          <a:xfrm>
            <a:off x="6781800" y="1466850"/>
            <a:ext cx="487680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36" name="圆角矩形 235"/>
          <p:cNvSpPr/>
          <p:nvPr/>
        </p:nvSpPr>
        <p:spPr>
          <a:xfrm>
            <a:off x="6915150" y="1600200"/>
            <a:ext cx="476250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7029450" y="16287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离线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7467600" y="1619250"/>
            <a:ext cx="2047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build_dataset.py ·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跑一次落盘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915150" y="1866900"/>
            <a:ext cx="46101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道工序把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1.16 GB parquet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12,987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23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列）治理成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18,925 </a:t>
            </a:r>
            <a:r>
              <a:rPr lang="zh-CN" sz="97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统一格式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JSONL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：列裁剪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成对展开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清洗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截断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去重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标签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分组划分。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0" name="图片 2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34475" y="2886075"/>
            <a:ext cx="171450" cy="171450"/>
          </a:xfrm>
          <a:prstGeom prst="rect">
            <a:avLst/>
          </a:prstGeom>
        </p:spPr>
      </p:pic>
      <p:sp>
        <p:nvSpPr>
          <p:cNvPr id="241" name="圆角矩形 240"/>
          <p:cNvSpPr/>
          <p:nvPr/>
        </p:nvSpPr>
        <p:spPr>
          <a:xfrm>
            <a:off x="6781800" y="3152775"/>
            <a:ext cx="4876800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42" name="圆角矩形 241"/>
          <p:cNvSpPr/>
          <p:nvPr/>
        </p:nvSpPr>
        <p:spPr>
          <a:xfrm>
            <a:off x="6915150" y="3286125"/>
            <a:ext cx="476250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7029450" y="331470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在线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7467600" y="3305175"/>
            <a:ext cx="1428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训练时每条样本实时跑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6915150" y="3552825"/>
            <a:ext cx="4610100" cy="676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分词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512 token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窗口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动态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padding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，产出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input_ids / attention_mask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张量。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真正产生「特征」的是这一段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——请记住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512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这个数字，下一页它会反复出现。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圆角矩形 245"/>
          <p:cNvSpPr/>
          <p:nvPr/>
        </p:nvSpPr>
        <p:spPr>
          <a:xfrm>
            <a:off x="533400" y="481965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704850" y="489585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两段的设计目标并不一致：离线想让模型看到函数的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头部和尾部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，在线却只允许模型看到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前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512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token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——这个矛盾下一页展开。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8" name="图片 24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5381625"/>
            <a:ext cx="152400" cy="152400"/>
          </a:xfrm>
          <a:prstGeom prst="rect">
            <a:avLst/>
          </a:prstGeom>
        </p:spPr>
      </p:pic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762000" y="538162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1239500" y="538162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16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1" name="图片 250"/>
          <p:cNvPicPr>
            <a:picLocks noChangeAspect="1"/>
          </p:cNvPicPr>
          <p:nvPr/>
        </p:nvPicPr>
        <p:blipFill>
          <a:blip r:embed="rId7">
            <a:alphaModFix amt="55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34750" y="2667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" descr="&lt;Slide style={{ width: '1280px', height: '720px', padding: '24px 56px', background: '#FFFBF5', position: 'relative', flexDirection: 'column', fontFamily: 'Microsoft YaHei' }}&gt;&#10;    &lt;FAIcon name='exclamation-circle' style={{ position: 'absolute', top: 30, right: 72, width: 22, height: 22, fill: '#E87E99', opacity: 0.5 }} /&gt;&#10;&#10;    &lt;Box style={{ flexDirection: 'row', alignItems: 'center', gap: 14, height: 76 }}&gt;&#10;        &lt;Box style={{ background: '#6A6FC9', borderRadius: 10, padding: '8px 14px', border: '2px solid #42425A', boxShadow: '3px 3px 0 #42425A' }}&gt;&#10;            &lt;Text style={{ fontSize: 18, fontWeight: 'bold', color: '#FFFFFF', fontFamily: 'Consolas' }}&gt;06.5&lt;/Text&gt;&#10;        &lt;/Box&gt;&#10;        &lt;Box style={{ flexDirection: 'column', gap: 6 }}&gt;&#10;            &lt;Text style={{ fontSize: 27, fontWeight: 'bold', color: '#42425A' }}&gt;在线阶段 · 三级截断 &lt;span style={{ fontSize: 17, color: '#E87E99' }}&gt;转折一：精心保留的尾部，大部分没进模型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张墨含&lt;/Text&gt;&#10;        &lt;/Box&gt;&#10;    &lt;/Box&gt;&#10;&#10;    &lt;Box style={{ flexDirection: 'row', gap: 16, height: 396, marginTop: 2 }}&gt;&#10;        {/* 左：三级截断 */}&#10;        &lt;Box style={{ flex: 5, flexDirection: 'column', gap: 10 }}&gt;&#10;            {[&#10;                { n: '第 1 级', c: '#6A6FC9', t: '构建数据时 &gt; 20,000 字符', d: '头 60% + 尾 40%，784 条触发——为了让模型看到函数尾部（free / 错误分支都在尾部）' },&#10;                { n: '第 2 级', c: '#45A99D', t: '送入分词器前 &gt; 8,000 字符', d: '同样头 60% + 尾 40%，1,234 条触发（占 6.5%）' },&#10;                { n: '第 3 级', c: '#E87E99', t: 'tokenizer 只保留「前」512 个 token', d: '28.2% 的样本触发。512 token ≈ 1,800~2,000 字符，而入口有 8,000 字符——尾部被挡在门外' },&#10;            ].map((it, i) =&gt; (&#10;                &lt;Box key={i} style={{ flex: 1, background: '#FFFFFF', border: '2px solid #42425A', borderRadius: 14, boxShadow: '4px 4px 0 #42425A', padding: 12, flexDirection: 'row', alignItems: 'center', gap: 12 }}&gt;&#10;                    &lt;Box style={{ width: 64, height: 64, borderRadius: 14, background: it.c, border: '2px solid #42425A', justifyContent: 'center', alignItems: 'center' }}&gt;&#10;                        &lt;Text style={{ fontSize: 15, fontWeight: 'bold', color: '#FFFFFF', textAlign: 'center', lineHeight: 1.2 }}&gt;{it.n}&lt;/Text&gt;&#10;                    &lt;/Box&gt;&#10;                    &lt;Box style={{ flex: 1, flexDirection: 'column', gap: 3 }}&gt;&#10;                        &lt;Text style={{ fontSize: 16, fontWeight: 'bold', color: '#42425A' }}&gt;{it.t}&lt;/Text&gt;&#10;                        &lt;Text style={{ fontSize: 12.5, color: 'rgba(66,66,90,0.78)', lineHeight: 1.45 }}&gt;{it.d}&lt;/Text&gt;&#10;                    &lt;/Box&gt;&#10;                &lt;/Box&gt;&#10;            ))}&#10;            &lt;Box style={{ background: 'rgba(232,126,153,0.10)', border: '2px dashed #E87E99', borderRadius: 12, padding: '8px 14px' }}&gt;&#10;                &lt;Text style={{ fontSize: 13, color: '#42425A', lineHeight: 1.5 }}&gt;这不是 bug，是&lt;span style={{ fontWeight: 'bold', color: '#E87E99' }}&gt;设计上的自相矛盾&lt;/span&gt;：三层各自都合理，叠在一起互相抵消；不报错、不影响跑通，只有把每一级的实际数量算出来才会发现。&lt;/Text&gt;&#10;            &lt;/Box&gt;&#10;        &lt;/Box&gt;&#10;&#10;        {/* 右：实测证据 */}&#10;        &lt;Box style={{ flex: 4, flexDirection: 'column', gap: 10 }}&gt;&#10;            &lt;Box style={{ background: '#FFFFFF', border: '2px solid #42425A', borderRadius: 14, boxShadow: '4px 4px 0 #42425A', padding: 14, flexDirection: 'column', gap: 6 }}&gt;&#10;                &lt;Text style={{ fontSize: 14, fontWeight: 'bold', color: 'rgba(66,66,90,0.65)' }}&gt;实测（CodeBERT 真实分词器，4,000 条随机样本）&lt;/Text&gt;&#10;                &lt;Box style={{ flexDirection: 'row', gap: 12 }}&gt;&#10;                    &lt;Box style={{ flex: 1, alignItems: 'center', gap: 2 }}&gt;&#10;                        &lt;Text style={{ fontSize: 40, fontWeight: 'bold', color: '#E87E99', fontFamily: 'Consolas', lineHeight: 1.05 }}&gt;0 条&lt;/Text&gt;&#10;                        &lt;Text style={{ fontSize: 12, color: 'rgba(66,66,90,0.7)', textAlign: 'center', lineHeight: 1.35 }}&gt;281 条双重截断样本里&lt;br /&gt;尾部完整进入模型的数量&lt;/Text&gt;&#10;                    &lt;/Box&gt;&#10;                    &lt;Box style={{ flex: 1, alignItems: 'center', gap: 2 }}&gt;&#10;                        &lt;Text style={{ fontSize: 40, fontWeight: 'bold', color: '#6A6FC9', fontFamily: 'Consolas', lineHeight: 1.05 }}&gt;60.5%&lt;/Text&gt;&#10;                        &lt;Text style={{ fontSize: 12, color: 'rgba(66,66,90,0.7)', textAlign: 'center', lineHeight: 1.35 }}&gt;尾部被 tokenizer 砍掉的&lt;br /&gt;比例（中位数，p90 为 71.1%）&lt;/Text&gt;&#10;                    &lt;/Box&gt;&#10;                &lt;/Box&gt;&#10;            &lt;/Box&gt;&#10;            &lt;Box style={{ flex: 1, background: '#FFFFFF', border: '2px solid #42425A', borderRadius: 14, boxShadow: '4px 4px 0 #42425A', padding: 14, flexDirection: 'column', gap: 6 }}&gt;&#10;                &lt;Text style={{ fontSize: 14, fontWeight: 'bold', color: '#42425A' }}&gt;这意味着什么&lt;/Text&gt;&#10;                &lt;Text style={{ fontSize: 12.5, color: 'rgba(66,66,90,0.8)', lineHeight: 1.5 }}&gt;特意为 use-after-free、资源泄漏保留的尾部代码，&lt;span style={{ fontWeight: 'bold', color: '#E87E99' }}&gt;中位情况下六成没被模型看到&lt;/span&gt;。改进方向（P0）：把 max_code_chars 从 20,000 降到约 2,000，让 512 token 覆盖完整函数——这是唯一可能实质提升 F1 的数据侧改动。&lt;/Text&gt;&#10;                &lt;Box style={{ marginTop: 'auto', background: 'rgba(69,169,157,0.12)', borderRadius: 8, padding: '6px 10px' }}&gt;&#10;                    &lt;Text style={{ fontSize: 12, color: '#42425A', lineHeight: 1.45 }}&gt;在线阶段另一个设计：&lt;span style={{ fontWeight: 'bold', color: '#45A99D' }}&gt;动态 padding&lt;/span&gt; 补到本批最长（非固定 512），实测训练提速 2~3 倍。&lt;/Text&gt;&#10;                &lt;/Box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矩形 2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254" name="圆角矩形 253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06.5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314450" y="381000"/>
            <a:ext cx="5476875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在线阶段</a:t>
            </a:r>
            <a:r>
              <a:rPr lang="en-US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三级截断</a:t>
            </a:r>
            <a:r>
              <a:rPr lang="en-US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转折一：精心保留的尾部，大部分没进模型</a:t>
            </a:r>
            <a:endParaRPr lang="zh-CN" sz="127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圆角矩形 256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258" name="圆角矩形 257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张墨含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533400" y="971550"/>
            <a:ext cx="6096000" cy="962025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62" name="圆角矩形 261"/>
          <p:cNvSpPr/>
          <p:nvPr/>
        </p:nvSpPr>
        <p:spPr>
          <a:xfrm>
            <a:off x="647700" y="11525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723900" y="1352550"/>
            <a:ext cx="466725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1371600" y="1238250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构建数据时</a:t>
            </a: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&gt; 20,000 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字符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1371600" y="1457325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头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60% +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尾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40%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784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条触发——为了让模型看到函数尾部（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free /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错误分支都在尾部）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圆角矩形 265"/>
          <p:cNvSpPr/>
          <p:nvPr/>
        </p:nvSpPr>
        <p:spPr>
          <a:xfrm>
            <a:off x="533400" y="2028825"/>
            <a:ext cx="6096000" cy="962025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67" name="圆角矩形 266"/>
          <p:cNvSpPr/>
          <p:nvPr/>
        </p:nvSpPr>
        <p:spPr>
          <a:xfrm>
            <a:off x="647700" y="22098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23900" y="2409825"/>
            <a:ext cx="466725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371600" y="2295525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送入分词器前</a:t>
            </a: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&gt; 8,000 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字符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1371600" y="2514600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同样头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60% +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尾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40%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1,234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条触发（占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6.5%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533400" y="3086100"/>
            <a:ext cx="6096000" cy="962025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72" name="圆角矩形 271"/>
          <p:cNvSpPr/>
          <p:nvPr/>
        </p:nvSpPr>
        <p:spPr>
          <a:xfrm>
            <a:off x="647700" y="32670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723900" y="3467100"/>
            <a:ext cx="466725" cy="2095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3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1371600" y="3352800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tokenizer 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只保留「前」</a:t>
            </a: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512 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token</a:t>
            </a:r>
            <a:endParaRPr lang="en-US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371600" y="3571875"/>
            <a:ext cx="5143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28.2%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的样本触发。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512 token ≈ 1,800~2,000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字符，而入口有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8,000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字符——尾部被挡在门外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533400" y="4143375"/>
            <a:ext cx="6096000" cy="600075"/>
          </a:xfrm>
          <a:prstGeom prst="roundRect">
            <a:avLst>
              <a:gd name="adj" fmla="val 19048"/>
            </a:avLst>
          </a:prstGeom>
          <a:solidFill>
            <a:srgbClr val="E87E99">
              <a:alpha val="10000"/>
            </a:srgbClr>
          </a:solidFill>
          <a:ln w="25400">
            <a:solidFill>
              <a:srgbClr val="E87E99"/>
            </a:solidFill>
            <a:prstDash val="dash"/>
          </a:ln>
        </p:spPr>
        <p:txBody>
          <a:bodyPr/>
          <a:p/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66750" y="4219575"/>
            <a:ext cx="58293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这不是</a:t>
            </a:r>
            <a:r>
              <a:rPr lang="en-US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bug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，是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设计上的自相矛盾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：三层各自都合理，叠在一起互相抵消；不报错、不影响跑通，只有把每一级的实际数量算出来才会发现。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圆角矩形 277"/>
          <p:cNvSpPr/>
          <p:nvPr/>
        </p:nvSpPr>
        <p:spPr>
          <a:xfrm>
            <a:off x="6781800" y="971550"/>
            <a:ext cx="4876800" cy="136207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6915150" y="1104900"/>
            <a:ext cx="461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实测（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真实分词器，</a:t>
            </a: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4,000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条随机样本）</a:t>
            </a:r>
            <a:endParaRPr lang="zh-CN" sz="1050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620000" y="1323975"/>
            <a:ext cx="8382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00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0 </a:t>
            </a:r>
            <a:r>
              <a:rPr lang="zh-CN" sz="300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条</a:t>
            </a:r>
            <a:endParaRPr lang="zh-CN" sz="300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7410450" y="1828800"/>
            <a:ext cx="1257300" cy="3714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281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条双重截断样本里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尾部完整进入模型的数量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877425" y="1323975"/>
            <a:ext cx="10477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00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60.5%</a:t>
            </a:r>
            <a:endParaRPr lang="en-US" sz="300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9582150" y="1828800"/>
            <a:ext cx="1638300" cy="3714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尾部被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tokenizer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砍掉的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比例（中位数，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p90 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71.1%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6781800" y="2428875"/>
            <a:ext cx="4876800" cy="2314575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6915150" y="2562225"/>
            <a:ext cx="461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这意味着什么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6915150" y="2781300"/>
            <a:ext cx="46101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特意为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use-after-free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、资源泄漏保留的尾部代码，</a:t>
            </a:r>
            <a:r>
              <a:rPr lang="zh-CN" sz="940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中位情况下六成没被模型看到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。改进方向（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P0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）：把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max_code_chars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20,000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降到约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2,000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，让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512 token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覆盖完整函数——这是唯一可能实质提升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F1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的数据侧改动。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6915150" y="4095750"/>
            <a:ext cx="4610100" cy="514350"/>
          </a:xfrm>
          <a:prstGeom prst="roundRect">
            <a:avLst>
              <a:gd name="adj" fmla="val 14815"/>
            </a:avLst>
          </a:prstGeom>
          <a:solidFill>
            <a:srgbClr val="45A99D">
              <a:alpha val="12000"/>
            </a:srgbClr>
          </a:solidFill>
        </p:spPr>
        <p:txBody>
          <a:bodyPr/>
          <a:p/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7010400" y="4152900"/>
            <a:ext cx="44196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在线阶段另一个设计：</a:t>
            </a:r>
            <a:r>
              <a:rPr lang="zh-CN" sz="90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动态</a:t>
            </a:r>
            <a:r>
              <a:rPr lang="en-US" sz="90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padding</a:t>
            </a:r>
            <a:r>
              <a:rPr lang="en-US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补到本批最长（非固定</a:t>
            </a:r>
            <a:r>
              <a:rPr lang="en-US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512</a:t>
            </a:r>
            <a:r>
              <a:rPr lang="zh-CN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），实测训练提速</a:t>
            </a:r>
            <a:r>
              <a:rPr lang="en-US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2~3 </a:t>
            </a:r>
            <a:r>
              <a:rPr lang="zh-CN" sz="90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倍。</a:t>
            </a:r>
            <a:endParaRPr lang="zh-CN" sz="90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9" name="图片 28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4914900"/>
            <a:ext cx="152400" cy="152400"/>
          </a:xfrm>
          <a:prstGeom prst="rect">
            <a:avLst/>
          </a:prstGeom>
        </p:spPr>
      </p:pic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62000" y="49149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11239500" y="49149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17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2" name="图片 291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9665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 descr="&lt;Slide style={{ width: '1280px', height: '720px', padding: '24px 56px', background: '#FFFBF5', position: 'relative', flexDirection: 'column', fontFamily: 'Microsoft YaHei' }}&gt;&#10;    &lt;FAIcon name='lightbulb' style={{ position: 'absolute', top: 30, right: 72, width: 22, height: 22, fill: '#E5B45C', opacity: 0.6 }} /&gt;&#10;&#10;    &lt;Box style={{ flexDirection: 'row', alignItems: 'center', gap: 14, height: 76 }}&gt;&#10;        &lt;Box style={{ background: '#6A6FC9', borderRadius: 10, padding: '8px 14px', border: '2px solid #42425A', boxShadow: '3px 3px 0 #42425A' }}&gt;&#10;            &lt;Text style={{ fontSize: 18, fontWeight: 'bold', color: '#FFFFFF', fontFamily: 'Consolas' }}&gt;06.5&lt;/Text&gt;&#10;        &lt;/Box&gt;&#10;        &lt;Box style={{ flexDirection: 'column', gap: 6 }}&gt;&#10;            &lt;Text style={{ fontSize: 27, fontWeight: 'bold', color: '#42425A' }}&gt;五个反直觉的实测发现 &lt;span style={{ fontSize: 17, color: '#E87E99' }}&gt;转折二：防泄漏分组在分类任务上空转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张墨含&lt;/Text&gt;&#10;        &lt;/Box&gt;&#10;    &lt;/Box&gt;&#10;&#10;    &lt;Box style={{ flexDirection: 'column', gap: 12, height: 428, marginTop: 2 }}&gt;&#10;        &lt;Box style={{ flexDirection: 'row', gap: 12, flex: 1 }}&gt;&#10;            {[&#10;                { n: '发现一', c: '#6A6FC9', t: '7% 的原始记录是无效的', d: '931 行两侧代码皆空整行丢弃，2,073 行只有单侧代码——不体检就会高估数据量。', num: '931 行' },&#10;                { n: '发现二', c: '#45A99D', t: 'OTHER 是最大的类', d: '长尾合并出的 OTHER 有 1,382 条，比最大真实类 CWE-79 的 1,349 条还多——分类绝不能只看准确率。', num: '1,382 &gt; 1,349' },&#10;                { n: '发现三', c: '#E5B45C', t: '泄漏挤在评测侧', d: '跨 split 残留：训练集受影响 3.1%，测试集 10.2%——查泄漏要分 split 看，不能只看全量。', num: '10.2%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justifyContent: 'space-between' }}&gt;&#10;                        &lt;Box style={{ background: it.c, borderRadius: 8, padding: '3px 12px', border: '2px solid #42425A' }}&gt;&#10;                            &lt;Text style={{ fontSize: 13, fontWeight: 'bold', color: i === 2 ? '#42425A' : '#FFFFFF' }}&gt;{it.n}&lt;/Text&gt;&#10;                        &lt;/Box&gt;&#10;                        &lt;Text style={{ fontSize: 17, fontWeight: 'bold', color: it.c, fontFamily: 'Consolas' }}&gt;{it.num}&lt;/Text&gt;&#10;                    &lt;/Box&gt;&#10;                    &lt;Text style={{ fontSize: 16, fontWeight: 'bold', color: '#42425A' }}&gt;{it.t}&lt;/Text&gt;&#10;                    &lt;Text style={{ fontSize: 12.5, color: 'rgba(66,66,90,0.78)', lineHeight: 1.5 }}&gt;{it.d}&lt;/Text&gt;&#10;                &lt;/Box&gt;&#10;            ))}&#10;        &lt;/Box&gt;&#10;        &lt;Box style={{ flexDirection: 'row', gap: 12, flex: 1 }}&gt;&#10;            {[&#10;                { n: '发现四', c: '#E87E99', t: '两任务「共用同一套划分」不成立', d: '共有 7,291 个分组里 33.9% 落在不同集合——划分函数被分别调用两次，同种子作用在不同长度列表上，洗牌结果自然不同。', num: '33.9%' },&#10;                { n: '发现五', c: '#6A6FC9', t: '防泄漏分组在分类任务上空转', d: '分组数 7,291 = 样本数 7,291，每组只装 1 条；分类任务只留漏洞版，「成对样本被拆开」的场景根本不会发生，机制退化成逐样本随机划分。', num: '7,291 = 7,291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justifyContent: 'space-between' }}&gt;&#10;                        &lt;Box style={{ background: it.c, borderRadius: 8, padding: '3px 12px', border: '2px solid #42425A' }}&gt;&#10;                            &lt;Text style={{ fontSize: 13, fontWeight: 'bold', color: '#FFFFFF' }}&gt;{it.n}&lt;/Text&gt;&#10;                        &lt;/Box&gt;&#10;                        &lt;Text style={{ fontSize: 17, fontWeight: 'bold', color: it.c, fontFamily: 'Consolas' }}&gt;{it.num}&lt;/Text&gt;&#10;                    &lt;/Box&gt;&#10;                    &lt;Text style={{ fontSize: 16, fontWeight: 'bold', color: '#42425A' }}&gt;{it.t}&lt;/Text&gt;&#10;                    &lt;Text style={{ fontSize: 12.5, color: 'rgba(66,66,90,0.78)', lineHeight: 1.5 }}&gt;{it.d}&lt;/Text&gt;&#10;                &lt;/Box&gt;&#10;            ))}&#10;            &lt;Box style={{ flex: 1, background: '#42425A', border: '2px solid #42425A', borderRadius: 14, boxShadow: '4px 4px 0 #42425A', padding: 14, flexDirection: 'column', gap: 6, justifyContent: 'center' }}&gt;&#10;                &lt;Box style={{ flexDirection: 'row', alignItems: 'center', gap: 8 }}&gt;&#10;                    &lt;FAIcon name='key' style={{ fill: '#E5B45C', width: 18, height: 18 }} /&gt;&#10;                    &lt;Text style={{ fontSize: 15, fontWeight: 'bold', color: '#E5B45C' }}&gt;能带走的判据&lt;/Text&gt;&#10;                &lt;/Box&gt;&#10;                &lt;Text style={{ fontSize: 13.5, color: '#FFFBF5', lineHeight: 1.55 }}&gt;分组数应该小于样本数；&lt;span style={{ fontWeight: 'bold', color: '#E5B45C' }}&gt;两者相等 = 分组机制没起作用&lt;/span&gt;。一行代码就能验证，可用在任何做了分组划分的项目上。&lt;/Text&gt;&#10;            &lt;/Box&gt;&#10;        &lt;/Box&gt;&#10;    &lt;/Box&gt;&#10;&#10;    &lt;Box style={{ marginTop: 12, background: 'rgba(106,111,201,0.08)', border: '2px dashed #6A6FC9', borderRadius: 12, padding: '8px 18px' }}&gt;&#10;        &lt;Text style={{ fontSize: 13.5, color: '#42425A', lineHeight: 1.5 }}&gt;五个发现的共同点：&lt;span style={{ fontWeight: 'bold', color: '#6A6FC9' }}&gt;它们都不会报错&lt;/span&gt;——数据能构建、模型能训练、指标能出来。先把每一级的实际数量算出来，再谈它有没有按设计生效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矩形 2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295" name="圆角矩形 294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06.5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314450" y="381000"/>
            <a:ext cx="54102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五个反直觉的实测发现</a:t>
            </a:r>
            <a:r>
              <a:rPr lang="en-US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转折二：防泄漏分组在分类任务上空转</a:t>
            </a:r>
            <a:endParaRPr lang="zh-CN" sz="127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圆角矩形 297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299" name="圆角矩形 298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300" name="图片 29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张墨含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圆角矩形 301"/>
          <p:cNvSpPr/>
          <p:nvPr/>
        </p:nvSpPr>
        <p:spPr>
          <a:xfrm>
            <a:off x="533400" y="971550"/>
            <a:ext cx="3629025" cy="1876425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03" name="圆角矩形 302"/>
          <p:cNvSpPr/>
          <p:nvPr/>
        </p:nvSpPr>
        <p:spPr>
          <a:xfrm>
            <a:off x="666750" y="1104900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781050" y="1133475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发现一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3448050" y="1114425"/>
            <a:ext cx="581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931 </a:t>
            </a:r>
            <a:r>
              <a:rPr lang="zh-CN" sz="127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行</a:t>
            </a:r>
            <a:endParaRPr lang="zh-CN" sz="127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666750" y="1371600"/>
            <a:ext cx="3362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7% 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的原始记录是无效的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666750" y="1619250"/>
            <a:ext cx="33623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931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行两侧代码皆空整行丢弃，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2,073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行只有单侧代码——不体检就会高估数据量。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4276725" y="971550"/>
            <a:ext cx="3638550" cy="1876425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09" name="圆角矩形 308"/>
          <p:cNvSpPr/>
          <p:nvPr/>
        </p:nvSpPr>
        <p:spPr>
          <a:xfrm>
            <a:off x="4410075" y="1104900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4524375" y="1133475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发现二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619875" y="1114425"/>
            <a:ext cx="11620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1,382 &gt; 1,349</a:t>
            </a:r>
            <a:endParaRPr lang="en-US" sz="1275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410075" y="1371600"/>
            <a:ext cx="33718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OTHER </a:t>
            </a: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是最大的类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4410075" y="1619250"/>
            <a:ext cx="33718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长尾合并出的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OTHER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1,382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条，比最大真实类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CWE-79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1,349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条还多——分类绝不能只看准确率。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圆角矩形 313"/>
          <p:cNvSpPr/>
          <p:nvPr/>
        </p:nvSpPr>
        <p:spPr>
          <a:xfrm>
            <a:off x="8029575" y="971550"/>
            <a:ext cx="3629025" cy="1876425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15" name="圆角矩形 314"/>
          <p:cNvSpPr/>
          <p:nvPr/>
        </p:nvSpPr>
        <p:spPr>
          <a:xfrm>
            <a:off x="8162925" y="1104900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277225" y="1133475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发现三</a:t>
            </a:r>
            <a:endParaRPr lang="zh-CN" sz="97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11077575" y="1114425"/>
            <a:ext cx="4476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10.2%</a:t>
            </a:r>
            <a:endParaRPr lang="en-US" sz="1275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8162925" y="1371600"/>
            <a:ext cx="3362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泄漏挤在评测侧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8162925" y="1619250"/>
            <a:ext cx="33623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跨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split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残留：训练集受影响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3.1%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，测试集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10.2%——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查泄漏要分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split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看，不能只看全量。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圆角矩形 319"/>
          <p:cNvSpPr/>
          <p:nvPr/>
        </p:nvSpPr>
        <p:spPr>
          <a:xfrm>
            <a:off x="533400" y="2962275"/>
            <a:ext cx="3629025" cy="2085975"/>
          </a:xfrm>
          <a:prstGeom prst="roundRect">
            <a:avLst>
              <a:gd name="adj" fmla="val 639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21" name="圆角矩形 320"/>
          <p:cNvSpPr/>
          <p:nvPr/>
        </p:nvSpPr>
        <p:spPr>
          <a:xfrm>
            <a:off x="666750" y="3095625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781050" y="312420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发现四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3581400" y="3105150"/>
            <a:ext cx="4476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33.9%</a:t>
            </a:r>
            <a:endParaRPr lang="en-US" sz="1275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666750" y="3362325"/>
            <a:ext cx="3362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两任务「共用同一套划分」不成立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666750" y="3609975"/>
            <a:ext cx="33623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共有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7,291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个分组里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33.9%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落在不同集合——划分函数被分别调用两次，同种子作用在不同长度列表上，洗牌结果自然不同。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4276725" y="2962275"/>
            <a:ext cx="3638550" cy="2085975"/>
          </a:xfrm>
          <a:prstGeom prst="roundRect">
            <a:avLst>
              <a:gd name="adj" fmla="val 639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27" name="圆角矩形 326"/>
          <p:cNvSpPr/>
          <p:nvPr/>
        </p:nvSpPr>
        <p:spPr>
          <a:xfrm>
            <a:off x="4410075" y="3095625"/>
            <a:ext cx="600075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524375" y="312420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发现五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6619875" y="3105150"/>
            <a:ext cx="11620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7,291 = 7,291</a:t>
            </a:r>
            <a:endParaRPr lang="en-US" sz="1275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410075" y="3362325"/>
            <a:ext cx="33718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防泄漏分组在分类任务上空转</a:t>
            </a:r>
            <a:endParaRPr lang="zh-CN" sz="12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410075" y="3609975"/>
            <a:ext cx="33718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分组数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7,291 =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样本数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7,291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，每组只装</a:t>
            </a:r>
            <a:r>
              <a:rPr lang="en-US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940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条；分类任务只留漏洞版，「成对样本被拆开」的场景根本不会发生，机制退化成逐样本随机划分。</a:t>
            </a:r>
            <a:endParaRPr lang="zh-CN" sz="940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圆角矩形 331"/>
          <p:cNvSpPr/>
          <p:nvPr/>
        </p:nvSpPr>
        <p:spPr>
          <a:xfrm>
            <a:off x="8029575" y="2962275"/>
            <a:ext cx="3629025" cy="2085975"/>
          </a:xfrm>
          <a:prstGeom prst="roundRect">
            <a:avLst>
              <a:gd name="adj" fmla="val 6393"/>
            </a:avLst>
          </a:prstGeom>
          <a:solidFill>
            <a:srgbClr val="42425A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pic>
        <p:nvPicPr>
          <p:cNvPr id="333" name="图片 33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2925" y="3648075"/>
            <a:ext cx="171450" cy="171450"/>
          </a:xfrm>
          <a:prstGeom prst="rect">
            <a:avLst/>
          </a:prstGeom>
        </p:spPr>
      </p:pic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8410575" y="3648075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能带走的判据</a:t>
            </a:r>
            <a:endParaRPr lang="zh-CN" sz="1125" b="1">
              <a:solidFill>
                <a:srgbClr val="E5B4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162925" y="3876675"/>
            <a:ext cx="33623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分组数应该小于样本数；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两者相等</a:t>
            </a:r>
            <a:r>
              <a:rPr lang="en-US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分组机制没起作用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。一行代码就能验证，可用在任何做了分组划分的项目上。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圆角矩形 335"/>
          <p:cNvSpPr/>
          <p:nvPr/>
        </p:nvSpPr>
        <p:spPr>
          <a:xfrm>
            <a:off x="533400" y="516255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6A6FC9">
              <a:alpha val="8000"/>
            </a:srgbClr>
          </a:solidFill>
          <a:ln w="25400">
            <a:solidFill>
              <a:srgbClr val="6A6FC9"/>
            </a:solidFill>
            <a:prstDash val="dash"/>
          </a:ln>
        </p:spPr>
        <p:txBody>
          <a:bodyPr/>
          <a:p/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704850" y="523875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五个发现的共同点：</a:t>
            </a:r>
            <a:r>
              <a:rPr lang="zh-CN" sz="101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它们都不会报错</a:t>
            </a:r>
            <a:r>
              <a:rPr lang="zh-CN" sz="101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——数据能构建、模型能训练、指标能出来。先把每一级的实际数量算出来，再谈它有没有按设计生效。</a:t>
            </a:r>
            <a:endParaRPr lang="zh-CN" sz="101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8" name="图片 3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" y="5724525"/>
            <a:ext cx="152400" cy="152400"/>
          </a:xfrm>
          <a:prstGeom prst="rect">
            <a:avLst/>
          </a:prstGeom>
        </p:spPr>
      </p:pic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762000" y="572452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11239500" y="572452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18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1" name="图片 340"/>
          <p:cNvPicPr>
            <a:picLocks noChangeAspect="1"/>
          </p:cNvPicPr>
          <p:nvPr/>
        </p:nvPicPr>
        <p:blipFill>
          <a:blip r:embed="rId7"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9665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" descr="&lt;Slide style={{ width: '1280px', height: '720px', padding: '24px 56px', background: '#FFFBF5', position: 'relative', flexDirection: 'column', fontFamily: 'Microsoft YaHei' }}&gt;&#10;    &lt;FAIcon name='sliders-h' style={{ position: 'absolute', top: 30, right: 74, width: 22, height: 22, fill: '#45A99D', opacity: 0.5 }} /&gt;&#10;&#10;    &lt;Box style={{ flexDirection: 'row', alignItems: 'center', gap: 14, height: 76 }}&gt;&#10;        &lt;Box style={{ background: '#45A99D', borderRadius: 10, padding: '8px 14px', border: '2px solid #42425A', boxShadow: '3px 3px 0 #42425A' }}&gt;&#10;            &lt;Text style={{ fontSize: 18, fontWeight: 'bold', color: '#FFFFFF', fontFamily: 'Consolas' }}&gt;06.6&lt;/Text&gt;&#10;        &lt;/Box&gt;&#10;        &lt;Box style={{ flexDirection: 'column', gap: 6 }}&gt;&#10;            &lt;Text style={{ fontSize: 28, fontWeight: 'bold', color: '#42425A' }}&gt;模型训练集调优 · 超参数与换置实验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罗天伦&lt;/Text&gt;&#10;        &lt;/Box&gt;&#10;    &lt;/Box&gt;&#10;&#10;    &lt;Box style={{ background: 'rgba(69,169,157,0.10)', border: '2px dashed #45A99D', borderRadius: 12, padding: '7px 18px', marginBottom: 10 }}&gt;&#10;        &lt;Text style={{ fontSize: 14.5, color: '#42425A', lineHeight: 1.5 }}&gt;调优方法论：&lt;span style={{ fontWeight: 'bold', color: '#45A99D' }}&gt;先固定 baseline，再一次只动一个变量&lt;/span&gt;，每轮记 log 靠记录不靠记忆——没有基线就无法判断每次调整是变好还是变差。&lt;/Text&gt;&#10;    &lt;/Box&gt;&#10;&#10;    &lt;Box style={{ flexDirection: 'row', gap: 16, height: 380 }}&gt;&#10;        {/* 左：超参数表 */}&#10;        &lt;Box style={{ flex: 3, background: '#FFFFFF', border: '2px solid #42425A', borderRadius: 14, boxShadow: '4px 4px 0 #42425A', padding: 12, flexDirection: 'column', gap: 6 }}&gt;&#10;            &lt;Text style={{ fontSize: 14, fontWeight: 'bold', color: 'rgba(66,66,90,0.65)' }}&gt;configs/config.yaml 生效值（改参数不动代码，每次训练回写产物目录）&lt;/Text&gt;&#10;            &lt;Box style={{ flex: 1 }}&gt;&#10;                &lt;Table&#10;                    style={{ width: '100%', height: '100%' }}&#10;                    defaultTextStyle={{ fontSize: 12.5, textAlign: 'left', color: '#42425A' }}&#10;                    defaultCellStyle={{&#10;                        border: {&#10;                            left: { width: 1, color: '#E8E4DA' },&#10;                            right: { width: 1, color: '#E8E4DA' },&#10;                            top: { width: 1, color: '#E8E4DA' },&#10;                            bottom: { width: 1, color: '#E8E4DA' },&#10;                        },&#10;                    }}&#10;                    cells={[&#10;                        [&#10;                            { text: '参数', textStyle: { bold: true, color: '#FFFFFF', fontSize: 13 }, cellStyle: { background: { color: '#45A99D' } } },&#10;                            { text: '取值', textStyle: { bold: true, color: '#FFFFFF', fontSize: 13 }, cellStyle: { background: { color: '#45A99D' } } },&#10;                            { text: '说明', textStyle: { bold: true, color: '#FFFFFF', fontSize: 13 }, cellStyle: { background: { color: '#45A99D' } } },&#10;                        ],&#10;                        ['epochs', '3', '数据量大，多轮易过拟合'],&#10;                        ['batch_size', '16', '显存 6 GB 下的稳妥取值'],&#10;                        ['learning_rate / head_lr', '2e-5 / 1e-4', '编码器与分类头分层，头约 5 倍'],&#10;                        ['max_length', '512', 'token 上限，CodeBERT 的最大位置'],&#10;                        ['max / min_code_chars', '20000 / 30', '字符级截断阈值与过滤下限'],&#10;                        ['imbalance', 'weighted_loss', '加权交叉熵处理类别不平衡'],&#10;                        ['early_stopping_patience', '2', '连续两轮不提升就停'],&#10;                    ]}&#10;                /&gt;&#10;            &lt;/Box&gt;&#10;        &lt;/Box&gt;&#10;&#10;        {/* 右：换置实验 */}&#10;        &lt;Box style={{ flex: 2, flexDirection: 'column', gap: 10 }}&gt;&#10;            &lt;Text style={{ fontSize: 15, fontWeight: 'bold', color: '#42425A' }}&gt;基于 baseline 的换置实验：&lt;span style={{ color: '#45A99D' }}&gt;逐个候选淘汰&lt;/span&gt;&lt;/Text&gt;&#10;            {[&#10;                { t: '数据集：只保留 CVEfixes', d: '多源合并版字段口径不一致，反而稀释有效样本' },&#10;                { t: '模型底座：codebert-base', d: 'GraphCodeBERT 需额外图输入，当前数据不支持' },&#10;                { t: '序列长度：512 按显存取舍', d: '长度减半几乎不掉精度，但显存占用减半' },&#10;                { t: '损失策略：加权交叉熵', d: '让全部样本参与；与平衡采样二选一' },&#10;                { t: '混合精度：auto（优先 bf16）', d: '动态范围大，不需要额外梯度缩放保护' },&#10;            ].map((it, i) =&gt; (&#10;                &lt;Box key={i} style={{ flex: 1, background: '#FFFFFF', border: '2px solid #42425A', borderRadius: 12, boxShadow: '3px 3px 0 #42425A', padding: '6px 12px', flexDirection: 'column', gap: 1, justifyContent: 'center' }}&gt;&#10;                    &lt;Text style={{ fontSize: 14, fontWeight: 'bold', color: '#42425A' }}&gt;{it.t}&lt;/Text&gt;&#10;                    &lt;Text style={{ fontSize: 12, color: 'rgba(66,66,90,0.72)', lineHeight: 1.4 }}&gt;{it.d}&lt;/Text&gt;&#10;                &lt;/Box&gt;&#10;            ))}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1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矩形 3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344" name="圆角矩形 343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06.6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314450" y="371475"/>
            <a:ext cx="42767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模型训练集调优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超参数与换置实验</a:t>
            </a:r>
            <a:endParaRPr lang="zh-CN" sz="21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348" name="圆角矩形 347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349" name="图片 3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罗天伦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圆角矩形 350"/>
          <p:cNvSpPr/>
          <p:nvPr/>
        </p:nvSpPr>
        <p:spPr>
          <a:xfrm>
            <a:off x="533400" y="9525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5A99D">
              <a:alpha val="10000"/>
            </a:srgbClr>
          </a:solidFill>
          <a:ln w="25400">
            <a:solidFill>
              <a:srgbClr val="45A99D"/>
            </a:solidFill>
            <a:prstDash val="dash"/>
          </a:ln>
        </p:spPr>
        <p:txBody>
          <a:bodyPr/>
          <a:p/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704850" y="1019175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9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调优方法论：</a:t>
            </a:r>
            <a:r>
              <a:rPr lang="zh-CN" sz="109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先固定</a:t>
            </a:r>
            <a:r>
              <a:rPr lang="en-US" sz="109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baseline</a:t>
            </a:r>
            <a:r>
              <a:rPr lang="zh-CN" sz="109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，再一次只动一个变量</a:t>
            </a:r>
            <a:r>
              <a:rPr lang="zh-CN" sz="109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，每轮记</a:t>
            </a:r>
            <a:r>
              <a:rPr lang="en-US" sz="109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log </a:t>
            </a:r>
            <a:r>
              <a:rPr lang="zh-CN" sz="109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靠记录不靠记忆——没有基线就无法判断每次调整是变好还是变差。</a:t>
            </a:r>
            <a:endParaRPr lang="zh-CN" sz="109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533400" y="1438275"/>
            <a:ext cx="6581775" cy="3619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647700" y="1552575"/>
            <a:ext cx="6353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configs/config.yaml </a:t>
            </a:r>
            <a:r>
              <a:rPr lang="zh-CN" sz="1050" b="1">
                <a:solidFill>
                  <a:srgbClr val="42425A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生效值（改参数不动代码，每次训练回写产物目录）</a:t>
            </a:r>
            <a:endParaRPr lang="zh-CN" sz="1050" b="1">
              <a:solidFill>
                <a:srgbClr val="42425A">
                  <a:alpha val="6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55" name="表格 354"/>
          <p:cNvGraphicFramePr/>
          <p:nvPr/>
        </p:nvGraphicFramePr>
        <p:xfrm>
          <a:off x="647700" y="1771650"/>
          <a:ext cx="6353176" cy="3171828"/>
        </p:xfrm>
        <a:graphic>
          <a:graphicData uri="http://schemas.openxmlformats.org/drawingml/2006/table">
            <a:tbl>
              <a:tblPr/>
              <a:tblGrid>
                <a:gridCol w="2126897"/>
                <a:gridCol w="1301452"/>
                <a:gridCol w="2924827"/>
              </a:tblGrid>
              <a:tr h="4089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取值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/>
                    </a:solidFill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epochs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数据量大，多轮易过拟合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batch_size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显存 6 GB 下的稳妥取值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learning_rate / head_lr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2e-5 / 1e-4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编码器与分类头分层，头约 5 倍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max_length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512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token 上限，CodeBERT 的最大位置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max / min_code_chars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20000 / 30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字符级截断阈值与过滤下限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imbalance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weighted_loss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加权交叉熵处理类别不平衡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469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early_stopping_patience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连续两轮不提升就停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7267575" y="1438275"/>
            <a:ext cx="4391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baseline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的换置实验：</a:t>
            </a: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逐个候选淘汰</a:t>
            </a:r>
            <a:endParaRPr lang="zh-CN" sz="112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7267575" y="1704975"/>
            <a:ext cx="43910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7381875" y="1819275"/>
            <a:ext cx="4162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数据集：只保留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CVEfixes</a:t>
            </a:r>
            <a:endParaRPr lang="en-US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7381875" y="1990725"/>
            <a:ext cx="4162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多源合并版字段口径不一致，反而稀释有效样本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圆角矩形 359"/>
          <p:cNvSpPr/>
          <p:nvPr/>
        </p:nvSpPr>
        <p:spPr>
          <a:xfrm>
            <a:off x="7267575" y="2390775"/>
            <a:ext cx="4391025" cy="60007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7381875" y="2505075"/>
            <a:ext cx="4162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模型底座：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codebert-base</a:t>
            </a:r>
            <a:endParaRPr lang="en-US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7381875" y="2676525"/>
            <a:ext cx="4162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GraphCodeBERT </a:t>
            </a: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需额外图输入，当前数据不支持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圆角矩形 362"/>
          <p:cNvSpPr/>
          <p:nvPr/>
        </p:nvSpPr>
        <p:spPr>
          <a:xfrm>
            <a:off x="7267575" y="3086100"/>
            <a:ext cx="43910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7381875" y="3200400"/>
            <a:ext cx="4162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序列长度：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512 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按显存取舍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7381875" y="3371850"/>
            <a:ext cx="4162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长度减半几乎不掉精度，但显存占用减半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圆角矩形 365"/>
          <p:cNvSpPr/>
          <p:nvPr/>
        </p:nvSpPr>
        <p:spPr>
          <a:xfrm>
            <a:off x="7267575" y="3771900"/>
            <a:ext cx="4391025" cy="60007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7381875" y="3886200"/>
            <a:ext cx="4162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损失策略：加权交叉熵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381875" y="4057650"/>
            <a:ext cx="4162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让全部样本参与；与平衡采样二选一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7267575" y="4467225"/>
            <a:ext cx="4391025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7381875" y="4581525"/>
            <a:ext cx="4162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混合精度：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auto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（优先</a:t>
            </a:r>
            <a:r>
              <a:rPr lang="en-US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bf16</a:t>
            </a: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7381875" y="4752975"/>
            <a:ext cx="4162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动态范围大，不需要额外梯度缩放保护</a:t>
            </a:r>
            <a:endParaRPr lang="zh-CN" sz="900">
              <a:solidFill>
                <a:srgbClr val="42425A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2" name="图片 3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229225"/>
            <a:ext cx="152400" cy="152400"/>
          </a:xfrm>
          <a:prstGeom prst="rect">
            <a:avLst/>
          </a:prstGeom>
        </p:spPr>
      </p:pic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62000" y="522922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11239500" y="522922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19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6" name="" descr="&lt;Slide style={{ width: '1280px', height: '720px', padding: '24px 56px', background: '#FFFBF5', position: 'relative', flexDirection: 'column', fontFamily: 'Microsoft YaHei' }}&gt;&#10;    &lt;FAIcon name='star' style={{ position: 'absolute', top: 30, right: 72, width: 20, height: 20, fill: '#E87E99', opacity: 0.55 }} /&gt;&#10;&#10;    &lt;Box style={{ flexDirection: 'row', alignItems: 'center', gap: 14, height: 76 }}&gt;&#10;        &lt;Box style={{ background: '#45A99D', borderRadius: 10, padding: '8px 14px', border: '2px solid #42425A', boxShadow: '3px 3px 0 #42425A' }}&gt;&#10;            &lt;Text style={{ fontSize: 18, fontWeight: 'bold', color: '#FFFFFF', fontFamily: 'Consolas' }}&gt;06.6&lt;/Text&gt;&#10;        &lt;/Box&gt;&#10;        &lt;Box style={{ flexDirection: 'column', gap: 6 }}&gt;&#10;            &lt;Text style={{ fontSize: 28, fontWeight: 'bold', color: '#42425A' }}&gt;误判与置信度 · 漏洞检测 · 漏洞分类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罗天伦&lt;/Text&gt;&#10;        &lt;/Box&gt;&#10;    &lt;/Box&gt;&#10;&#10;    &lt;Box style={{ flexDirection: 'row', gap: 14, height: 420, marginTop: 4 }}&gt;&#10;        {/* 误判与置信度 */}&#10;        &lt;Box style={{ flex: 1, background: '#FFFFFF', border: '2px solid #42425A', borderRadius: 14, boxShadow: '4px 4px 0 #42425A', padding: 16, flexDirection: 'column', gap: 8 }}&gt;&#10;            &lt;Box style={{ background: '#E87E99', borderRadius: 8, padding: '3px 12px', border: '2px solid #42425A', alignSelf: 'flex-start' }}&gt;&#10;                &lt;Text style={{ fontSize: 13, fontWeight: 'bold', color: '#FFFFFF' }}&gt;误判与置信度&lt;/Text&gt;&#10;            &lt;/Box&gt;&#10;            &lt;Box style={{ flexDirection: 'row', gap: 10 }}&gt;&#10;                &lt;Box style={{ flex: 1, alignItems: 'center', gap: 1 }}&gt;&#10;                    &lt;Text style={{ fontSize: 34, fontWeight: 'bold', color: '#E5B45C', fontFamily: 'Consolas' }}&gt;258&lt;/Text&gt;&#10;                    &lt;Text style={{ fontSize: 12, color: 'rgba(66,66,90,0.7)', textAlign: 'center' }}&gt;验证集误报 FP（条）&lt;/Text&gt;&#10;                &lt;/Box&gt;&#10;                &lt;Box style={{ flex: 1, alignItems: 'center', gap: 1 }}&gt;&#10;                    &lt;Text style={{ fontSize: 34, fontWeight: 'bold', color: '#E87E99', fontFamily: 'Consolas' }}&gt;205&lt;/Text&gt;&#10;                    &lt;Text style={{ fontSize: 12, color: 'rgba(66,66,90,0.7)', textAlign: 'center' }}&gt;验证集漏报 FN（条）&lt;/Text&gt;&#10;                &lt;/Box&gt;&#10;            &lt;/Box&gt;&#10;            &lt;Text style={{ fontSize: 13, color: 'rgba(66,66,90,0.8)', lineHeight: 1.5 }}&gt;模型输出的是&lt;span style={{ fontWeight: 'bold', color: '#E87E99' }}&gt;概率而不是结论&lt;/span&gt;——阈值把它切成两类。同一个模型，换个阈值就是完全不同的工具。&lt;/Text&gt;&#10;            &lt;Box style={{ marginTop: 'auto', background: 'rgba(232,126,153,0.10)', borderRadius: 8, padding: '6px 10px' }}&gt;&#10;                &lt;Text style={{ fontSize: 12.5, color: '#42425A', lineHeight: 1.45 }}&gt;默认 0.5 只是数学中点；&lt;span style={{ fontWeight: 'bold' }}&gt;阈值应当在验证集上按业务容忍度调优&lt;/span&gt;，再回测试集做诚实汇报。&lt;/Text&gt;&#10;            &lt;/Box&gt;&#10;        &lt;/Box&gt;&#10;&#10;        {/* 漏洞检测 */}&#10;        &lt;Box style={{ flex: 1, background: '#FFFFFF', border: '2px solid #42425A', borderRadius: 14, boxShadow: '4px 4px 0 #42425A', padding: 16, flexDirection: 'column', gap: 8 }}&gt;&#10;            &lt;Box style={{ background: '#6A6FC9', borderRadius: 8, padding: '3px 12px', border: '2px solid #42425A', alignSelf: 'flex-start' }}&gt;&#10;                &lt;Text style={{ fontSize: 13, fontWeight: 'bold', color: '#FFFFFF' }}&gt;漏洞检测 · 轮数不是越多越好&lt;/Text&gt;&#10;            &lt;/Box&gt;&#10;            {[&#10;                { t: '现象', d: '默认 epoch=5；数据量大，第一轮训完指标已经到较高水平。' },&#10;                { t: '问题', d: '继续训就是过拟合：训练集指标继续涨、验证集开始掉。' },&#10;                { t: '处理', d: '引入 Early Stopping：验证指标连续两轮不提升即停，只保留 best 检查点。' },&#10;            ].map((it, i) =&gt; (&#10;                &lt;Box key={i} style={{ flexDirection: 'row', gap: 8, alignItems: 'flex-start' }}&gt;&#10;                    &lt;Box style={{ background: 'rgba(106,111,201,0.12)', borderRadius: 6, padding: '2px 8px' }}&gt;&#10;                        &lt;Text style={{ fontSize: 12, fontWeight: 'bold', color: '#6A6FC9' }}&gt;{it.t}&lt;/Text&gt;&#10;                    &lt;/Box&gt;&#10;                    &lt;Text style={{ fontSize: 12.5, color: 'rgba(66,66,90,0.8)', lineHeight: 1.45, flex: 1 }}&gt;{it.d}&lt;/Text&gt;&#10;                &lt;/Box&gt;&#10;            ))}&#10;            &lt;Box style={{ marginTop: 'auto', background: 'rgba(106,111,201,0.10)', borderRadius: 8, padding: '6px 10px' }}&gt;&#10;                &lt;Text style={{ fontSize: 12.5, color: '#42425A' }}&gt;早停把可用轮数收敛到合理区间，&lt;span style={{ fontWeight: 'bold' }}&gt;同时省下算力&lt;/span&gt;。&lt;/Text&gt;&#10;            &lt;/Box&gt;&#10;        &lt;/Box&gt;&#10;&#10;        {/* 漏洞分类 */}&#10;        &lt;Box style={{ flex: 1, background: '#FFFFFF', border: '2px solid #42425A', borderRadius: 14, boxShadow: '4px 4px 0 #42425A', padding: 16, flexDirection: 'column', gap: 8 }}&gt;&#10;            &lt;Box style={{ background: '#45A99D', borderRadius: 8, padding: '3px 12px', border: '2px solid #42425A', alignSelf: 'flex-start' }}&gt;&#10;                &lt;Text style={{ fontSize: 13, fontWeight: 'bold', color: '#FFFFFF' }}&gt;漏洞分类 · 轮数与学习率&lt;/Text&gt;&#10;            &lt;/Box&gt;&#10;            {[&#10;                { t: '起点', d: '按默认值训练，3 轮之后 loss 几乎不收敛。' },&#10;                { t: '调整', d: '判断为训练不充分：增加轮数，同时降低学习率。' },&#10;                { t: '定稿', d: '8 → 12 → 20 轮对照；20 轮那次训练中第 14 轮效果最好，保存到 models/best。' },&#10;            ].map((it, i) =&gt; (&#10;                &lt;Box key={i} style={{ flexDirection: 'row', gap: 8, alignItems: 'flex-start' }}&gt;&#10;                    &lt;Box style={{ background: 'rgba(69,169,157,0.14)', borderRadius: 6, padding: '2px 8px' }}&gt;&#10;                        &lt;Text style={{ fontSize: 12, fontWeight: 'bold', color: '#45A99D' }}&gt;{it.t}&lt;/Text&gt;&#10;                    &lt;/Box&gt;&#10;                    &lt;Text style={{ fontSize: 12.5, color: 'rgba(66,66,90,0.8)', lineHeight: 1.45, flex: 1 }}&gt;{it.d}&lt;/Text&gt;&#10;                &lt;/Box&gt;&#10;            ))}&#10;            &lt;Box style={{ marginTop: 'auto', background: 'rgba(69,169,157,0.12)', borderRadius: 8, padding: '6px 10px' }}&gt;&#10;                &lt;Text style={{ fontSize: 12.5, color: '#42425A', lineHeight: 1.45 }}&gt;与检测任务正好相反：&lt;span style={{ fontWeight: 'bold' }}&gt;检测怕过拟合，分类怕欠拟合&lt;/span&gt;——两个任务要用不同策略。&lt;/Text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矩形 4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448" name="圆角矩形 447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06.6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1314450" y="371475"/>
            <a:ext cx="42862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误判与置信度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漏洞检测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漏洞分类</a:t>
            </a:r>
            <a:endParaRPr lang="zh-CN" sz="21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1" name="圆角矩形 450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452" name="圆角矩形 451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453" name="图片 45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罗天伦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5" name="圆角矩形 454"/>
          <p:cNvSpPr/>
          <p:nvPr/>
        </p:nvSpPr>
        <p:spPr>
          <a:xfrm>
            <a:off x="533400" y="990600"/>
            <a:ext cx="3619500" cy="4000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56" name="圆角矩形 455"/>
          <p:cNvSpPr/>
          <p:nvPr/>
        </p:nvSpPr>
        <p:spPr>
          <a:xfrm>
            <a:off x="685800" y="1143000"/>
            <a:ext cx="971550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800100" y="1171575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误判与置信度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1219200" y="1428750"/>
            <a:ext cx="5429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258</a:t>
            </a:r>
            <a:endParaRPr lang="en-US" sz="255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952500" y="1828800"/>
            <a:ext cx="108585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验证集误报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FP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（条）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2924175" y="1428750"/>
            <a:ext cx="5429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205</a:t>
            </a:r>
            <a:endParaRPr lang="en-US" sz="25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2647950" y="1828800"/>
            <a:ext cx="1104900" cy="1428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验证集漏报</a:t>
            </a:r>
            <a:r>
              <a:rPr lang="en-US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FN</a:t>
            </a:r>
            <a:r>
              <a:rPr lang="zh-CN" sz="900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（条）</a:t>
            </a:r>
            <a:endParaRPr lang="zh-CN" sz="900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685800" y="2047875"/>
            <a:ext cx="33147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模型输出的是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概率而不是结论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——阈值把它切成两类。同一个模型，换个阈值就是完全不同的工具。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圆角矩形 462"/>
          <p:cNvSpPr/>
          <p:nvPr/>
        </p:nvSpPr>
        <p:spPr>
          <a:xfrm>
            <a:off x="685800" y="4305300"/>
            <a:ext cx="3314700" cy="533400"/>
          </a:xfrm>
          <a:prstGeom prst="roundRect">
            <a:avLst>
              <a:gd name="adj" fmla="val 14286"/>
            </a:avLst>
          </a:prstGeom>
          <a:solidFill>
            <a:srgbClr val="E87E99">
              <a:alpha val="10000"/>
            </a:srgbClr>
          </a:solidFill>
        </p:spPr>
        <p:txBody>
          <a:bodyPr/>
          <a:p/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781050" y="4362450"/>
            <a:ext cx="31242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0.5 </a:t>
            </a: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只是数学中点；</a:t>
            </a:r>
            <a:r>
              <a:rPr lang="zh-CN" sz="94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阈值应当在验证集上按业务容忍度调优</a:t>
            </a: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，再回测试集做诚实汇报。</a:t>
            </a:r>
            <a:endParaRPr lang="zh-CN" sz="94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圆角矩形 464"/>
          <p:cNvSpPr/>
          <p:nvPr/>
        </p:nvSpPr>
        <p:spPr>
          <a:xfrm>
            <a:off x="4286250" y="990600"/>
            <a:ext cx="3619500" cy="4000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66" name="圆角矩形 465"/>
          <p:cNvSpPr/>
          <p:nvPr/>
        </p:nvSpPr>
        <p:spPr>
          <a:xfrm>
            <a:off x="4438650" y="1143000"/>
            <a:ext cx="1847850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67" name="文本框 466" descr="{&quot;isTemplate&quot;:true,&quot;type&quot;:&quot;text&quot;}"/>
          <p:cNvSpPr txBox="1"/>
          <p:nvPr/>
        </p:nvSpPr>
        <p:spPr>
          <a:xfrm>
            <a:off x="4552950" y="1171575"/>
            <a:ext cx="1619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漏洞检测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轮数不是越多越好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圆角矩形 467"/>
          <p:cNvSpPr/>
          <p:nvPr/>
        </p:nvSpPr>
        <p:spPr>
          <a:xfrm>
            <a:off x="4438650" y="1428750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6A6FC9">
              <a:alpha val="12000"/>
            </a:srgbClr>
          </a:solidFill>
        </p:spPr>
        <p:txBody>
          <a:bodyPr/>
          <a:p/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4514850" y="14478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现象</a:t>
            </a:r>
            <a:endParaRPr lang="zh-CN" sz="900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4895850" y="1428750"/>
            <a:ext cx="2857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epoch=5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；数据量大，第一轮训完指标已经到较高水平。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4438650" y="1924050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6A6FC9">
              <a:alpha val="12000"/>
            </a:srgbClr>
          </a:solidFill>
        </p:spPr>
        <p:txBody>
          <a:bodyPr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4514850" y="19431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900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4895850" y="1924050"/>
            <a:ext cx="2857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继续训就是过拟合：训练集指标继续涨、验证集开始掉。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4" name="圆角矩形 473"/>
          <p:cNvSpPr/>
          <p:nvPr/>
        </p:nvSpPr>
        <p:spPr>
          <a:xfrm>
            <a:off x="4438650" y="2209800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6A6FC9">
              <a:alpha val="12000"/>
            </a:srgbClr>
          </a:solidFill>
        </p:spPr>
        <p:txBody>
          <a:bodyPr/>
          <a:p/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4514850" y="222885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endParaRPr lang="zh-CN" sz="900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4895850" y="2209800"/>
            <a:ext cx="2857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引入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Early Stopping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：验证指标连续两轮不提升即停，只保留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best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检查点。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7" name="圆角矩形 476"/>
          <p:cNvSpPr/>
          <p:nvPr/>
        </p:nvSpPr>
        <p:spPr>
          <a:xfrm>
            <a:off x="4438650" y="4581525"/>
            <a:ext cx="3314700" cy="257175"/>
          </a:xfrm>
          <a:prstGeom prst="roundRect">
            <a:avLst>
              <a:gd name="adj" fmla="val 29630"/>
            </a:avLst>
          </a:prstGeom>
          <a:solidFill>
            <a:srgbClr val="6A6FC9">
              <a:alpha val="10000"/>
            </a:srgbClr>
          </a:solidFill>
        </p:spPr>
        <p:txBody>
          <a:bodyPr/>
          <a:p/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4533900" y="4638675"/>
            <a:ext cx="3124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早停把可用轮数收敛到合理区间，</a:t>
            </a:r>
            <a:r>
              <a:rPr lang="zh-CN" sz="94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同时省下算力</a:t>
            </a: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圆角矩形 478"/>
          <p:cNvSpPr/>
          <p:nvPr/>
        </p:nvSpPr>
        <p:spPr>
          <a:xfrm>
            <a:off x="8039100" y="990600"/>
            <a:ext cx="3619500" cy="4000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480" name="圆角矩形 479"/>
          <p:cNvSpPr/>
          <p:nvPr/>
        </p:nvSpPr>
        <p:spPr>
          <a:xfrm>
            <a:off x="8191500" y="1143000"/>
            <a:ext cx="1600200" cy="209550"/>
          </a:xfrm>
          <a:prstGeom prst="roundRect">
            <a:avLst>
              <a:gd name="adj" fmla="val 36364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8305800" y="1171575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漏洞分类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轮数与学习率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2" name="圆角矩形 481"/>
          <p:cNvSpPr/>
          <p:nvPr/>
        </p:nvSpPr>
        <p:spPr>
          <a:xfrm>
            <a:off x="8191500" y="1428750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45A99D">
              <a:alpha val="14000"/>
            </a:srgbClr>
          </a:solidFill>
        </p:spPr>
        <p:txBody>
          <a:bodyPr/>
          <a:p/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8267700" y="14478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起点</a:t>
            </a:r>
            <a:endParaRPr lang="zh-CN" sz="900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8648700" y="1428750"/>
            <a:ext cx="2857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按默认值训练，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轮之后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loss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几乎不收敛。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圆角矩形 484"/>
          <p:cNvSpPr/>
          <p:nvPr/>
        </p:nvSpPr>
        <p:spPr>
          <a:xfrm>
            <a:off x="8191500" y="1714500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45A99D">
              <a:alpha val="14000"/>
            </a:srgbClr>
          </a:solidFill>
        </p:spPr>
        <p:txBody>
          <a:bodyPr/>
          <a:p/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8267700" y="173355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调整</a:t>
            </a:r>
            <a:endParaRPr lang="zh-CN" sz="900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8648700" y="1714500"/>
            <a:ext cx="2857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判断为训练不充分：增加轮数，同时降低学习率。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圆角矩形 487"/>
          <p:cNvSpPr/>
          <p:nvPr/>
        </p:nvSpPr>
        <p:spPr>
          <a:xfrm>
            <a:off x="8191500" y="2000250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45A99D">
              <a:alpha val="14000"/>
            </a:srgbClr>
          </a:solidFill>
        </p:spPr>
        <p:txBody>
          <a:bodyPr/>
          <a:p/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8267700" y="2019300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定稿</a:t>
            </a:r>
            <a:endParaRPr lang="zh-CN" sz="900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8648700" y="2000250"/>
            <a:ext cx="2857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8 → 12 → 20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轮对照；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轮那次训练中第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14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轮效果最好，保存到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models/best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8191500" y="4305300"/>
            <a:ext cx="3314700" cy="533400"/>
          </a:xfrm>
          <a:prstGeom prst="roundRect">
            <a:avLst>
              <a:gd name="adj" fmla="val 14286"/>
            </a:avLst>
          </a:prstGeom>
          <a:solidFill>
            <a:srgbClr val="45A99D">
              <a:alpha val="12000"/>
            </a:srgbClr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8286750" y="4362450"/>
            <a:ext cx="31242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与检测任务正好相反：</a:t>
            </a:r>
            <a:r>
              <a:rPr lang="zh-CN" sz="94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检测怕过拟合，分类怕欠拟合</a:t>
            </a: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——两个任务要用不同策略。</a:t>
            </a:r>
            <a:endParaRPr lang="zh-CN" sz="94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3" name="图片 49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162550"/>
            <a:ext cx="152400" cy="152400"/>
          </a:xfrm>
          <a:prstGeom prst="rect">
            <a:avLst/>
          </a:prstGeom>
        </p:spPr>
      </p:pic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762000" y="51625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11239500" y="51625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20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6" name="图片 495"/>
          <p:cNvPicPr>
            <a:picLocks noChangeAspect="1"/>
          </p:cNvPicPr>
          <p:nvPr/>
        </p:nvPicPr>
        <p:blipFill>
          <a:blip r:embed="rId5"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5700" y="2857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7" name="" descr="&lt;Slide style={{ width: '1280px', height: '720px', padding: '24px 56px', background: '#FFFBF5', position: 'relative', flexDirection: 'column', fontFamily: 'Microsoft YaHei' }}&gt;&#10;    &lt;FAIcon name='balance-scale' style={{ position: 'absolute', top: 30, right: 74, width: 22, height: 22, fill: '#E87E99', opacity: 0.5 }} /&gt;&#10;&#10;    &lt;Box style={{ flexDirection: 'row', alignItems: 'center', gap: 14, height: 76 }}&gt;&#10;        &lt;Box style={{ background: '#E87E99', borderRadius: 10, padding: '8px 14px', border: '2px solid #42425A', boxShadow: '3px 3px 0 #42425A' }}&gt;&#10;            &lt;Text style={{ fontSize: 18, fontWeight: 'bold', color: '#FFFFFF', fontFamily: 'Consolas' }}&gt;06.7&lt;/Text&gt;&#10;        &lt;/Box&gt;&#10;        &lt;Box style={{ flexDirection: 'column', gap: 6 }}&gt;&#10;            &lt;Text style={{ fontSize: 28, fontWeight: 'bold', color: '#42425A' }}&gt;模型效果评估 · 先定规矩，再看数字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罗文龙&lt;/Text&gt;&#10;        &lt;/Box&gt;&#10;    &lt;/Box&gt;&#10;&#10;    &lt;Box style={{ flexDirection: 'row', gap: 16, height: 420, marginTop: 4 }}&gt;&#10;        {/* 左：评价标准 */}&#10;        &lt;Box style={{ flex: 1, flexDirection: 'column', gap: 12 }}&gt;&#10;            &lt;Box style={{ flex: 1, background: '#FFFFFF', border: '2px solid #42425A', borderRadius: 14, boxShadow: '4px 4px 0 #42425A', padding: 14, flexDirection: 'column', gap: 6 }}&gt;&#10;                &lt;Box style={{ flexDirection: 'row', gap: 10 }}&gt;&#10;                    &lt;Box style={{ flex: 1, background: 'rgba(69,169,157,0.12)', border: '2px solid #45A99D', borderRadius: 10, padding: 10, alignItems: 'center', gap: 3 }}&gt;&#10;                        &lt;Text style={{ fontSize: 15, fontWeight: 'bold', color: '#45A99D' }}&gt;可以接受误报&lt;/Text&gt;&#10;                        &lt;Text style={{ fontSize: 12, color: 'rgba(66,66,90,0.75)', textAlign: 'center', lineHeight: 1.4 }}&gt;工程师核实，成本可摊销&lt;/Text&gt;&#10;                    &lt;/Box&gt;&#10;                    &lt;Box style={{ flex: 1, background: 'rgba(232,126,153,0.10)', border: '2px solid #E87E99', borderRadius: 10, padding: 10, alignItems: 'center', gap: 3 }}&gt;&#10;                        &lt;Text style={{ fontSize: 15, fontWeight: 'bold', color: '#E87E99' }}&gt;不能接受漏报&lt;/Text&gt;&#10;                        &lt;Text style={{ fontSize: 12, color: 'rgba(66,66,90,0.75)', textAlign: 'center', lineHeight: 1.4 }}&gt;漏洞进生产被利用，后果不可逆&lt;/Text&gt;&#10;                    &lt;/Box&gt;&#10;                &lt;/Box&gt;&#10;                &lt;Text style={{ fontSize: 13, color: 'rgba(66,66,90,0.8)', lineHeight: 1.5 }}&gt;但误报不是无所谓：&lt;span style={{ fontWeight: 'bold', color: '#E87E99' }}&gt;告警疲劳会让有效召回率下降&lt;/span&gt;——人开始忽略告警时，真实漏洞也一起被跳过。所以评价形式是：在「漏报率 ≤ 目标值」的约束下，最小化误报。&lt;/Text&gt;&#10;            &lt;/Box&gt;&#10;            &lt;Box style={{ background: '#42425A', borderRadius: 12, padding: '10px 14px' }}&gt;&#10;                &lt;Text style={{ fontSize: 13, color: '#FFFBF5', lineHeight: 1.5 }}&gt;推论：阈值应当偏低、&lt;span style={{ fontWeight: 'bold', color: '#E5B45C' }}&gt;召回是第一指标&lt;/span&gt;——没人报案的案件等于没发生。&lt;/Text&gt;&#10;            &lt;/Box&gt;&#10;        &lt;/Box&gt;&#10;&#10;        {/* 右：六项指标 */}&#10;        &lt;Box style={{ flex: 1, background: '#FFFFFF', border: '2px solid #42425A', borderRadius: 14, boxShadow: '4px 4px 0 #42425A', padding: 14, flexDirection: 'column', gap: 8 }}&gt;&#10;            &lt;Text style={{ fontSize: 15, fontWeight: 'bold', color: '#42425A' }}&gt;不只看 accuracy，&lt;span style={{ color: '#6A6FC9' }}&gt;六项指标一起看&lt;/span&gt;&lt;/Text&gt;&#10;            &lt;Box style={{ flex: 1, flexDirection: 'column', gap: 8 }}&gt;&#10;                &lt;Box style={{ flexDirection: 'row', gap: 8, flex: 1 }}&gt;&#10;                    {[&#10;                        { t: 'Precision', d: '报出来的漏洞里有多少是真的', c: '#6A6FC9' },&#10;                        { t: 'Recall', d: '真实漏洞里有多少被找出来', c: '#E87E99' },&#10;                        { t: 'F1', d: '前两者的调和平均', c: '#45A99D' },&#10;                    ].map((it, i) =&gt; (&#10;                        &lt;Box key={i} style={{ flex: 1, background: 'rgba(66,66,90,0.04)', borderRadius: 10, padding: 10, flexDirection: 'column', gap: 3, justifyContent: 'center' }}&gt;&#10;                            &lt;Text style={{ fontSize: 14, fontWeight: 'bold', color: it.c, fontFamily: 'Consolas' }}&gt;{it.t}&lt;/Text&gt;&#10;                            &lt;Text style={{ fontSize: 11.5, color: 'rgba(66,66,90,0.75)', lineHeight: 1.4 }}&gt;{it.d}&lt;/Text&gt;&#10;                        &lt;/Box&gt;&#10;                    ))}&#10;                &lt;/Box&gt;&#10;                &lt;Box style={{ flexDirection: 'row', gap: 8, flex: 1 }}&gt;&#10;                    {[&#10;                        { t: 'MCC', d: '-1~1，不平衡数据下比 F1 更可靠', c: '#E5B45C' },&#10;                        { t: 'ROC-AUC', d: '不同阈值下的整体排序能力', c: '#6A6FC9' },&#10;                        { t: 'PR-AUC', d: '聚焦正类，不平衡场景更可信', c: '#E87E99' },&#10;                    ].map((it, i) =&gt; (&#10;                        &lt;Box key={i} style={{ flex: 1, background: 'rgba(66,66,90,0.04)', borderRadius: 10, padding: 10, flexDirection: 'column', gap: 3, justifyContent: 'center' }}&gt;&#10;                            &lt;Text style={{ fontSize: 14, fontWeight: 'bold', color: it.c, fontFamily: 'Consolas' }}&gt;{it.t}&lt;/Text&gt;&#10;                            &lt;Text style={{ fontSize: 11.5, color: 'rgba(66,66,90,0.75)', lineHeight: 1.4 }}&gt;{it.d}&lt;/Text&gt;&#10;                        &lt;/Box&gt;&#10;                    ))}&#10;                &lt;/Box&gt;&#10;            &lt;/Box&gt;&#10;            &lt;Box style={{ background: 'rgba(106,111,201,0.08)', borderRadius: 10, padding: '7px 12px' }}&gt;&#10;                &lt;Text style={{ fontSize: 12.5, color: '#42425A', lineHeight: 1.45 }}&gt;读报告的顺序：&lt;span style={{ fontWeight: 'bold', color: '#6A6FC9' }}&gt;先看召回是否达验收线 → 再看 F1 与 PR-AUC 判断误报 → 最后看 MCC&lt;/span&gt; 确认不是在赌多数类。&lt;/Text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矩形 4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499" name="圆角矩形 498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06.7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1314450" y="371475"/>
            <a:ext cx="42767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模型效果评估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先定规矩，再看数字</a:t>
            </a:r>
            <a:endParaRPr lang="zh-CN" sz="21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2" name="圆角矩形 501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503" name="圆角矩形 502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504" name="图片 50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罗文龙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圆角矩形 505"/>
          <p:cNvSpPr/>
          <p:nvPr/>
        </p:nvSpPr>
        <p:spPr>
          <a:xfrm>
            <a:off x="533400" y="990600"/>
            <a:ext cx="5486400" cy="34671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07" name="圆角矩形 506"/>
          <p:cNvSpPr/>
          <p:nvPr/>
        </p:nvSpPr>
        <p:spPr>
          <a:xfrm>
            <a:off x="666750" y="1123950"/>
            <a:ext cx="2562225" cy="590550"/>
          </a:xfrm>
          <a:prstGeom prst="roundRect">
            <a:avLst>
              <a:gd name="adj" fmla="val 16129"/>
            </a:avLst>
          </a:prstGeom>
          <a:solidFill>
            <a:srgbClr val="45A99D">
              <a:alpha val="12000"/>
            </a:srgbClr>
          </a:solidFill>
          <a:ln w="25400">
            <a:solidFill>
              <a:srgbClr val="45A99D"/>
            </a:solidFill>
            <a:prstDash val="solid"/>
          </a:ln>
        </p:spPr>
        <p:txBody>
          <a:bodyPr/>
          <a:p/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1524000" y="121920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可以接受误报</a:t>
            </a:r>
            <a:endParaRPr lang="zh-CN" sz="1125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1323975" y="1419225"/>
            <a:ext cx="12573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工程师核实，成本可摊销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圆角矩形 509"/>
          <p:cNvSpPr/>
          <p:nvPr/>
        </p:nvSpPr>
        <p:spPr>
          <a:xfrm>
            <a:off x="3324225" y="1123950"/>
            <a:ext cx="2562225" cy="590550"/>
          </a:xfrm>
          <a:prstGeom prst="roundRect">
            <a:avLst>
              <a:gd name="adj" fmla="val 16129"/>
            </a:avLst>
          </a:prstGeom>
          <a:solidFill>
            <a:srgbClr val="E87E99">
              <a:alpha val="10000"/>
            </a:srgbClr>
          </a:solidFill>
          <a:ln w="25400">
            <a:solidFill>
              <a:srgbClr val="E87E99"/>
            </a:solidFill>
            <a:prstDash val="solid"/>
          </a:ln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4181475" y="121920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不能接受漏报</a:t>
            </a:r>
            <a:endParaRPr lang="zh-CN" sz="1125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3810000" y="1419225"/>
            <a:ext cx="16002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漏洞进生产被利用，后果不可逆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666750" y="1771650"/>
            <a:ext cx="52197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但误报不是无所谓：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告警疲劳会让有效召回率下降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——人开始忽略告警时，真实漏洞也一起被跳过。所以评价形式是：在「漏报率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≤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目标值」的约束下，最小化误报。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圆角矩形 513"/>
          <p:cNvSpPr/>
          <p:nvPr/>
        </p:nvSpPr>
        <p:spPr>
          <a:xfrm>
            <a:off x="533400" y="4572000"/>
            <a:ext cx="5486400" cy="419100"/>
          </a:xfrm>
          <a:prstGeom prst="roundRect">
            <a:avLst>
              <a:gd name="adj" fmla="val 27273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666750" y="4667250"/>
            <a:ext cx="5219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推论：阈值应当偏低、</a:t>
            </a:r>
            <a:r>
              <a:rPr lang="zh-CN" sz="97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召回是第一指标</a:t>
            </a:r>
            <a:r>
              <a:rPr lang="zh-CN" sz="97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——没人报案的案件等于没发生。</a:t>
            </a:r>
            <a:endParaRPr lang="zh-CN" sz="97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6" name="圆角矩形 515"/>
          <p:cNvSpPr/>
          <p:nvPr/>
        </p:nvSpPr>
        <p:spPr>
          <a:xfrm>
            <a:off x="6172200" y="990600"/>
            <a:ext cx="54864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6305550" y="1123950"/>
            <a:ext cx="5219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不只看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accuracy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1125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六项指标一起看</a:t>
            </a:r>
            <a:endParaRPr lang="zh-CN" sz="1125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圆角矩形 517"/>
          <p:cNvSpPr/>
          <p:nvPr/>
        </p:nvSpPr>
        <p:spPr>
          <a:xfrm>
            <a:off x="6305550" y="1371600"/>
            <a:ext cx="1685925" cy="1304925"/>
          </a:xfrm>
          <a:prstGeom prst="roundRect">
            <a:avLst>
              <a:gd name="adj" fmla="val 7299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6400800" y="1838325"/>
            <a:ext cx="149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Precision</a:t>
            </a:r>
            <a:endParaRPr lang="en-US" sz="10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6400800" y="2028825"/>
            <a:ext cx="149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报出来的漏洞里有多少是真的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圆角矩形 520"/>
          <p:cNvSpPr/>
          <p:nvPr/>
        </p:nvSpPr>
        <p:spPr>
          <a:xfrm>
            <a:off x="8067675" y="1371600"/>
            <a:ext cx="1695450" cy="1304925"/>
          </a:xfrm>
          <a:prstGeom prst="roundRect">
            <a:avLst>
              <a:gd name="adj" fmla="val 7299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8162925" y="1838325"/>
            <a:ext cx="1504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Recall</a:t>
            </a:r>
            <a:endParaRPr lang="en-US" sz="10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8162925" y="2028825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真实漏洞里有多少被找出来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4" name="圆角矩形 523"/>
          <p:cNvSpPr/>
          <p:nvPr/>
        </p:nvSpPr>
        <p:spPr>
          <a:xfrm>
            <a:off x="9839325" y="1371600"/>
            <a:ext cx="1685925" cy="1304925"/>
          </a:xfrm>
          <a:prstGeom prst="roundRect">
            <a:avLst>
              <a:gd name="adj" fmla="val 7299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9934575" y="1838325"/>
            <a:ext cx="149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F1</a:t>
            </a:r>
            <a:endParaRPr lang="en-US" sz="10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934575" y="2028825"/>
            <a:ext cx="149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前两者的调和平均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圆角矩形 526"/>
          <p:cNvSpPr/>
          <p:nvPr/>
        </p:nvSpPr>
        <p:spPr>
          <a:xfrm>
            <a:off x="6305550" y="2752725"/>
            <a:ext cx="1685925" cy="1476375"/>
          </a:xfrm>
          <a:prstGeom prst="roundRect">
            <a:avLst>
              <a:gd name="adj" fmla="val 6452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6400800" y="3209925"/>
            <a:ext cx="149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MCC</a:t>
            </a:r>
            <a:endParaRPr lang="en-US" sz="105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6400800" y="3400425"/>
            <a:ext cx="1495425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-1~1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，不平衡数据下比</a:t>
            </a:r>
            <a:r>
              <a:rPr lang="en-US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F1 </a:t>
            </a: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更可靠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圆角矩形 529"/>
          <p:cNvSpPr/>
          <p:nvPr/>
        </p:nvSpPr>
        <p:spPr>
          <a:xfrm>
            <a:off x="8067675" y="2752725"/>
            <a:ext cx="1695450" cy="1476375"/>
          </a:xfrm>
          <a:prstGeom prst="roundRect">
            <a:avLst>
              <a:gd name="adj" fmla="val 6452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8162925" y="3305175"/>
            <a:ext cx="1504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ROC-AUC</a:t>
            </a:r>
            <a:endParaRPr lang="en-US" sz="10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8162925" y="3495675"/>
            <a:ext cx="1504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不同阈值下的整体排序能力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圆角矩形 532"/>
          <p:cNvSpPr/>
          <p:nvPr/>
        </p:nvSpPr>
        <p:spPr>
          <a:xfrm>
            <a:off x="9839325" y="2752725"/>
            <a:ext cx="1685925" cy="1476375"/>
          </a:xfrm>
          <a:prstGeom prst="roundRect">
            <a:avLst>
              <a:gd name="adj" fmla="val 6452"/>
            </a:avLst>
          </a:prstGeom>
          <a:solidFill>
            <a:srgbClr val="42425A">
              <a:alpha val="4000"/>
            </a:srgbClr>
          </a:solidFill>
        </p:spPr>
        <p:txBody>
          <a:bodyPr/>
          <a:p/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9934575" y="3305175"/>
            <a:ext cx="1495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PR-AUC</a:t>
            </a:r>
            <a:endParaRPr lang="en-US" sz="10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9934575" y="3495675"/>
            <a:ext cx="1495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5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聚焦正类，不平衡场景更可信</a:t>
            </a:r>
            <a:endParaRPr lang="zh-CN" sz="865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圆角矩形 535"/>
          <p:cNvSpPr/>
          <p:nvPr/>
        </p:nvSpPr>
        <p:spPr>
          <a:xfrm>
            <a:off x="6305550" y="4305300"/>
            <a:ext cx="5219700" cy="552450"/>
          </a:xfrm>
          <a:prstGeom prst="roundRect">
            <a:avLst>
              <a:gd name="adj" fmla="val 17241"/>
            </a:avLst>
          </a:prstGeom>
          <a:solidFill>
            <a:srgbClr val="6A6FC9">
              <a:alpha val="8000"/>
            </a:srgbClr>
          </a:solidFill>
        </p:spPr>
        <p:txBody>
          <a:bodyPr/>
          <a:p/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6419850" y="4371975"/>
            <a:ext cx="49911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读报告的顺序：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先看召回是否达验收线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再看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F1 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PR-AUC 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判断误报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最后看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MCC</a:t>
            </a:r>
            <a:r>
              <a:rPr lang="en-US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4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确认不是在赌多数类。</a:t>
            </a:r>
            <a:endParaRPr lang="zh-CN" sz="94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8" name="图片 53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162550"/>
            <a:ext cx="152400" cy="152400"/>
          </a:xfrm>
          <a:prstGeom prst="rect">
            <a:avLst/>
          </a:prstGeom>
        </p:spPr>
      </p:pic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762000" y="51625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11239500" y="51625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21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41" name="图片 540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2" name="" descr="&lt;Slide style={{ width: '1280px', height: '720px', padding: '24px 56px', background: '#FFFBF5', position: 'relative', flexDirection: 'column', fontFamily: 'Microsoft YaHei' }}&gt;&#10;    &lt;FAIcon name='chart-line' style={{ position: 'absolute', top: 30, right: 74, width: 22, height: 22, fill: '#6A6FC9', opacity: 0.5 }} /&gt;&#10;&#10;    &lt;Box style={{ flexDirection: 'row', alignItems: 'center', gap: 14, height: 76 }}&gt;&#10;        &lt;Box style={{ background: '#E87E99', borderRadius: 10, padding: '8px 14px', border: '2px solid #42425A', boxShadow: '3px 3px 0 #42425A' }}&gt;&#10;            &lt;Text style={{ fontSize: 18, fontWeight: 'bold', color: '#FFFFFF', fontFamily: 'Consolas' }}&gt;06.7&lt;/Text&gt;&#10;        &lt;/Box&gt;&#10;        &lt;Box style={{ flexDirection: 'column', gap: 6 }}&gt;&#10;            &lt;Text style={{ fontSize: 28, fontWeight: 'bold', color: '#42425A' }}&gt;模型效果评估 · 实测数据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罗文龙&lt;/Text&gt;&#10;        &lt;/Box&gt;&#10;    &lt;/Box&gt;&#10;&#10;    &lt;Box style={{ flexDirection: 'row', gap: 16, height: 370, marginTop: 2 }}&gt;&#10;        {/* 检测 */}&#10;        &lt;Box style={{ flex: 3, background: '#FFFFFF', border: '2px solid #42425A', borderRadius: 14, boxShadow: '4px 4px 0 #42425A', padding: 12, flexDirection: 'column', gap: 6 }}&gt;&#10;            &lt;Text style={{ fontSize: 15, fontWeight: 'bold', color: '#42425A' }}&gt;漏洞检测 &lt;span style={{ fontSize: 12, color: 'rgba(66,66,90,0.55)' }}&gt;threshold = 0.5000 · 按 group 8:1:1 划分&lt;/span&gt;&lt;/Text&gt;&#10;            &lt;Box style={{ flex: 1 }}&gt;&#10;                &lt;Table&#10;                    style={{ width: '100%', height: '100%' }}&#10;                    defaultTextStyle={{ fontSize: 13, textAlign: 'center', color: '#42425A' }}&#10;                    defaultCellStyle={{&#10;                        border: {&#10;                            left: { width: 1, color: '#E8E4DA' },&#10;                            right: { width: 1, color: '#E8E4DA' },&#10;                            top: { width: 1, color: '#E8E4DA' },&#10;                            bottom: { width: 1, color: '#E8E4DA' },&#10;                        },&#10;                    }}&#10;                    cells={[&#10;                        [&#10;                            { text: '集合', textStyle: { bold: true, color: '#FFFFFF', fontSize: 13 }, cellStyle: { background: { color: '#6A6FC9' } } },&#10;                            { text: 'acc', textStyle: { bold: true, color: '#FFFFFF', fontSize: 13 }, cellStyle: { background: { color: '#6A6FC9' } } },&#10;                            { text: 'prec', textStyle: { bold: true, color: '#FFFFFF', fontSize: 13 }, cellStyle: { background: { color: '#6A6FC9' } } },&#10;                            { text: 'recall', textStyle: { bold: true, color: '#FFFFFF', fontSize: 13 }, cellStyle: { background: { color: '#6A6FC9' } } },&#10;                            { text: 'F1', textStyle: { bold: true, color: '#FFFFFF', fontSize: 13 }, cellStyle: { background: { color: '#6A6FC9' } } },&#10;                            { text: 'MCC', textStyle: { bold: true, color: '#FFFFFF', fontSize: 13 }, cellStyle: { background: { color: '#6A6FC9' } } },&#10;                            { text: 'ROC-AUC', textStyle: { bold: true, color: '#FFFFFF', fontSize: 13 }, cellStyle: { background: { color: '#6A6FC9' } } },&#10;                            { text: 'PR-AUC', textStyle: { bold: true, color: '#FFFFFF', fontSize: 13 }, cellStyle: { background: { color: '#6A6FC9' } } },&#10;                        ],&#10;                        ['VAL', '0.7532', '0.7048', '0.7503', '0.7268', '0.5030', '0.8350', '0.7867'],&#10;                        [&#10;                            { text: 'TEST', textStyle: { bold: true } },&#10;                            { text: '0.7645', cellStyle: { background: { color: 'rgba(69,169,157,0.14)' } } },&#10;                            { text: '0.7189', cellStyle: { background: { color: 'rgba(69,169,157,0.14)' } } },&#10;                            { text: '0.7796', textStyle: { bold: true, color: '#E87E99' }, cellStyle: { background: { color: 'rgba(69,169,157,0.14)' } } },&#10;                            { text: '0.7480', textStyle: { bold: true, color: '#E87E99' }, cellStyle: { background: { color: 'rgba(69,169,157,0.14)' } } },&#10;                            { text: '0.5291', cellStyle: { background: { color: 'rgba(69,169,157,0.14)' } } },&#10;                            { text: '0.8382', cellStyle: { background: { color: 'rgba(69,169,157,0.14)' } } },&#10;                            { text: '0.7717', cellStyle: { background: { color: 'rgba(69,169,157,0.14)' } } },&#10;                        ],&#10;                    ]}&#10;                /&gt;&#10;            &lt;/Box&gt;&#10;            &lt;Text style={{ fontSize: 12, color: 'rgba(66,66,90,0.75)', lineHeight: 1.4 }}&gt;混淆情况：tp 665 / fp 260 / fn 188 / tn 789——误报与漏报都在两百条量级，必须同时盯。测试 F1 0.7480 落在文献区间下沿：&lt;span style={{ fontWeight: 'bold', color: '#6A6FC9' }}&gt;方向正确，轮数与数据还有空间&lt;/span&gt;。&lt;/Text&gt;&#10;        &lt;/Box&gt;&#10;&#10;        {/* 分类 */}&#10;        &lt;Box style={{ flex: 2, background: '#FFFFFF', border: '2px solid #42425A', borderRadius: 14, boxShadow: '4px 4px 0 #42425A', padding: 12, flexDirection: 'column', gap: 6 }}&gt;&#10;            &lt;Text style={{ fontSize: 15, fontWeight: 'bold', color: '#42425A' }}&gt;漏洞分类 &lt;span style={{ fontSize: 12, color: 'rgba(66,66,90,0.55)' }}&gt;28 类（27 CWE + OTHER）&lt;/span&gt;&lt;/Text&gt;&#10;            &lt;Box style={{ flex: 1 }}&gt;&#10;                &lt;Table&#10;                    style={{ width: '100%', height: '100%' }}&#10;                    defaultTextStyle={{ fontSize: 13, textAlign: 'center', color: '#42425A' }}&#10;                    defaultCellStyle={{&#10;                        border: {&#10;                            left: { width: 1, color: '#E8E4DA' },&#10;                            right: { width: 1, color: '#E8E4DA' },&#10;                            top: { width: 1, color: '#E8E4DA' },&#10;                            bottom: { width: 1, color: '#E8E4DA' },&#10;                        },&#10;                    }}&#10;                    cells={[&#10;                        [&#10;                            { text: '指标', textStyle: { bold: true, color: '#FFFFFF', fontSize: 13 }, cellStyle: { background: { color: '#E87E99' } } },&#10;                            { text: 'VAL', textStyle: { bold: true, color: '#FFFFFF', fontSize: 13 }, cellStyle: { background: { color: '#E87E99' } } },&#10;                            { text: 'TEST', textStyle: { bold: true, color: '#FFFFFF', fontSize: 13 }, cellStyle: { background: { color: '#E87E99' } } },&#10;                        ],&#10;                        ['accuracy', '0.2757', '0.2671'],&#10;                        [{ text: 'macro_f1', textStyle: { bold: true } }, '0.2000', { text: '0.1791', textStyle: { bold: true, color: '#E87E99' } }],&#10;                        ['weighted_f1', '0.2549', '0.2522'],&#10;                        [{ text: 'top3_accuracy', textStyle: { bold: true } }, '0.4554', { text: '0.4425', textStyle: { bold: true, color: '#6A6FC9' } }],&#10;                    ]}&#10;                /&gt;&#10;            &lt;/Box&gt;&#10;            &lt;Text style={{ fontSize: 12, color: 'rgba(66,66,90,0.75)', lineHeight: 1.4 }}&gt;宏平均 0.18 vs 加权 0.25：头部类能答、长尾类几乎不会答。Top-3 约 0.44，配合人工复核具备辅助价值——&lt;span style={{ fontWeight: 'bold', color: '#E87E99' }}&gt;分类是当前最弱一环&lt;/span&gt;，提升优先从长尾数据与类别体系入手。&lt;/Text&gt;&#10;        &lt;/Box&gt;&#10;    &lt;/Box&gt;&#10;&#10;    &lt;Box style={{ marginTop: 12, background: '#42425A', borderRadius: 12, padding: '8px 18px' }}&gt;&#10;        &lt;Text style={{ fontSize: 13.5, color: '#FFFBF5', lineHeight: 1.5 }}&gt;口径说明：以上均为&lt;span style={{ fontWeight: 'bold', color: '#E5B45C' }}&gt;标准测试集&lt;/span&gt;结果（公开数据集标准划分），与真实项目的函数分布仍有差异——这正是「下一步」要处理的问题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矩形 5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544" name="圆角矩形 543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545" name="文本框 544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06.7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1314450" y="371475"/>
            <a:ext cx="29432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模型效果评估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实测数据</a:t>
            </a:r>
            <a:endParaRPr lang="zh-CN" sz="21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7" name="圆角矩形 546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548" name="圆角矩形 547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549" name="图片 54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罗文龙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1" name="圆角矩形 550"/>
          <p:cNvSpPr/>
          <p:nvPr/>
        </p:nvSpPr>
        <p:spPr>
          <a:xfrm>
            <a:off x="533400" y="971550"/>
            <a:ext cx="6581775" cy="35242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647700" y="1085850"/>
            <a:ext cx="6353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漏洞检测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threshold = 0.5000 ·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group 8:1:1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划分</a:t>
            </a:r>
            <a:endParaRPr lang="zh-CN" sz="900" b="1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53" name="表格 552"/>
          <p:cNvGraphicFramePr/>
          <p:nvPr/>
        </p:nvGraphicFramePr>
        <p:xfrm>
          <a:off x="647700" y="1314450"/>
          <a:ext cx="6353175" cy="2619375"/>
        </p:xfrm>
        <a:graphic>
          <a:graphicData uri="http://schemas.openxmlformats.org/drawingml/2006/table">
            <a:tbl>
              <a:tblPr/>
              <a:tblGrid>
                <a:gridCol w="603682"/>
                <a:gridCol w="748798"/>
                <a:gridCol w="748798"/>
                <a:gridCol w="777821"/>
                <a:gridCol w="777821"/>
                <a:gridCol w="748798"/>
                <a:gridCol w="1053542"/>
                <a:gridCol w="893914"/>
              </a:tblGrid>
              <a:tr h="8731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集合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prec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recall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F1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MCC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ROC-AUC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PR-AUC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</a:tr>
              <a:tr h="8731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0.7532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0.7048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0.7503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0.7268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0.5030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0.8350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0.7867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312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TEST</a:t>
                      </a:r>
                      <a:endParaRPr sz="975" b="1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0.7645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0.7189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87E9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0.7796</a:t>
                      </a:r>
                      <a:endParaRPr sz="975" b="1">
                        <a:solidFill>
                          <a:srgbClr val="E87E9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87E9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0.7480</a:t>
                      </a:r>
                      <a:endParaRPr sz="975" b="1">
                        <a:solidFill>
                          <a:srgbClr val="E87E9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0.5291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0.8382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0.7717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>
                        <a:alpha val="1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647700" y="3990975"/>
            <a:ext cx="63531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混淆情况：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tp 665 / fp 260 / fn 188 / tn 789——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误报与漏报都在两百条量级，必须同时盯。测试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F1 0.7480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落在文献区间下沿：</a:t>
            </a:r>
            <a:r>
              <a:rPr lang="zh-CN" sz="90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方向正确，轮数与数据还有空间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圆角矩形 554"/>
          <p:cNvSpPr/>
          <p:nvPr/>
        </p:nvSpPr>
        <p:spPr>
          <a:xfrm>
            <a:off x="7267575" y="971550"/>
            <a:ext cx="4391025" cy="35242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7381875" y="1085850"/>
            <a:ext cx="41624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漏洞分类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28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类（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27 CWE + OTHER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 b="1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57" name="表格 556"/>
          <p:cNvGraphicFramePr/>
          <p:nvPr/>
        </p:nvGraphicFramePr>
        <p:xfrm>
          <a:off x="7381875" y="1314450"/>
          <a:ext cx="4162425" cy="2428875"/>
        </p:xfrm>
        <a:graphic>
          <a:graphicData uri="http://schemas.openxmlformats.org/drawingml/2006/table">
            <a:tbl>
              <a:tblPr/>
              <a:tblGrid>
                <a:gridCol w="2055172"/>
                <a:gridCol w="1033595"/>
                <a:gridCol w="1073657"/>
              </a:tblGrid>
              <a:tr h="4857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7E9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7E9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TEST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7E99"/>
                    </a:solidFill>
                  </a:tcPr>
                </a:tc>
              </a:tr>
              <a:tr h="4857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accuracy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0.2757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0.2671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57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macro_f1</a:t>
                      </a:r>
                      <a:endParaRPr sz="975" b="1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0.2000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E87E9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0.1791</a:t>
                      </a:r>
                      <a:endParaRPr sz="975" b="1">
                        <a:solidFill>
                          <a:srgbClr val="E87E9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57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weighted_f1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0.2549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0.2522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57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top3_accuracy</a:t>
                      </a:r>
                      <a:endParaRPr sz="975" b="1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0.4554</a:t>
                      </a:r>
                      <a:endParaRPr sz="97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6A6FC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0.4425</a:t>
                      </a:r>
                      <a:endParaRPr sz="975" b="1">
                        <a:solidFill>
                          <a:srgbClr val="6A6FC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7381875" y="3800475"/>
            <a:ext cx="41624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宏平均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0.18 vs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加权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0.25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：头部类能答、长尾类几乎不会答。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Top-3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0.44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，配合人工复核具备辅助价值——</a:t>
            </a:r>
            <a:r>
              <a:rPr lang="zh-CN" sz="900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分类是当前最弱一环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，提升优先从长尾数据与类别体系入手。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圆角矩形 558"/>
          <p:cNvSpPr/>
          <p:nvPr/>
        </p:nvSpPr>
        <p:spPr>
          <a:xfrm>
            <a:off x="533400" y="46101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704850" y="4686300"/>
            <a:ext cx="107823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口径说明：以上均为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标准测试集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结果（公开数据集标准划分），与真实项目的函数分布仍有差异——这正是「下一步」要处理的问题。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1" name="图片 56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172075"/>
            <a:ext cx="152400" cy="152400"/>
          </a:xfrm>
          <a:prstGeom prst="rect">
            <a:avLst/>
          </a:prstGeom>
        </p:spPr>
      </p:pic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762000" y="51720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11239500" y="51720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22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4" name="图片 563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5" name="" descr="&lt;Slide style={{ width: '1280px', height: '720px', padding: '24px 56px', background: '#FFFBF5', position: 'relative', flexDirection: 'column', fontFamily: 'Microsoft YaHei' }}&gt;&#10;    &lt;FAIcon name='star' style={{ position: 'absolute', top: 28, right: 70, width: 20, height: 20, fill: '#E5B45C', opacity: 0.6 }} /&gt;&#10;&#10;    &lt;Box style={{ flexDirection: 'row', alignItems: 'center', gap: 14, height: 76 }}&gt;&#10;        &lt;Box style={{ background: '#E87E99', borderRadius: 10, padding: '8px 14px', border: '2px solid #42425A', boxShadow: '3px 3px 0 #42425A' }}&gt;&#10;            &lt;Text style={{ fontSize: 18, fontWeight: 'bold', color: '#FFFFFF', fontFamily: 'Consolas' }}&gt;06.7&lt;/Text&gt;&#10;        &lt;/Box&gt;&#10;        &lt;Box style={{ flexDirection: 'column', gap: 6 }}&gt;&#10;            &lt;Text style={{ fontSize: 27, fontWeight: 'bold', color: '#42425A' }}&gt;阈值权衡与验收线 · 下一步与工程亮点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罗文龙&lt;/Text&gt;&#10;        &lt;/Box&gt;&#10;    &lt;/Box&gt;&#10;&#10;    &lt;Box style={{ flexDirection: 'row', gap: 16, height: 420, marginTop: 2 }}&gt;&#10;        {/* 左：三档阈值表 */}&#10;        &lt;Box style={{ flex: 3, flexDirection: 'column', gap: 10 }}&gt;&#10;            &lt;Box style={{ flex: 1, background: '#FFFFFF', border: '2px solid #42425A', borderRadius: 14, boxShadow: '4px 4px 0 #42425A', padding: 12, flexDirection: 'column', gap: 6 }}&gt;&#10;                &lt;Text style={{ fontSize: 14.5, fontWeight: 'bold', color: '#42425A' }}&gt;同一个模型，只调判定阈值 &lt;span style={{ fontSize: 12, color: 'rgba(66,66,90,0.55)' }}&gt;默认 0.5 只是数学中点&lt;/span&gt;&lt;/Text&gt;&#10;                &lt;Box style={{ flex: 1 }}&gt;&#10;                    &lt;Table&#10;                        style={{ width: '100%', height: '100%' }}&#10;                        defaultTextStyle={{ fontSize: 13.5, textAlign: 'center', color: '#42425A' }}&#10;                        defaultCellStyle={{&#10;                            border: {&#10;                                left: { width: 1, color: '#E8E4DA' },&#10;                                right: { width: 1, color: '#E8E4DA' },&#10;                                top: { width: 1, color: '#E8E4DA' },&#10;                                bottom: { width: 1, color: '#E8E4DA' },&#10;                            },&#10;                        }}&#10;                        cells={[&#10;                            [&#10;                                { text: '阈值', textStyle: { bold: true, color: '#FFFFFF', fontSize: 13.5 }, cellStyle: { background: { color: '#6A6FC9' } } },&#10;                                { text: 'precision', textStyle: { bold: true, color: '#FFFFFF', fontSize: 13.5 }, cellStyle: { background: { color: '#6A6FC9' } } },&#10;                                { text: 'recall', textStyle: { bold: true, color: '#FFFFFF', fontSize: 13.5 }, cellStyle: { background: { color: '#6A6FC9' } } },&#10;                                { text: 'F1', textStyle: { bold: true, color: '#FFFFFF', fontSize: 13.5 }, cellStyle: { background: { color: '#6A6FC9' } } },&#10;                                { text: '漏报 FN', textStyle: { bold: true, color: '#FFFFFF', fontSize: 13.5 }, cellStyle: { background: { color: '#6A6FC9' } } },&#10;                                { text: '误报 FP', textStyle: { bold: true, color: '#FFFFFF', fontSize: 13.5 }, cellStyle: { background: { color: '#6A6FC9' } } },&#10;                            ],&#10;                            ['0.50（默认）', '0.7180', '0.7819', '0.7486', { text: '186', textStyle: { color: '#E87E99', bold: true } }, '262'],&#10;                            ['0.30', '0.6772', '0.8804', { text: '0.7655', textStyle: { bold: true } }, '102', '358'],&#10;                            [{ text: '0.11（验收线）', textStyle: { bold: true } }, '0.6202', { text: '0.9437', textStyle: { bold: true, color: '#45A99D' } }, '0.7485', { text: '48', textStyle: { bold: true, color: '#45A99D' } }, { text: '493', textStyle: { color: '#E5B45C', bold: true } }],&#10;                        ]}&#10;                    /&gt;&#10;                &lt;/Box&gt;&#10;                &lt;Text style={{ fontSize: 12, color: 'rgba(66,66,90,0.75)', lineHeight: 1.4 }}&gt;F1 几乎不变——这不是「变好」，而是把风险从一个口袋挪到另一个口袋；选哪档，取决于业务能承受多少误报。&lt;/Text&gt;&#10;            &lt;/Box&gt;&#10;            &lt;Box style={{ background: 'rgba(232,126,153,0.10)', border: '2px dashed #E87E99', borderRadius: 12, padding: '8px 14px' }}&gt;&#10;                &lt;Text style={{ fontSize: 13, color: '#42425A', lineHeight: 1.5 }}&gt;工程亮点：&lt;span style={{ fontWeight: 'bold', color: '#E87E99' }}&gt;阈值不写死&lt;/span&gt;——tune_threshold.py 扫一遍阈值，把「目标召回率下误报最少」的点存进 threshold.json，生产环境直接读。&lt;/Text&gt;&#10;            &lt;/Box&gt;&#10;        &lt;/Box&gt;&#10;&#10;        {/* 右：业务换算 + 下一步 */}&#10;        &lt;Box style={{ flex: 2, flexDirection: 'column', gap: 10 }}&gt;&#10;            &lt;Box style={{ background: '#FFFFFF', border: '2px solid #42425A', borderRadius: 14, boxShadow: '4px 4px 0 #42425A', padding: 14, flexDirection: 'column', gap: 4, alignItems: 'center' }}&gt;&#10;                &lt;Text style={{ fontSize: 13, fontWeight: 'bold', color: 'rgba(66,66,90,0.6)' }}&gt;阈值 0.50 → 0.11 的业务换算&lt;/Text&gt;&#10;                &lt;Box style={{ flexDirection: 'row', alignItems: 'center', gap: 12 }}&gt;&#10;                    &lt;Text style={{ fontSize: 40, fontWeight: 'bold', color: '#E87E99', fontFamily: 'Consolas' }}&gt;186&lt;/Text&gt;&#10;                    &lt;FAIcon name='arrow-right' style={{ fill: '#42425A', width: 22, height: 22 }} /&gt;&#10;                    &lt;Text style={{ fontSize: 40, fontWeight: 'bold', color: '#45A99D', fontFamily: 'Consolas' }}&gt;48&lt;/Text&gt;&#10;                &lt;/Box&gt;&#10;                &lt;Text style={{ fontSize: 13, color: 'rgba(66,66,90,0.78)', textAlign: 'center', lineHeight: 1.45 }}&gt;漏报减少 &lt;span style={{ fontWeight: 'bold', color: '#E87E99' }}&gt;138 条&lt;/span&gt;真实漏洞被提前发现；代价是误报 +231 条需人工核实——两笔账要一起摆上桌。&lt;/Text&gt;&#10;            &lt;/Box&gt;&#10;            &lt;Box style={{ background: '#45A99D', border: '2px solid #42425A', borderRadius: 12, boxShadow: '4px 4px 0 #42425A', padding: '10px 14px', flexDirection: 'row', alignItems: 'center', gap: 10 }}&gt;&#10;                &lt;FAIcon name='check-circle' style={{ fill: '#FFFFFF', width: 24, height: 24 }} /&gt;&#10;                &lt;Text style={{ fontSize: 14, fontWeight: 'bold', color: '#FFFFFF', lineHeight: 1.4 }}&gt;验收线达成：目标召回 90% 对应阈值 0.11，召回可调至 94%+&lt;/Text&gt;&#10;            &lt;/Box&gt;&#10;            &lt;Box style={{ flex: 1, background: '#FFFFFF', border: '2px solid #42425A', borderRadius: 14, boxShadow: '4px 4px 0 #42425A', padding: 12, flexDirection: 'column', gap: 5 }}&gt;&#10;                &lt;Text style={{ fontSize: 14, fontWeight: 'bold', color: '#42425A' }}&gt;下一步：用真实项目函数级数据重训&lt;/Text&gt;&#10;                &lt;Text style={{ fontSize: 12.5, color: 'rgba(66,66,90,0.8)', lineHeight: 1.5 }}&gt;训练碎片与真实函数的长度、上下文、依赖都不同，分布差异会推高真实误报。让训练分布与部署分布对齐，是降低真实误报率的&lt;span style={{ fontWeight: 'bold', color: '#6A6FC9' }}&gt;根本方案&lt;/span&gt;。&lt;/Text&gt;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矩形 5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567" name="圆角矩形 566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06.7</a:t>
            </a:r>
            <a:endParaRPr lang="en-US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1314450" y="381000"/>
            <a:ext cx="43815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阈值权衡与验收线</a:t>
            </a:r>
            <a:r>
              <a:rPr lang="en-US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0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下一步与工程亮点</a:t>
            </a:r>
            <a:endParaRPr lang="zh-CN" sz="20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0" name="圆角矩形 569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571" name="圆角矩形 570"/>
          <p:cNvSpPr/>
          <p:nvPr/>
        </p:nvSpPr>
        <p:spPr>
          <a:xfrm>
            <a:off x="10715625" y="447675"/>
            <a:ext cx="94297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572" name="图片 57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8025" y="523875"/>
            <a:ext cx="133350" cy="133350"/>
          </a:xfrm>
          <a:prstGeom prst="rect">
            <a:avLst/>
          </a:prstGeom>
        </p:spPr>
      </p:pic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11077575" y="504825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罗文龙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圆角矩形 573"/>
          <p:cNvSpPr/>
          <p:nvPr/>
        </p:nvSpPr>
        <p:spPr>
          <a:xfrm>
            <a:off x="533400" y="971550"/>
            <a:ext cx="6581775" cy="3305175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75" name="文本框 574" descr="{&quot;isTemplate&quot;:true,&quot;type&quot;:&quot;text&quot;}"/>
          <p:cNvSpPr txBox="1"/>
          <p:nvPr/>
        </p:nvSpPr>
        <p:spPr>
          <a:xfrm>
            <a:off x="647700" y="1085850"/>
            <a:ext cx="6353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9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同一个模型，只调判定阈值</a:t>
            </a:r>
            <a:r>
              <a:rPr lang="en-US" sz="109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0.5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只是数学中点</a:t>
            </a:r>
            <a:endParaRPr lang="zh-CN" sz="900" b="1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76" name="表格 575"/>
          <p:cNvGraphicFramePr/>
          <p:nvPr/>
        </p:nvGraphicFramePr>
        <p:xfrm>
          <a:off x="647700" y="1314450"/>
          <a:ext cx="6353175" cy="2590800"/>
        </p:xfrm>
        <a:graphic>
          <a:graphicData uri="http://schemas.openxmlformats.org/drawingml/2006/table">
            <a:tbl>
              <a:tblPr/>
              <a:tblGrid>
                <a:gridCol w="1661552"/>
                <a:gridCol w="1116014"/>
                <a:gridCol w="866625"/>
                <a:gridCol w="866625"/>
                <a:gridCol w="944559"/>
                <a:gridCol w="897799"/>
              </a:tblGrid>
              <a:tr h="6477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阈值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precision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recall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F1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漏报 FN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误报 FP</a:t>
                      </a:r>
                      <a:endParaRPr sz="10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A6FC9"/>
                    </a:solidFill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0.50（默认）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0.7180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0.7819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0.7486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E87E9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186</a:t>
                      </a:r>
                      <a:endParaRPr sz="1015" b="1">
                        <a:solidFill>
                          <a:srgbClr val="E87E9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262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0.30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0.6772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0.8804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0.7655</a:t>
                      </a:r>
                      <a:endParaRPr sz="1015" b="1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358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77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0.11（验收线）</a:t>
                      </a:r>
                      <a:endParaRPr sz="1015" b="1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0.6202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45A99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0.9437</a:t>
                      </a:r>
                      <a:endParaRPr sz="1015" b="1">
                        <a:solidFill>
                          <a:srgbClr val="45A99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0.7485</a:t>
                      </a:r>
                      <a:endParaRPr sz="1015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45A99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48</a:t>
                      </a:r>
                      <a:endParaRPr sz="1015" b="1">
                        <a:solidFill>
                          <a:srgbClr val="45A99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5" b="1">
                          <a:solidFill>
                            <a:srgbClr val="E5B45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493</a:t>
                      </a:r>
                      <a:endParaRPr sz="1015" b="1">
                        <a:solidFill>
                          <a:srgbClr val="E5B45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647700" y="3962400"/>
            <a:ext cx="6353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F1 </a:t>
            </a:r>
            <a:r>
              <a:rPr lang="zh-CN" sz="9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几乎不变——这不是「变好」，而是把风险从一个口袋挪到另一个口袋；选哪档，取决于业务能承受多少误报。</a:t>
            </a:r>
            <a:endParaRPr lang="zh-CN" sz="9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圆角矩形 577"/>
          <p:cNvSpPr/>
          <p:nvPr/>
        </p:nvSpPr>
        <p:spPr>
          <a:xfrm>
            <a:off x="533400" y="4371975"/>
            <a:ext cx="6581775" cy="600075"/>
          </a:xfrm>
          <a:prstGeom prst="roundRect">
            <a:avLst>
              <a:gd name="adj" fmla="val 19048"/>
            </a:avLst>
          </a:prstGeom>
          <a:solidFill>
            <a:srgbClr val="E87E99">
              <a:alpha val="10000"/>
            </a:srgbClr>
          </a:solidFill>
          <a:ln w="25400">
            <a:solidFill>
              <a:srgbClr val="E87E99"/>
            </a:solidFill>
            <a:prstDash val="dash"/>
          </a:ln>
        </p:spPr>
        <p:txBody>
          <a:bodyPr/>
          <a:p/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666750" y="4448175"/>
            <a:ext cx="631507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工程亮点：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阈值不写死</a:t>
            </a:r>
            <a:r>
              <a:rPr lang="en-US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——tune_threshold.py 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扫一遍阈值，把「目标召回率下误报最少」的点存进</a:t>
            </a:r>
            <a:r>
              <a:rPr lang="en-US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threshold.json</a:t>
            </a:r>
            <a:r>
              <a:rPr lang="zh-CN" sz="97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，生产环境直接读。</a:t>
            </a:r>
            <a:endParaRPr lang="zh-CN" sz="97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0" name="圆角矩形 579"/>
          <p:cNvSpPr/>
          <p:nvPr/>
        </p:nvSpPr>
        <p:spPr>
          <a:xfrm>
            <a:off x="7267575" y="971550"/>
            <a:ext cx="4391025" cy="1390650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81" name="文本框 580" descr="{&quot;isTemplate&quot;:true,&quot;type&quot;:&quot;text&quot;}"/>
          <p:cNvSpPr txBox="1"/>
          <p:nvPr/>
        </p:nvSpPr>
        <p:spPr>
          <a:xfrm>
            <a:off x="8629650" y="1104900"/>
            <a:ext cx="1676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r>
              <a:rPr lang="en-US" sz="97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0.50 → 0.11 </a:t>
            </a:r>
            <a:r>
              <a:rPr lang="zh-CN" sz="975" b="1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的业务换算</a:t>
            </a:r>
            <a:endParaRPr lang="zh-CN" sz="975" b="1">
              <a:solidFill>
                <a:srgbClr val="42425A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8724900" y="1295400"/>
            <a:ext cx="62865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186</a:t>
            </a:r>
            <a:endParaRPr lang="en-US" sz="300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583" name="图片 5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7850" y="1419225"/>
            <a:ext cx="209550" cy="209550"/>
          </a:xfrm>
          <a:prstGeom prst="rect">
            <a:avLst/>
          </a:prstGeom>
        </p:spPr>
      </p:pic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9791700" y="1295400"/>
            <a:ext cx="4191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48</a:t>
            </a:r>
            <a:endParaRPr lang="en-US" sz="300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7400925" y="1790700"/>
            <a:ext cx="412432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45000"/>
              </a:lnSpc>
            </a:pP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漏报减少</a:t>
            </a:r>
            <a:r>
              <a:rPr lang="en-US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138 </a:t>
            </a:r>
            <a:r>
              <a:rPr lang="zh-CN" sz="97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真实漏洞被提前发现；代价是误报</a:t>
            </a:r>
            <a:r>
              <a:rPr lang="en-US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+231 </a:t>
            </a:r>
            <a:r>
              <a:rPr lang="zh-CN" sz="975">
                <a:solidFill>
                  <a:srgbClr val="42425A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条需人工核实——两笔账要一起摆上桌。</a:t>
            </a:r>
            <a:endParaRPr lang="zh-CN" sz="975">
              <a:solidFill>
                <a:srgbClr val="42425A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圆角矩形 585"/>
          <p:cNvSpPr/>
          <p:nvPr/>
        </p:nvSpPr>
        <p:spPr>
          <a:xfrm>
            <a:off x="7267575" y="2457450"/>
            <a:ext cx="4391025" cy="419100"/>
          </a:xfrm>
          <a:prstGeom prst="roundRect">
            <a:avLst>
              <a:gd name="adj" fmla="val 27273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pic>
        <p:nvPicPr>
          <p:cNvPr id="587" name="图片 58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0925" y="2552700"/>
            <a:ext cx="228600" cy="228600"/>
          </a:xfrm>
          <a:prstGeom prst="rect">
            <a:avLst/>
          </a:prstGeom>
        </p:spPr>
      </p:pic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7724775" y="2552700"/>
            <a:ext cx="37909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验收线达成：目标召回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90% 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对应阈值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0.11</a:t>
            </a: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，召回可调至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94%+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9" name="圆角矩形 588"/>
          <p:cNvSpPr/>
          <p:nvPr/>
        </p:nvSpPr>
        <p:spPr>
          <a:xfrm>
            <a:off x="7267575" y="2971800"/>
            <a:ext cx="4391025" cy="2000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7381875" y="3086100"/>
            <a:ext cx="41624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下一步：用真实项目函数级数据重训</a:t>
            </a:r>
            <a:endParaRPr lang="zh-CN" sz="105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7381875" y="3295650"/>
            <a:ext cx="41624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训练碎片与真实函数的长度、上下文、依赖都不同，分布差异会推高真实误报。让训练分布与部署分布对齐，是降低真实误报率的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根本方案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92" name="图片 59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" y="5143500"/>
            <a:ext cx="152400" cy="152400"/>
          </a:xfrm>
          <a:prstGeom prst="rect">
            <a:avLst/>
          </a:prstGeom>
        </p:spPr>
      </p:pic>
      <p:sp>
        <p:nvSpPr>
          <p:cNvPr id="593" name="文本框 592" descr="{&quot;isTemplate&quot;:true,&quot;type&quot;:&quot;text&quot;}"/>
          <p:cNvSpPr txBox="1"/>
          <p:nvPr/>
        </p:nvSpPr>
        <p:spPr>
          <a:xfrm>
            <a:off x="762000" y="51435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4" name="文本框 593" descr="{&quot;isTemplate&quot;:true,&quot;type&quot;:&quot;text&quot;}"/>
          <p:cNvSpPr txBox="1"/>
          <p:nvPr/>
        </p:nvSpPr>
        <p:spPr>
          <a:xfrm>
            <a:off x="11239500" y="51435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23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95" name="图片 594"/>
          <p:cNvPicPr>
            <a:picLocks noChangeAspect="1"/>
          </p:cNvPicPr>
          <p:nvPr/>
        </p:nvPicPr>
        <p:blipFill>
          <a:blip r:embed="rId9"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34750" y="2667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6" name="" descr="&lt;Slide style={{ width: '1280px', height: '720px', padding: '24px 56px', background: '#FFFBF5', position: 'relative', flexDirection: 'column', fontFamily: 'Microsoft YaHei' }}&gt;&#10;    &lt;FAIcon name='play-circle' style={{ position: 'absolute', top: 30, right: 74, width: 22, height: 22, fill: '#E5B45C', opacity: 0.6 }} /&gt;&#10;&#10;    &lt;Box style={{ flexDirection: 'row', alignItems: 'center', gap: 14, height: 76 }}&gt;&#10;        &lt;Box style={{ background: '#E5B45C', borderRadius: 10, padding: '8px 14px', border: '2px solid #42425A', boxShadow: '3px 3px 0 #42425A' }}&gt;&#10;            &lt;Text style={{ fontSize: 18, fontWeight: 'bold', color: '#42425A', fontFamily: 'Consolas' }}&gt;06.8&lt;/Text&gt;&#10;        &lt;/Box&gt;&#10;        &lt;Box style={{ flexDirection: 'column', gap: 6 }}&gt;&#10;            &lt;Text style={{ fontSize: 28, fontWeight: 'bold', color: '#42425A' }}&gt;模型演示 &lt;span style={{ fontSize: 17, color: 'rgba(66,66,90,0.5)' }}&gt;· 跑一遍比讲十遍有用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s' style={{ fill: '#E87E99', width: 16, height: 16 }} /&gt;&#10;            &lt;Text style={{ fontSize: 15, color: '#42425A', fontWeight: 'bold' }}&gt;余敏 + 闪闪&lt;/Text&gt;&#10;        &lt;/Box&gt;&#10;    &lt;/Box&gt;&#10;&#10;    &lt;Box style={{ flexDirection: 'row', gap: 16, height: 420, marginTop: 4 }}&gt;&#10;        {/* 检测演示 */}&#10;        &lt;Box style={{ flex: 1, background: '#FFFFFF', border: '2px solid #42425A', borderRadius: 14, boxShadow: '4px 4px 0 #42425A', padding: 14, flexDirection: 'column', gap: 8 }}&gt;&#10;            &lt;Box style={{ background: '#6A6FC9', borderRadius: 8, padding: '3px 12px', border: '2px solid #42425A', alignSelf: 'flex-start' }}&gt;&#10;                &lt;Text style={{ fontSize: 13, fontWeight: 'bold', color: '#FFFFFF' }}&gt;链路一 · 漏洞检测演示&lt;/Text&gt;&#10;            &lt;/Box&gt;&#10;            &lt;CodeBlock&#10;                code={`# 1. 准备输入：一段函数代码&#10;sample = read_function('demo.c')&#10;# 2. 走同一套特征流程&#10;batch = collator([dataset.encode(sample)])&#10;# 3. 加载 best 权重并前向&#10;model = load_from_checkpoint('best')&#10;prob = softmax(model(batch), dim=-1)[1]&#10;# 4. 输出：概率 + 判定 + 置信度`}&#10;                language='python'&#10;                width={540}&#10;                fontSize={11.5}&#10;                theme='github-light'&#10;            /&gt;&#10;            &lt;Box style={{ flex: 1, flexDirection: 'column', gap: 5, justifyContent: 'center' }}&gt;&#10;                {[&#10;                    '看概率而不是二值：0.51 和 0.98 都是「判为漏洞」，可信程度完全不同',&#10;                    '挑阈值附近摇摆的边界样本，最能说明模型学到什么、没学到什么',&#10;                    '误报样本的长相值得收集——它们就是下一轮训练数据的一部分',&#10;                ].map((d, i) =&gt; (&#10;                    &lt;Box key={i} style={{ flexDirection: 'row', gap: 8, alignItems: 'flex-start' }}&gt;&#10;                        &lt;FAIcon name='eye' style={{ fill: '#6A6FC9', width: 14, height: 14, marginTop: 3 }} /&gt;&#10;                        &lt;Text style={{ fontSize: 12.5, color: 'rgba(66,66,90,0.8)', lineHeight: 1.45, flex: 1 }}&gt;{d}&lt;/Text&gt;&#10;                    &lt;/Box&gt;&#10;                ))}&#10;            &lt;/Box&gt;&#10;        &lt;/Box&gt;&#10;&#10;        {/* 分类演示 */}&#10;        &lt;Box style={{ flex: 1, background: '#FFFFFF', border: '2px solid #42425A', borderRadius: 14, boxShadow: '4px 4px 0 #42425A', padding: 14, flexDirection: 'column', gap: 8 }}&gt;&#10;            &lt;Box style={{ background: '#E87E99', borderRadius: 8, padding: '3px 12px', border: '2px solid #42425A', alignSelf: 'flex-start' }}&gt;&#10;                &lt;Text style={{ fontSize: 13, fontWeight: 'bold', color: '#FFFFFF' }}&gt;链路二 · 漏洞分类演示&lt;/Text&gt;&#10;            &lt;/Box&gt;&#10;            &lt;CodeBlock&#10;                code={`# 对检测命中的样本跑分类（top-3 候选）&#10;1) CWE-125   0.41   # 越界读取&#10;2) CWE-787   0.23   # 越界写入&#10;3) CWE-476   0.11   # 空指针解引用&#10;&#10;# 注意：分类模型没有安全类&#10;# 输入必须是检测命中的样本`}&#10;                language='python'&#10;                width={540}&#10;                fontSize={11.5}&#10;                theme='github-light'&#10;            /&gt;&#10;            &lt;Box style={{ flex: 1, flexDirection: 'column', gap: 5, justifyContent: 'center' }}&gt;&#10;                {[&#10;                    'Top-3 比 Top-1 有意义：给人工三个候选，命中率从两成多提到四成多',&#10;                    '前三名分数接近说明模型拿不准；首名大幅领先通常对应典型漏洞模式',&#10;                    '边界：分类数据流在检测之后，安全代码丢进来也会给个 CWE，但没意义',&#10;                ].map((d, i) =&gt; (&#10;                    &lt;Box key={i} style={{ flexDirection: 'row', gap: 8, alignItems: 'flex-start' }}&gt;&#10;                        &lt;FAIcon name='eye' style={{ fill: '#E87E99', width: 14, height: 14, marginTop: 3 }} /&gt;&#10;                        &lt;Text style={{ fontSize: 12.5, color: 'rgba(66,66,90,0.8)', lineHeight: 1.45, flex: 1 }}&gt;{d}&lt;/Text&gt;&#10;                    &lt;/Box&gt;&#10;                ))}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矩形 5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598" name="圆角矩形 597"/>
          <p:cNvSpPr/>
          <p:nvPr/>
        </p:nvSpPr>
        <p:spPr>
          <a:xfrm>
            <a:off x="533400" y="409575"/>
            <a:ext cx="647700" cy="361950"/>
          </a:xfrm>
          <a:prstGeom prst="roundRect">
            <a:avLst>
              <a:gd name="adj" fmla="val 26316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599" name="文本框 598" descr="{&quot;isTemplate&quot;:true,&quot;type&quot;:&quot;text&quot;}"/>
          <p:cNvSpPr txBox="1"/>
          <p:nvPr/>
        </p:nvSpPr>
        <p:spPr>
          <a:xfrm>
            <a:off x="666750" y="485775"/>
            <a:ext cx="38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42425A"/>
                </a:solidFill>
                <a:latin typeface="Consolas" panose="020B0609020204030204"/>
                <a:ea typeface="Consolas" panose="020B0609020204030204"/>
              </a:rPr>
              <a:t>06.8</a:t>
            </a:r>
            <a:endParaRPr lang="en-US" sz="1350" b="1">
              <a:solidFill>
                <a:srgbClr val="42425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00" name="文本框 599" descr="{&quot;isTemplate&quot;:true,&quot;type&quot;:&quot;text&quot;}"/>
          <p:cNvSpPr txBox="1"/>
          <p:nvPr/>
        </p:nvSpPr>
        <p:spPr>
          <a:xfrm>
            <a:off x="1314450" y="371475"/>
            <a:ext cx="272415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模型演示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75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跑一遍比讲十遍有用</a:t>
            </a:r>
            <a:endParaRPr lang="zh-CN" sz="1275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1" name="圆角矩形 600"/>
          <p:cNvSpPr/>
          <p:nvPr/>
        </p:nvSpPr>
        <p:spPr>
          <a:xfrm>
            <a:off x="131445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602" name="圆角矩形 601"/>
          <p:cNvSpPr/>
          <p:nvPr/>
        </p:nvSpPr>
        <p:spPr>
          <a:xfrm>
            <a:off x="10353675" y="447675"/>
            <a:ext cx="1304925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603" name="图片 60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06075" y="514350"/>
            <a:ext cx="152400" cy="152400"/>
          </a:xfrm>
          <a:prstGeom prst="rect">
            <a:avLst/>
          </a:prstGeom>
        </p:spPr>
      </p:pic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10734675" y="504825"/>
            <a:ext cx="771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余敏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5" name="圆角矩形 604"/>
          <p:cNvSpPr/>
          <p:nvPr/>
        </p:nvSpPr>
        <p:spPr>
          <a:xfrm>
            <a:off x="533400" y="990600"/>
            <a:ext cx="54864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06" name="圆角矩形 605"/>
          <p:cNvSpPr/>
          <p:nvPr/>
        </p:nvSpPr>
        <p:spPr>
          <a:xfrm>
            <a:off x="666750" y="1123950"/>
            <a:ext cx="1476375" cy="209550"/>
          </a:xfrm>
          <a:prstGeom prst="roundRect">
            <a:avLst>
              <a:gd name="adj" fmla="val 36364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781050" y="1152525"/>
            <a:ext cx="1247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链路一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漏洞检测演示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" y="3714750"/>
            <a:ext cx="133350" cy="133350"/>
          </a:xfrm>
          <a:prstGeom prst="rect">
            <a:avLst/>
          </a:prstGeom>
        </p:spPr>
      </p:pic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876300" y="3686175"/>
            <a:ext cx="501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看概率而不是二值：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0.51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0.98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都是「判为漏洞」，可信程度完全不同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" y="3971925"/>
            <a:ext cx="133350" cy="133350"/>
          </a:xfrm>
          <a:prstGeom prst="rect">
            <a:avLst/>
          </a:prstGeom>
        </p:spPr>
      </p:pic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876300" y="3943350"/>
            <a:ext cx="501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挑阈值附近摇摆的边界样本，最能说明模型学到什么、没学到什么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2" name="图片 6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" y="4229100"/>
            <a:ext cx="133350" cy="133350"/>
          </a:xfrm>
          <a:prstGeom prst="rect">
            <a:avLst/>
          </a:prstGeom>
        </p:spPr>
      </p:pic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876300" y="4200525"/>
            <a:ext cx="501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误报样本的长相值得收集——它们就是下一轮训练数据的一部分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" name="圆角矩形 613"/>
          <p:cNvSpPr/>
          <p:nvPr/>
        </p:nvSpPr>
        <p:spPr>
          <a:xfrm>
            <a:off x="6172200" y="990600"/>
            <a:ext cx="54864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15" name="圆角矩形 614"/>
          <p:cNvSpPr/>
          <p:nvPr/>
        </p:nvSpPr>
        <p:spPr>
          <a:xfrm>
            <a:off x="6305550" y="1123950"/>
            <a:ext cx="1476375" cy="209550"/>
          </a:xfrm>
          <a:prstGeom prst="roundRect">
            <a:avLst>
              <a:gd name="adj" fmla="val 36364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16" name="文本框 615" descr="{&quot;isTemplate&quot;:true,&quot;type&quot;:&quot;text&quot;}"/>
          <p:cNvSpPr txBox="1"/>
          <p:nvPr/>
        </p:nvSpPr>
        <p:spPr>
          <a:xfrm>
            <a:off x="6419850" y="1152525"/>
            <a:ext cx="1247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链路二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漏洞分类演示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7" name="图片 6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550" y="3619500"/>
            <a:ext cx="133350" cy="133350"/>
          </a:xfrm>
          <a:prstGeom prst="rect">
            <a:avLst/>
          </a:prstGeom>
        </p:spPr>
      </p:pic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6515100" y="3590925"/>
            <a:ext cx="501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Top-3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比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Top-1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有意义：给人工三个候选，命中率从两成多提到四成多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9" name="图片 6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550" y="3876675"/>
            <a:ext cx="133350" cy="133350"/>
          </a:xfrm>
          <a:prstGeom prst="rect">
            <a:avLst/>
          </a:prstGeom>
        </p:spPr>
      </p:pic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6515100" y="3848100"/>
            <a:ext cx="501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前三名分数接近说明模型拿不准；首名大幅领先通常对应典型漏洞模式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1" name="图片 62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550" y="4133850"/>
            <a:ext cx="133350" cy="133350"/>
          </a:xfrm>
          <a:prstGeom prst="rect">
            <a:avLst/>
          </a:prstGeom>
        </p:spPr>
      </p:pic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6515100" y="4105275"/>
            <a:ext cx="501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边界：分类数据流在检测之后，安全代码丢进来也会给个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，但没意义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3" name="图片 62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" y="5162550"/>
            <a:ext cx="152400" cy="152400"/>
          </a:xfrm>
          <a:prstGeom prst="rect">
            <a:avLst/>
          </a:prstGeom>
        </p:spPr>
      </p:pic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762000" y="51625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11239500" y="51625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24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6" name="图片 625"/>
          <p:cNvPicPr>
            <a:picLocks noChangeAspect="1"/>
          </p:cNvPicPr>
          <p:nvPr/>
        </p:nvPicPr>
        <p:blipFill>
          <a:blip r:embed="rId9"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  <p:sp>
        <p:nvSpPr>
          <p:cNvPr id="627" name="圆角矩形 626"/>
          <p:cNvSpPr/>
          <p:nvPr/>
        </p:nvSpPr>
        <p:spPr>
          <a:xfrm>
            <a:off x="666750" y="1409700"/>
            <a:ext cx="5219700" cy="1743075"/>
          </a:xfrm>
          <a:prstGeom prst="roundRect">
            <a:avLst>
              <a:gd name="adj" fmla="val 4372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628" name="文本框 627"/>
          <p:cNvSpPr txBox="1"/>
          <p:nvPr/>
        </p:nvSpPr>
        <p:spPr>
          <a:xfrm>
            <a:off x="819150" y="1543050"/>
            <a:ext cx="4914900" cy="1476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1. 准备输入：一段函数代码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sample 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read_function(</a:t>
            </a:r>
            <a:r>
              <a:rPr sz="865">
                <a:solidFill>
                  <a:srgbClr val="032F62"/>
                </a:solidFill>
                <a:latin typeface="Menlo"/>
                <a:ea typeface="Menlo"/>
              </a:rPr>
              <a:t>'demo.c'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 sz="86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2. 走同一套特征流程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batch 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collator([dataset.encode(sample)])</a:t>
            </a:r>
            <a:endParaRPr sz="86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3. 加载 best 权重并前向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model 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load_from_checkpoint(</a:t>
            </a:r>
            <a:r>
              <a:rPr sz="865">
                <a:solidFill>
                  <a:srgbClr val="032F62"/>
                </a:solidFill>
                <a:latin typeface="Menlo"/>
                <a:ea typeface="Menlo"/>
              </a:rPr>
              <a:t>'best'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 sz="86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prob 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softmax(model(batch), </a:t>
            </a:r>
            <a:r>
              <a:rPr sz="865">
                <a:solidFill>
                  <a:srgbClr val="E36209"/>
                </a:solidFill>
                <a:latin typeface="Menlo"/>
                <a:ea typeface="Menlo"/>
              </a:rPr>
              <a:t>dim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=-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)[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]</a:t>
            </a:r>
            <a:endParaRPr sz="865">
              <a:solidFill>
                <a:srgbClr val="24292E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4. 输出：概率 + 判定 + 置信度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</p:txBody>
      </p:sp>
      <p:sp>
        <p:nvSpPr>
          <p:cNvPr id="629" name="圆角矩形 628"/>
          <p:cNvSpPr/>
          <p:nvPr/>
        </p:nvSpPr>
        <p:spPr>
          <a:xfrm>
            <a:off x="6305550" y="1409700"/>
            <a:ext cx="5219700" cy="1562100"/>
          </a:xfrm>
          <a:prstGeom prst="roundRect">
            <a:avLst>
              <a:gd name="adj" fmla="val 4878"/>
            </a:avLst>
          </a:prstGeom>
          <a:solidFill>
            <a:srgbClr val="F6F8FA"/>
          </a:solidFill>
        </p:spPr>
        <p:txBody>
          <a:bodyPr/>
          <a:p/>
        </p:txBody>
      </p:sp>
      <p:sp>
        <p:nvSpPr>
          <p:cNvPr id="630" name="文本框 629"/>
          <p:cNvSpPr txBox="1"/>
          <p:nvPr/>
        </p:nvSpPr>
        <p:spPr>
          <a:xfrm>
            <a:off x="6457950" y="1543050"/>
            <a:ext cx="4914900" cy="1295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对检测命中的样本跑分类（top-3 候选）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CWE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125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0.41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越界读取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2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CWE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787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0.23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越界写入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3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) 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CWE</a:t>
            </a:r>
            <a:r>
              <a:rPr sz="86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476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865">
                <a:solidFill>
                  <a:srgbClr val="005CC5"/>
                </a:solidFill>
                <a:latin typeface="Menlo"/>
                <a:ea typeface="Menlo"/>
              </a:rPr>
              <a:t>0.11</a:t>
            </a:r>
            <a:r>
              <a:rPr sz="865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空指针解引用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 sz="865">
              <a:solidFill>
                <a:srgbClr val="E5E7EB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注意：分类模型没有安全类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  <a:p>
            <a:pPr>
              <a:lnSpc>
                <a:spcPct val="140000"/>
              </a:lnSpc>
            </a:pPr>
            <a:r>
              <a:rPr sz="865">
                <a:solidFill>
                  <a:srgbClr val="6A737D"/>
                </a:solidFill>
                <a:latin typeface="Menlo"/>
                <a:ea typeface="Menlo"/>
              </a:rPr>
              <a:t># 输入必须是检测命中的样本</a:t>
            </a:r>
            <a:endParaRPr sz="865">
              <a:solidFill>
                <a:srgbClr val="6A737D"/>
              </a:solidFill>
              <a:latin typeface="Menlo"/>
              <a:ea typeface="Menl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1" name="" descr="&lt;Slide style={{ width: '1280px', height: '720px', padding: '24px 56px', background: '#FFFBF5', position: 'relative', flexDirection: 'column', fontFamily: 'Microsoft YaHei' }}&gt;&#10;    &lt;FAIcon name='comment' style={{ position: 'absolute', top: 30, right: 74, width: 22, height: 22, fill: '#6A6FC9', opacity: 0.5 }} /&gt;&#10;&#10;    &lt;Box style={{ flexDirection: 'row', alignItems: 'center', gap: 16, height: 80 }}&gt;&#10;        &lt;Text style={{ fontSize: 56, fontWeight: 'bold', color: '#6A6FC9', fontFamily: 'Consolas', lineHeight: 1 }}&gt;07&lt;/Text&gt;&#10;        &lt;Box style={{ flexDirection: 'column', gap: 6 }}&gt;&#10;            &lt;Text style={{ fontSize: 30, fontWeight: 'bold', color: '#42425A' }}&gt;问题及解决方案回顾 · 上 &lt;span style={{ fontSize: 16, color: 'rgba(66,66,90,0.5)' }}&gt;Q1–Q4 数据侧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闪闪&lt;/Text&gt;&#10;        &lt;/Box&gt;&#10;    &lt;/Box&gt;&#10;&#10;    &lt;Box style={{ flexDirection: 'row', gap: 14, height: 420, marginTop: 4 }}&gt;&#10;        &lt;Box style={{ flex: 1, flexDirection: 'column', gap: 14 }}&gt;&#10;            {[&#10;                { q: 'Q1', t: '数据集里的无效记录怎么处理的？', a: '分层治理而不是一刀切：先统一格式、过滤空代码与过短记录；再按内容 MD5 去重；最后按任务筛选标签——缺 CWE 的样本仍可用于检测，但不进分类任务。', f: '结论：无效记录按任务分等级使用，不浪费二分类信息。', c: '#6A6FC9' },&#10;                { q: 'Q2', t: '数据明显不平衡，为什么不配平后再训？', a: '刻意保留原始分布——安全样本远多于漏洞样本是真实场景；用加权交叉熵提高漏洞样本对训练目标的贡献，样本一条不少地参与训练；再用 Precision / Recall / F1 / PR-AUC 评估。', f: '结论：不平衡是事实，在损失函数里加权，而不是在数据层配平。', c: '#45A99D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gap: 10 }}&gt;&#10;                        &lt;Box style={{ width: 40, height: 40, borderRadius: 10, background: it.c, border: '2px solid #42425A', justifyContent: 'center', alignItems: 'center' }}&gt;&#10;                            &lt;Text style={{ fontSize: 15, fontWeight: 'bold', color: '#FFFFFF', fontFamily: 'Consolas' }}&gt;{it.q}&lt;/Text&gt;&#10;                        &lt;/Box&gt;&#10;                        &lt;Text style={{ fontSize: 15.5, fontWeight: 'bold', color: '#42425A', flex: 1, lineHeight: 1.35 }}&gt;{it.t}&lt;/Text&gt;&#10;                    &lt;/Box&gt;&#10;                    &lt;Text style={{ fontSize: 12.5, color: 'rgba(66,66,90,0.8)', lineHeight: 1.5 }}&gt;{it.a}&lt;/Text&gt;&#10;                    &lt;Box style={{ marginTop: 'auto', background: 'rgba(66,66,90,0.06)', borderRadius: 8, padding: '5px 10px' }}&gt;&#10;                        &lt;Text style={{ fontSize: 12, fontWeight: 'bold', color: '#42425A' }}&gt;{it.f}&lt;/Text&gt;&#10;                    &lt;/Box&gt;&#10;                &lt;/Box&gt;&#10;            ))}&#10;        &lt;/Box&gt;&#10;        &lt;Box style={{ flex: 1, flexDirection: 'column', gap: 14 }}&gt;&#10;            {[&#10;                { q: 'Q3', t: 'CWE 长尾问题怎么处理？', a: '承认长尾存在：样本量不足的类别统一归并 OTHER，共 28 类；注意 OTHER 是「其他漏洞类型」而不是安全类——这是解读指标时最容易搞错的一点；评估用加权损失 + 宏平均 F1 + Top-K，不让长尾被头部掩盖。', f: '结论：类别合并 + 宽容错指标，而不是假装它是均衡任务。', c: '#E87E99' },&#10;                { q: 'Q4', t: '怎么保证没有数据泄漏？', a: '已做到：代码去重 + 按 group（CVE + 提交哈希）整组划分，同一漏洞的漏洞版与修复版不会分到不同集合。没覆盖：近似代码、跨来源同一漏洞、跨项目关系——更严格需要项目级或时间级划分。', f: '结论：最明显的泄漏路径已堵住，跨项目与时间维度留作下一步。', c: '#E5B45C' },&#10;            ].map((it, i) =&gt; (&#10;                &lt;Box key={i} style={{ flex: 1, background: '#FFFFFF', border: '2px solid #42425A', borderRadius: 14, boxShadow: '4px 4px 0 #42425A', padding: 14, flexDirection: 'column', gap: 6 }}&gt;&#10;                    &lt;Box style={{ flexDirection: 'row', alignItems: 'center', gap: 10 }}&gt;&#10;                        &lt;Box style={{ width: 40, height: 40, borderRadius: 10, background: it.c, border: '2px solid #42425A', justifyContent: 'center', alignItems: 'center' }}&gt;&#10;                            &lt;Text style={{ fontSize: 15, fontWeight: 'bold', color: i === 1 ? '#42425A' : '#FFFFFF', fontFamily: 'Consolas' }}&gt;{it.q}&lt;/Text&gt;&#10;                        &lt;/Box&gt;&#10;                        &lt;Text style={{ fontSize: 15.5, fontWeight: 'bold', color: '#42425A', flex: 1, lineHeight: 1.35 }}&gt;{it.t}&lt;/Text&gt;&#10;                    &lt;/Box&gt;&#10;                    &lt;Text style={{ fontSize: 12.5, color: 'rgba(66,66,90,0.8)', lineHeight: 1.5 }}&gt;{it.a}&lt;/Text&gt;&#10;                    &lt;Box style={{ marginTop: 'auto', background: 'rgba(66,66,90,0.06)', borderRadius: 8, padding: '5px 10px' }}&gt;&#10;                        &lt;Text style={{ fontSize: 12, fontWeight: 'bold', color: '#42425A' }}&gt;{it.f}&lt;/Text&gt;&#10;                    &lt;/Box&gt;&#10;                &lt;/Box&gt;&#10;            ))}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矩形 6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533400" y="285750"/>
            <a:ext cx="5905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07</a:t>
            </a:r>
            <a:endParaRPr lang="en-US" sz="420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1276350" y="381000"/>
            <a:ext cx="42672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问题及解决方案回顾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上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Q1–Q4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数据侧</a:t>
            </a:r>
            <a:endParaRPr lang="zh-CN" sz="120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5" name="圆角矩形 634"/>
          <p:cNvSpPr/>
          <p:nvPr/>
        </p:nvSpPr>
        <p:spPr>
          <a:xfrm>
            <a:off x="1276350" y="7810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636" name="圆角矩形 635"/>
          <p:cNvSpPr/>
          <p:nvPr/>
        </p:nvSpPr>
        <p:spPr>
          <a:xfrm>
            <a:off x="10858500" y="466725"/>
            <a:ext cx="800100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637" name="图片 6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0900" y="542925"/>
            <a:ext cx="133350" cy="133350"/>
          </a:xfrm>
          <a:prstGeom prst="rect">
            <a:avLst/>
          </a:prstGeom>
        </p:spPr>
      </p:pic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11220450" y="523875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9" name="圆角矩形 638"/>
          <p:cNvSpPr/>
          <p:nvPr/>
        </p:nvSpPr>
        <p:spPr>
          <a:xfrm>
            <a:off x="533400" y="1028700"/>
            <a:ext cx="5495925" cy="19335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40" name="圆角矩形 639"/>
          <p:cNvSpPr/>
          <p:nvPr/>
        </p:nvSpPr>
        <p:spPr>
          <a:xfrm>
            <a:off x="666750" y="1162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781050" y="1266825"/>
            <a:ext cx="161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Q1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42" name="文本框 641" descr="{&quot;isTemplate&quot;:true,&quot;type&quot;:&quot;text&quot;}"/>
          <p:cNvSpPr txBox="1"/>
          <p:nvPr/>
        </p:nvSpPr>
        <p:spPr>
          <a:xfrm>
            <a:off x="1143000" y="1228725"/>
            <a:ext cx="47529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数据集里的无效记录怎么处理的？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666750" y="1600200"/>
            <a:ext cx="52292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分层治理而不是一刀切：先统一格式、过滤空代码与过短记录；再按内容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MD5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去重；最后按任务筛选标签——缺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的样本仍可用于检测，但不进分类任务。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4" name="圆角矩形 643"/>
          <p:cNvSpPr/>
          <p:nvPr/>
        </p:nvSpPr>
        <p:spPr>
          <a:xfrm>
            <a:off x="666750" y="2590800"/>
            <a:ext cx="5229225" cy="238125"/>
          </a:xfrm>
          <a:prstGeom prst="roundRect">
            <a:avLst>
              <a:gd name="adj" fmla="val 32000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762000" y="2638425"/>
            <a:ext cx="5038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结论：无效记录按任务分等级使用，不浪费二分类信息。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圆角矩形 645"/>
          <p:cNvSpPr/>
          <p:nvPr/>
        </p:nvSpPr>
        <p:spPr>
          <a:xfrm>
            <a:off x="533400" y="3095625"/>
            <a:ext cx="5495925" cy="19335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47" name="圆角矩形 646"/>
          <p:cNvSpPr/>
          <p:nvPr/>
        </p:nvSpPr>
        <p:spPr>
          <a:xfrm>
            <a:off x="666750" y="32289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781050" y="3333750"/>
            <a:ext cx="161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Q2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1143000" y="3295650"/>
            <a:ext cx="47529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数据明显不平衡，为什么不配平后再训？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666750" y="3667125"/>
            <a:ext cx="5229225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刻意保留原始分布——安全样本远多于漏洞样本是真实场景；用加权交叉熵提高漏洞样本对训练目标的贡献，样本一条不少地参与训练；再用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Precision / Recall / F1 / PR-AUC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评估。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1" name="圆角矩形 650"/>
          <p:cNvSpPr/>
          <p:nvPr/>
        </p:nvSpPr>
        <p:spPr>
          <a:xfrm>
            <a:off x="666750" y="4657725"/>
            <a:ext cx="5229225" cy="238125"/>
          </a:xfrm>
          <a:prstGeom prst="roundRect">
            <a:avLst>
              <a:gd name="adj" fmla="val 32000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762000" y="4705350"/>
            <a:ext cx="5038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结论：不平衡是事实，在损失函数里加权，而不是在数据层配平。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圆角矩形 652"/>
          <p:cNvSpPr/>
          <p:nvPr/>
        </p:nvSpPr>
        <p:spPr>
          <a:xfrm>
            <a:off x="6162675" y="1028700"/>
            <a:ext cx="5495925" cy="19335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54" name="圆角矩形 653"/>
          <p:cNvSpPr/>
          <p:nvPr/>
        </p:nvSpPr>
        <p:spPr>
          <a:xfrm>
            <a:off x="6296025" y="1162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55" name="文本框 654" descr="{&quot;isTemplate&quot;:true,&quot;type&quot;:&quot;text&quot;}"/>
          <p:cNvSpPr txBox="1"/>
          <p:nvPr/>
        </p:nvSpPr>
        <p:spPr>
          <a:xfrm>
            <a:off x="6410325" y="1266825"/>
            <a:ext cx="161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Q3</a:t>
            </a:r>
            <a:endParaRPr lang="en-US" sz="1125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56" name="文本框 655" descr="{&quot;isTemplate&quot;:true,&quot;type&quot;:&quot;text&quot;}"/>
          <p:cNvSpPr txBox="1"/>
          <p:nvPr/>
        </p:nvSpPr>
        <p:spPr>
          <a:xfrm>
            <a:off x="6772275" y="1228725"/>
            <a:ext cx="47529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CWE </a:t>
            </a: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长尾问题怎么处理？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7" name="文本框 656" descr="{&quot;isTemplate&quot;:true,&quot;type&quot;:&quot;text&quot;}"/>
          <p:cNvSpPr txBox="1"/>
          <p:nvPr/>
        </p:nvSpPr>
        <p:spPr>
          <a:xfrm>
            <a:off x="6296025" y="1600200"/>
            <a:ext cx="5229225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承认长尾存在：样本量不足的类别统一归并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OTHER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，共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28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类；注意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OTHER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是「其他漏洞类型」而不是安全类——这是解读指标时最容易搞错的一点；评估用加权损失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宏平均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F1 + Top-K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，不让长尾被头部掩盖。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8" name="圆角矩形 657"/>
          <p:cNvSpPr/>
          <p:nvPr/>
        </p:nvSpPr>
        <p:spPr>
          <a:xfrm>
            <a:off x="6296025" y="2590800"/>
            <a:ext cx="5229225" cy="238125"/>
          </a:xfrm>
          <a:prstGeom prst="roundRect">
            <a:avLst>
              <a:gd name="adj" fmla="val 32000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6391275" y="2638425"/>
            <a:ext cx="5038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结论：类别合并</a:t>
            </a:r>
            <a:r>
              <a:rPr lang="en-US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宽容错指标，而不是假装它是均衡任务。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0" name="圆角矩形 659"/>
          <p:cNvSpPr/>
          <p:nvPr/>
        </p:nvSpPr>
        <p:spPr>
          <a:xfrm>
            <a:off x="6162675" y="3095625"/>
            <a:ext cx="5495925" cy="19335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61" name="圆角矩形 660"/>
          <p:cNvSpPr/>
          <p:nvPr/>
        </p:nvSpPr>
        <p:spPr>
          <a:xfrm>
            <a:off x="6296025" y="32289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6410325" y="3333750"/>
            <a:ext cx="161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Consolas" panose="020B0609020204030204"/>
                <a:ea typeface="Consolas" panose="020B0609020204030204"/>
              </a:rPr>
              <a:t>Q4</a:t>
            </a:r>
            <a:endParaRPr lang="en-US" sz="1125" b="1">
              <a:solidFill>
                <a:srgbClr val="42425A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63" name="文本框 662" descr="{&quot;isTemplate&quot;:true,&quot;type&quot;:&quot;text&quot;}"/>
          <p:cNvSpPr txBox="1"/>
          <p:nvPr/>
        </p:nvSpPr>
        <p:spPr>
          <a:xfrm>
            <a:off x="6772275" y="3295650"/>
            <a:ext cx="47529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怎么保证没有数据泄漏？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6296025" y="3667125"/>
            <a:ext cx="5229225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已做到：代码去重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group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 +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提交哈希）整组划分，同一漏洞的漏洞版与修复版不会分到不同集合。没覆盖：近似代码、跨来源同一漏洞、跨项目关系——更严格需要项目级或时间级划分。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5" name="圆角矩形 664"/>
          <p:cNvSpPr/>
          <p:nvPr/>
        </p:nvSpPr>
        <p:spPr>
          <a:xfrm>
            <a:off x="6296025" y="4657725"/>
            <a:ext cx="5229225" cy="238125"/>
          </a:xfrm>
          <a:prstGeom prst="roundRect">
            <a:avLst>
              <a:gd name="adj" fmla="val 32000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6391275" y="4705350"/>
            <a:ext cx="50387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结论：最明显的泄漏路径已堵住，跨项目与时间维度留作下一步。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7" name="图片 66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200650"/>
            <a:ext cx="152400" cy="152400"/>
          </a:xfrm>
          <a:prstGeom prst="rect">
            <a:avLst/>
          </a:prstGeom>
        </p:spPr>
      </p:pic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762000" y="52006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9" name="文本框 668" descr="{&quot;isTemplate&quot;:true,&quot;type&quot;:&quot;text&quot;}"/>
          <p:cNvSpPr txBox="1"/>
          <p:nvPr/>
        </p:nvSpPr>
        <p:spPr>
          <a:xfrm>
            <a:off x="11239500" y="52006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25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70" name="图片 669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1" name="" descr="&lt;Slide style={{ width: '1280px', height: '720px', padding: '24px 56px', background: '#FFFBF5', position: 'relative', flexDirection: 'column', fontFamily: 'Microsoft YaHei' }}&gt;&#10;    &lt;FAIcon name='comment' style={{ position: 'absolute', top: 30, right: 74, width: 22, height: 22, fill: '#E87E99', opacity: 0.5 }} /&gt;&#10;&#10;    &lt;Box style={{ flexDirection: 'row', alignItems: 'center', gap: 16, height: 80 }}&gt;&#10;        &lt;Text style={{ fontSize: 56, fontWeight: 'bold', color: '#6A6FC9', fontFamily: 'Consolas', lineHeight: 1 }}&gt;07&lt;/Text&gt;&#10;        &lt;Box style={{ flexDirection: 'column', gap: 6 }}&gt;&#10;            &lt;Text style={{ fontSize: 30, fontWeight: 'bold', color: '#42425A' }}&gt;问题及解决方案回顾 · 下 &lt;span style={{ fontSize: 16, color: 'rgba(66,66,90,0.5)' }}&gt;Q5–Q7 方法与评价侧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闪闪&lt;/Text&gt;&#10;        &lt;/Box&gt;&#10;    &lt;/Box&gt;&#10;&#10;    &lt;Box style={{ flexDirection: 'row', gap: 14, height: 420, marginTop: 4 }}&gt;&#10;        {[&#10;            { q: 'Q5', t: '验证集和测试集为什么不重采样成均衡分布？', a: '保留原始分布更接近真实扫描场景，便于观察误报与漏报的实际量级；强行均衡会让指标偏离部署时的数据分布，回答不了「安全样本远多于漏洞样本时模型表现如何」这个问题。', f: '评估集必须保持原始分布，否则数字好看但没有参考价值。', c: '#6A6FC9' },&#10;            { q: 'Q6', t: '为什么不能只报告准确率？', a: '一个反例就够：当前检测测试集上，把全部样本判为安全，准确率就有 90.61%，但漏洞召回率为零——准确率被多数类主导。应报告 Precision / Recall / F1 / PR-AUC 与混淆矩阵四个格子。', f: '90.61% 的准确率对应零召回的工具，这本身就是证据。', c: '#E87E99', big: '90.61%' },&#10;            { q: 'Q7', t: '为什么不直接做分类，而是先检测再分类？', a: '分类训练数据只包含漏洞样本、没有安全类——直接分类会给每段代码都安上一个 CWE。先筛出可疑函数再预测 CWE，既符合标签含义，推理计算量也只跟命中数量挂钩。', f: '两段式不是多此一举，是由分类数据的构成决定的。', c: '#45A99D' },&#10;        ].map((it, i) =&gt; (&#10;            &lt;Box key={i} style={{ flex: 1, background: '#FFFFFF', border: '2px solid #42425A', borderRadius: 14, boxShadow: '4px 4px 0 #42425A', padding: 16, flexDirection: 'column', gap: 8 }}&gt;&#10;                &lt;Box style={{ flexDirection: 'row', alignItems: 'center', gap: 10 }}&gt;&#10;                    &lt;Box style={{ width: 44, height: 44, borderRadius: 12, background: it.c, border: '2px solid #42425A', justifyContent: 'center', alignItems: 'center' }}&gt;&#10;                        &lt;Text style={{ fontSize: 16, fontWeight: 'bold', color: '#FFFFFF', fontFamily: 'Consolas' }}&gt;{it.q}&lt;/Text&gt;&#10;                    &lt;/Box&gt;&#10;                    &lt;Text style={{ fontSize: 15.5, fontWeight: 'bold', color: '#42425A', flex: 1, lineHeight: 1.35 }}&gt;{it.t}&lt;/Text&gt;&#10;                &lt;/Box&gt;&#10;                {it.big ? &lt;Text style={{ fontSize: 44, fontWeight: 'bold', color: '#E87E99', fontFamily: 'Consolas', lineHeight: 1.05 }}&gt;{it.big}&lt;span style={{ fontSize: 14, color: 'rgba(66,66,90,0.6)' }}&gt; 全判安全的准确率&lt;/span&gt;&lt;/Text&gt; : null}&#10;                &lt;Text style={{ fontSize: 12.5, color: 'rgba(66,66,90,0.8)', lineHeight: 1.55 }}&gt;{it.a}&lt;/Text&gt;&#10;                &lt;Box style={{ marginTop: 'auto', background: 'rgba(66,66,90,0.06)', borderRadius: 8, padding: '6px 10px' }}&gt;&#10;                    &lt;Text style={{ fontSize: 12, fontWeight: 'bold', color: '#42425A', lineHeight: 1.4 }}&gt;{it.f}&lt;/Text&gt;&#10;                &lt;/Box&gt;&#10;            &lt;/Box&gt;&#10;        ))}&#10;    &lt;/Box&gt;&#10;&#10;    &lt;Box style={{ marginTop: 12, background: '#42425A', borderRadius: 12, padding: '8px 18px' }}&gt;&#10;        &lt;Text style={{ fontSize: 13.5, color: '#FFFBF5' }}&gt;七个问题的共同答案：&lt;span style={{ fontWeight: 'bold', color: '#E5B45C' }}&gt;所有取舍都已落到具体代码或具体数字上&lt;/span&gt;——欢迎课后对照仓库验证。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矩形 6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673" name="文本框 672" descr="{&quot;isTemplate&quot;:true,&quot;type&quot;:&quot;text&quot;}"/>
          <p:cNvSpPr txBox="1"/>
          <p:nvPr/>
        </p:nvSpPr>
        <p:spPr>
          <a:xfrm>
            <a:off x="533400" y="285750"/>
            <a:ext cx="5905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07</a:t>
            </a:r>
            <a:endParaRPr lang="en-US" sz="420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74" name="文本框 673" descr="{&quot;isTemplate&quot;:true,&quot;type&quot;:&quot;text&quot;}"/>
          <p:cNvSpPr txBox="1"/>
          <p:nvPr/>
        </p:nvSpPr>
        <p:spPr>
          <a:xfrm>
            <a:off x="1276350" y="381000"/>
            <a:ext cx="4724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问题及解决方案回顾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下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Q5–Q7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方法与评价侧</a:t>
            </a:r>
            <a:endParaRPr lang="zh-CN" sz="120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" name="圆角矩形 674"/>
          <p:cNvSpPr/>
          <p:nvPr/>
        </p:nvSpPr>
        <p:spPr>
          <a:xfrm>
            <a:off x="1276350" y="7810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676" name="圆角矩形 675"/>
          <p:cNvSpPr/>
          <p:nvPr/>
        </p:nvSpPr>
        <p:spPr>
          <a:xfrm>
            <a:off x="10858500" y="466725"/>
            <a:ext cx="800100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677" name="图片 67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0900" y="542925"/>
            <a:ext cx="133350" cy="133350"/>
          </a:xfrm>
          <a:prstGeom prst="rect">
            <a:avLst/>
          </a:prstGeom>
        </p:spPr>
      </p:pic>
      <p:sp>
        <p:nvSpPr>
          <p:cNvPr id="678" name="文本框 677" descr="{&quot;isTemplate&quot;:true,&quot;type&quot;:&quot;text&quot;}"/>
          <p:cNvSpPr txBox="1"/>
          <p:nvPr/>
        </p:nvSpPr>
        <p:spPr>
          <a:xfrm>
            <a:off x="11220450" y="523875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9" name="圆角矩形 678"/>
          <p:cNvSpPr/>
          <p:nvPr/>
        </p:nvSpPr>
        <p:spPr>
          <a:xfrm>
            <a:off x="533400" y="1028700"/>
            <a:ext cx="3619500" cy="4000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80" name="圆角矩形 679"/>
          <p:cNvSpPr/>
          <p:nvPr/>
        </p:nvSpPr>
        <p:spPr>
          <a:xfrm>
            <a:off x="685800" y="12192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81" name="文本框 680" descr="{&quot;isTemplate&quot;:true,&quot;type&quot;:&quot;text&quot;}"/>
          <p:cNvSpPr txBox="1"/>
          <p:nvPr/>
        </p:nvSpPr>
        <p:spPr>
          <a:xfrm>
            <a:off x="809625" y="1333500"/>
            <a:ext cx="171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Q5</a:t>
            </a:r>
            <a:endParaRPr lang="en-US" sz="12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82" name="文本框 681" descr="{&quot;isTemplate&quot;:true,&quot;type&quot;:&quot;text&quot;}"/>
          <p:cNvSpPr txBox="1"/>
          <p:nvPr/>
        </p:nvSpPr>
        <p:spPr>
          <a:xfrm>
            <a:off x="1200150" y="1181100"/>
            <a:ext cx="2800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验证集和测试集为什么不重采样成均衡分布？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3" name="文本框 682" descr="{&quot;isTemplate&quot;:true,&quot;type&quot;:&quot;text&quot;}"/>
          <p:cNvSpPr txBox="1"/>
          <p:nvPr/>
        </p:nvSpPr>
        <p:spPr>
          <a:xfrm>
            <a:off x="685800" y="1743075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保留原始分布更接近真实扫描场景，便于观察误报与漏报的实际量级；强行均衡会让指标偏离部署时的数据分布，回答不了「安全样本远多于漏洞样本时模型表现如何」这个问题。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4" name="圆角矩形 683"/>
          <p:cNvSpPr/>
          <p:nvPr/>
        </p:nvSpPr>
        <p:spPr>
          <a:xfrm>
            <a:off x="685800" y="4562475"/>
            <a:ext cx="3314700" cy="314325"/>
          </a:xfrm>
          <a:prstGeom prst="roundRect">
            <a:avLst>
              <a:gd name="adj" fmla="val 24242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685" name="文本框 684" descr="{&quot;isTemplate&quot;:true,&quot;type&quot;:&quot;text&quot;}"/>
          <p:cNvSpPr txBox="1"/>
          <p:nvPr/>
        </p:nvSpPr>
        <p:spPr>
          <a:xfrm>
            <a:off x="781050" y="4619625"/>
            <a:ext cx="3124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评估集必须保持原始分布，否则数字好看但没有参考价值。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6" name="圆角矩形 685"/>
          <p:cNvSpPr/>
          <p:nvPr/>
        </p:nvSpPr>
        <p:spPr>
          <a:xfrm>
            <a:off x="4286250" y="1028700"/>
            <a:ext cx="3619500" cy="4000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87" name="圆角矩形 686"/>
          <p:cNvSpPr/>
          <p:nvPr/>
        </p:nvSpPr>
        <p:spPr>
          <a:xfrm>
            <a:off x="4438650" y="11811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88" name="文本框 687" descr="{&quot;isTemplate&quot;:true,&quot;type&quot;:&quot;text&quot;}"/>
          <p:cNvSpPr txBox="1"/>
          <p:nvPr/>
        </p:nvSpPr>
        <p:spPr>
          <a:xfrm>
            <a:off x="4562475" y="1295400"/>
            <a:ext cx="171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Q6</a:t>
            </a:r>
            <a:endParaRPr lang="en-US" sz="12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89" name="文本框 688" descr="{&quot;isTemplate&quot;:true,&quot;type&quot;:&quot;text&quot;}"/>
          <p:cNvSpPr txBox="1"/>
          <p:nvPr/>
        </p:nvSpPr>
        <p:spPr>
          <a:xfrm>
            <a:off x="4953000" y="1266825"/>
            <a:ext cx="28003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为什么不能只报告准确率？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0" name="文本框 689" descr="{&quot;isTemplate&quot;:true,&quot;type&quot;:&quot;text&quot;}"/>
          <p:cNvSpPr txBox="1"/>
          <p:nvPr/>
        </p:nvSpPr>
        <p:spPr>
          <a:xfrm>
            <a:off x="4438650" y="1676400"/>
            <a:ext cx="33147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30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90.61%</a:t>
            </a:r>
            <a:r>
              <a:rPr lang="en-US" sz="1050" b="1">
                <a:solidFill>
                  <a:srgbClr val="42425A">
                    <a:alpha val="60000"/>
                  </a:srgbClr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zh-CN" sz="1050" b="1">
                <a:solidFill>
                  <a:srgbClr val="42425A">
                    <a:alpha val="60000"/>
                  </a:srgbClr>
                </a:solidFill>
                <a:latin typeface="Consolas" panose="020B0609020204030204"/>
                <a:ea typeface="Consolas" panose="020B0609020204030204"/>
              </a:rPr>
              <a:t>全判安全的准确率</a:t>
            </a:r>
            <a:endParaRPr lang="zh-CN" sz="1050" b="1">
              <a:solidFill>
                <a:srgbClr val="42425A">
                  <a:alpha val="6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91" name="文本框 690" descr="{&quot;isTemplate&quot;:true,&quot;type&quot;:&quot;text&quot;}"/>
          <p:cNvSpPr txBox="1"/>
          <p:nvPr/>
        </p:nvSpPr>
        <p:spPr>
          <a:xfrm>
            <a:off x="4438650" y="2286000"/>
            <a:ext cx="33147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一个反例就够：当前检测测试集上，把全部样本判为安全，准确率就有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90.61%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，但漏洞召回率为零——准确率被多数类主导。应报告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Precision / Recall / F1 / PR-AUC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与混淆矩阵四个格子。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2" name="圆角矩形 691"/>
          <p:cNvSpPr/>
          <p:nvPr/>
        </p:nvSpPr>
        <p:spPr>
          <a:xfrm>
            <a:off x="4438650" y="4562475"/>
            <a:ext cx="3314700" cy="314325"/>
          </a:xfrm>
          <a:prstGeom prst="roundRect">
            <a:avLst>
              <a:gd name="adj" fmla="val 24242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693" name="文本框 692" descr="{&quot;isTemplate&quot;:true,&quot;type&quot;:&quot;text&quot;}"/>
          <p:cNvSpPr txBox="1"/>
          <p:nvPr/>
        </p:nvSpPr>
        <p:spPr>
          <a:xfrm>
            <a:off x="4533900" y="4619625"/>
            <a:ext cx="3124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90.61% </a:t>
            </a: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的准确率对应零召回的工具，这本身就是证据。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4" name="圆角矩形 693"/>
          <p:cNvSpPr/>
          <p:nvPr/>
        </p:nvSpPr>
        <p:spPr>
          <a:xfrm>
            <a:off x="8039100" y="1028700"/>
            <a:ext cx="3619500" cy="40005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695" name="圆角矩形 694"/>
          <p:cNvSpPr/>
          <p:nvPr/>
        </p:nvSpPr>
        <p:spPr>
          <a:xfrm>
            <a:off x="8191500" y="12192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696" name="文本框 695" descr="{&quot;isTemplate&quot;:true,&quot;type&quot;:&quot;text&quot;}"/>
          <p:cNvSpPr txBox="1"/>
          <p:nvPr/>
        </p:nvSpPr>
        <p:spPr>
          <a:xfrm>
            <a:off x="8315325" y="1333500"/>
            <a:ext cx="1714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Q7</a:t>
            </a:r>
            <a:endParaRPr lang="en-US" sz="120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697" name="文本框 696" descr="{&quot;isTemplate&quot;:true,&quot;type&quot;:&quot;text&quot;}"/>
          <p:cNvSpPr txBox="1"/>
          <p:nvPr/>
        </p:nvSpPr>
        <p:spPr>
          <a:xfrm>
            <a:off x="8705850" y="1181100"/>
            <a:ext cx="28003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为什么不直接做分类，而是先检测再分类？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8" name="文本框 697" descr="{&quot;isTemplate&quot;:true,&quot;type&quot;:&quot;text&quot;}"/>
          <p:cNvSpPr txBox="1"/>
          <p:nvPr/>
        </p:nvSpPr>
        <p:spPr>
          <a:xfrm>
            <a:off x="8191500" y="1743075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分类训练数据只包含漏洞样本、没有安全类——直接分类会给每段代码都安上一个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。先筛出可疑函数再预测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，既符合标签含义，推理计算量也只跟命中数量挂钩。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9" name="圆角矩形 698"/>
          <p:cNvSpPr/>
          <p:nvPr/>
        </p:nvSpPr>
        <p:spPr>
          <a:xfrm>
            <a:off x="8191500" y="4562475"/>
            <a:ext cx="3314700" cy="314325"/>
          </a:xfrm>
          <a:prstGeom prst="roundRect">
            <a:avLst>
              <a:gd name="adj" fmla="val 24242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700" name="文本框 699" descr="{&quot;isTemplate&quot;:true,&quot;type&quot;:&quot;text&quot;}"/>
          <p:cNvSpPr txBox="1"/>
          <p:nvPr/>
        </p:nvSpPr>
        <p:spPr>
          <a:xfrm>
            <a:off x="8286750" y="4619625"/>
            <a:ext cx="3124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两段式不是多此一举，是由分类数据的构成决定的。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1" name="圆角矩形 700"/>
          <p:cNvSpPr/>
          <p:nvPr/>
        </p:nvSpPr>
        <p:spPr>
          <a:xfrm>
            <a:off x="533400" y="5143500"/>
            <a:ext cx="11125200" cy="314325"/>
          </a:xfrm>
          <a:prstGeom prst="roundRect">
            <a:avLst>
              <a:gd name="adj" fmla="val 36364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702" name="文本框 701" descr="{&quot;isTemplate&quot;:true,&quot;type&quot;:&quot;text&quot;}"/>
          <p:cNvSpPr txBox="1"/>
          <p:nvPr/>
        </p:nvSpPr>
        <p:spPr>
          <a:xfrm>
            <a:off x="704850" y="5219700"/>
            <a:ext cx="10782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七个问题的共同答案：</a:t>
            </a:r>
            <a:r>
              <a:rPr lang="zh-CN" sz="1015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所有取舍都已落到具体代码或具体数字上</a:t>
            </a:r>
            <a:r>
              <a:rPr lang="zh-CN" sz="1015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——欢迎课后对照仓库验证。</a:t>
            </a:r>
            <a:endParaRPr lang="zh-CN" sz="1015">
              <a:solidFill>
                <a:srgbClr val="FFFB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03" name="图片 70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5629275"/>
            <a:ext cx="152400" cy="152400"/>
          </a:xfrm>
          <a:prstGeom prst="rect">
            <a:avLst/>
          </a:prstGeom>
        </p:spPr>
      </p:pic>
      <p:sp>
        <p:nvSpPr>
          <p:cNvPr id="704" name="文本框 703" descr="{&quot;isTemplate&quot;:true,&quot;type&quot;:&quot;text&quot;}"/>
          <p:cNvSpPr txBox="1"/>
          <p:nvPr/>
        </p:nvSpPr>
        <p:spPr>
          <a:xfrm>
            <a:off x="762000" y="562927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5" name="文本框 704" descr="{&quot;isTemplate&quot;:true,&quot;type&quot;:&quot;text&quot;}"/>
          <p:cNvSpPr txBox="1"/>
          <p:nvPr/>
        </p:nvSpPr>
        <p:spPr>
          <a:xfrm>
            <a:off x="11239500" y="562927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26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06" name="图片 705"/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7" name="" descr="&lt;Slide style={{ width: '1280px', height: '720px', padding: '24px 56px', background: '#FFFBF5', position: 'relative', flexDirection: 'column', fontFamily: 'Microsoft YaHei' }}&gt;&#10;    &lt;FAIcon name='rocket' style={{ position: 'absolute', top: 30, right: 74, width: 22, height: 22, fill: '#6A6FC9', opacity: 0.55 }} /&gt;&#10;&#10;    &lt;Box style={{ flexDirection: 'row', alignItems: 'center', gap: 16, height: 80 }}&gt;&#10;        &lt;Text style={{ fontSize: 56, fontWeight: 'bold', color: '#E5B45C', fontFamily: 'Consolas', lineHeight: 1 }}&gt;08&lt;/Text&gt;&#10;        &lt;Box style={{ flexDirection: 'column', gap: 6 }}&gt;&#10;            &lt;Text style={{ fontSize: 30, fontWeight: 'bold', color: '#42425A' }}&gt;创新及未来展望 &lt;span style={{ fontSize: 16, color: 'rgba(66,66,90,0.5)' }}&gt;· 单模型之后，往哪里走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, flexDirection: 'row', alignItems: 'center', gap: 8 }}&gt;&#10;            &lt;FAIcon name='user' style={{ fill: '#E87E99', width: 14, height: 14 }} /&gt;&#10;            &lt;Text style={{ fontSize: 15, color: '#42425A', fontWeight: 'bold' }}&gt;闪闪&lt;/Text&gt;&#10;        &lt;/Box&gt;&#10;    &lt;/Box&gt;&#10;&#10;    &lt;Box style={{ background: 'rgba(232,126,153,0.08)', border: '2px dashed #E87E99', borderRadius: 12, padding: '8px 18px', marginBottom: 10 }}&gt;&#10;        &lt;Text style={{ fontSize: 15, color: '#42425A', lineHeight: 1.5 }}&gt;瓶颈很清楚：&lt;span style={{ fontWeight: 'bold', color: '#E87E99' }}&gt;单个 CodeBERT 微调模型的上限有限&lt;/span&gt;——能力受限于预训练底座与数据量，继续堆轮数只会过拟合。&lt;/Text&gt;&#10;    &lt;/Box&gt;&#10;&#10;    &lt;Box style={{ flexDirection: 'row', gap: 14, height: 340, marginTop: 2 }}&gt;&#10;        {[&#10;            { icon: 'vote-yea', c: '#6A6FC9', tag: '方向一 · 自己动手', t: '多模型投票', d: '借随机森林的思路：训练多个模型共同判定并投票，取期望最高的结果。额外收益是「分歧本身就是信号」——意见一致时置信度高，分歧大时标记为待复核。', f: '待验证：成倍训练开销，需先确认收益覆盖成本' },&#10;            { icon: 'project-diagram', c: '#45A99D', tag: '方向二 · 业界进展', t: '图结构模型', d: 'CodeBERT 本质仍是序列化模型，只把代码当 token 序列读。GraphCodeBERT 引入图结构表示，对数据依赖关系显式建模，在代码任务上有明显提升。', f: '代价：需要额外构造图输入，数据与工程都有要求' },&#10;            { icon: 'robot', c: '#E87E99', tag: '方向三 · 业界进展', t: 'LLM 与 Agent', d: 'LLM 辅助通用性强，但它是生成式模型、幻觉较大；传统 SAST 厂商走 Agent 路线做编排与验证，搭配历史 CWE 知识库——共同点是只追求低漏报，与本项目判断一致。', f: '本项目取舍：先用可控的微调模型打底，持续观察' },&#10;        ].map((it, i) =&gt; (&#10;            &lt;Box key={i} style={{ flex: 1, background: '#FFFFFF', border: '2px solid #42425A', borderRadius: 14, boxShadow: '4px 4px 0 #42425A', padding: 16, flexDirection: 'column', gap: 8 }}&gt;&#10;                &lt;Box style={{ flexDirection: 'row', alignItems: 'center', gap: 10 }}&gt;&#10;                    &lt;Box style={{ width: 44, height: 44, borderRadius: 12, background: it.c, border: '2px solid #42425A', justifyContent: 'center', alignItems: 'center' }}&gt;&#10;                        &lt;FAIcon name={it.icon} style={{ fill: '#FFFFFF', width: 21, height: 21 }} /&gt;&#10;                    &lt;/Box&gt;&#10;                    &lt;Text style={{ fontSize: 12.5, fontWeight: 'bold', color: it.c }}&gt;{it.tag}&lt;/Text&gt;&#10;                &lt;/Box&gt;&#10;                &lt;Text style={{ fontSize: 19, fontWeight: 'bold', color: '#42425A' }}&gt;{it.t}&lt;/Text&gt;&#10;                &lt;Text style={{ fontSize: 12.5, color: 'rgba(66,66,90,0.8)', lineHeight: 1.55 }}&gt;{it.d}&lt;/Text&gt;&#10;                &lt;Box style={{ marginTop: 'auto', background: 'rgba(66,66,90,0.06)', borderRadius: 8, padding: '6px 10px' }}&gt;&#10;                    &lt;Text style={{ fontSize: 12, fontWeight: 'bold', color: '#42425A', lineHeight: 1.4 }}&gt;{it.f}&lt;/Text&gt;&#10;                &lt;/Box&gt;&#10;            &lt;/Box&gt;&#10;        ))}&#10;    &lt;/Box&gt;&#10;&#10;    &lt;Box style={{ flexDirection: 'row', justifyContent: 'space-between', alignItems: 'center', height: 36, marginTop: 12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矩形 7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709" name="文本框 708" descr="{&quot;isTemplate&quot;:true,&quot;type&quot;:&quot;text&quot;}"/>
          <p:cNvSpPr txBox="1"/>
          <p:nvPr/>
        </p:nvSpPr>
        <p:spPr>
          <a:xfrm>
            <a:off x="533400" y="285750"/>
            <a:ext cx="5905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5B45C"/>
                </a:solidFill>
                <a:latin typeface="Consolas" panose="020B0609020204030204"/>
                <a:ea typeface="Consolas" panose="020B0609020204030204"/>
              </a:rPr>
              <a:t>08</a:t>
            </a:r>
            <a:endParaRPr lang="en-US" sz="4200" b="1">
              <a:solidFill>
                <a:srgbClr val="E5B45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10" name="文本框 709" descr="{&quot;isTemplate&quot;:true,&quot;type&quot;:&quot;text&quot;}"/>
          <p:cNvSpPr txBox="1"/>
          <p:nvPr/>
        </p:nvSpPr>
        <p:spPr>
          <a:xfrm>
            <a:off x="1276350" y="381000"/>
            <a:ext cx="37242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创新及未来展望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单模型之后，往哪里走</a:t>
            </a:r>
            <a:endParaRPr lang="zh-CN" sz="120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1" name="圆角矩形 710"/>
          <p:cNvSpPr/>
          <p:nvPr/>
        </p:nvSpPr>
        <p:spPr>
          <a:xfrm>
            <a:off x="1276350" y="7810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712" name="圆角矩形 711"/>
          <p:cNvSpPr/>
          <p:nvPr/>
        </p:nvSpPr>
        <p:spPr>
          <a:xfrm>
            <a:off x="10858500" y="466725"/>
            <a:ext cx="800100" cy="285750"/>
          </a:xfrm>
          <a:prstGeom prst="roundRect">
            <a:avLst>
              <a:gd name="adj" fmla="val 333000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13" name="图片 7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0900" y="542925"/>
            <a:ext cx="133350" cy="133350"/>
          </a:xfrm>
          <a:prstGeom prst="rect">
            <a:avLst/>
          </a:prstGeom>
        </p:spPr>
      </p:pic>
      <p:sp>
        <p:nvSpPr>
          <p:cNvPr id="714" name="文本框 713" descr="{&quot;isTemplate&quot;:true,&quot;type&quot;:&quot;text&quot;}"/>
          <p:cNvSpPr txBox="1"/>
          <p:nvPr/>
        </p:nvSpPr>
        <p:spPr>
          <a:xfrm>
            <a:off x="11220450" y="523875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11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5" name="圆角矩形 714"/>
          <p:cNvSpPr/>
          <p:nvPr/>
        </p:nvSpPr>
        <p:spPr>
          <a:xfrm>
            <a:off x="533400" y="990600"/>
            <a:ext cx="11125200" cy="409575"/>
          </a:xfrm>
          <a:prstGeom prst="roundRect">
            <a:avLst>
              <a:gd name="adj" fmla="val 27907"/>
            </a:avLst>
          </a:prstGeom>
          <a:solidFill>
            <a:srgbClr val="E87E99">
              <a:alpha val="8000"/>
            </a:srgbClr>
          </a:solidFill>
          <a:ln w="25400">
            <a:solidFill>
              <a:srgbClr val="E87E99"/>
            </a:solidFill>
            <a:prstDash val="dash"/>
          </a:ln>
        </p:spPr>
        <p:txBody>
          <a:bodyPr/>
          <a:p/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704850" y="1066800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瓶颈很清楚：</a:t>
            </a: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单个</a:t>
            </a:r>
            <a:r>
              <a:rPr lang="en-US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 CodeBERT </a:t>
            </a:r>
            <a:r>
              <a:rPr lang="zh-CN" sz="1125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微调模型的上限有限</a:t>
            </a:r>
            <a:r>
              <a:rPr lang="zh-CN" sz="1125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——能力受限于预训练底座与数据量，继续堆轮数只会过拟合。</a:t>
            </a:r>
            <a:endParaRPr lang="zh-CN" sz="1125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" name="圆角矩形 716"/>
          <p:cNvSpPr/>
          <p:nvPr/>
        </p:nvSpPr>
        <p:spPr>
          <a:xfrm>
            <a:off x="533400" y="1514475"/>
            <a:ext cx="3619500" cy="32385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18" name="圆角矩形 717"/>
          <p:cNvSpPr/>
          <p:nvPr/>
        </p:nvSpPr>
        <p:spPr>
          <a:xfrm>
            <a:off x="685800" y="1666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19" name="图片 7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1781175"/>
            <a:ext cx="200025" cy="200025"/>
          </a:xfrm>
          <a:prstGeom prst="rect">
            <a:avLst/>
          </a:prstGeom>
        </p:spPr>
      </p:pic>
      <p:sp>
        <p:nvSpPr>
          <p:cNvPr id="720" name="文本框 719" descr="{&quot;isTemplate&quot;:true,&quot;type&quot;:&quot;text&quot;}"/>
          <p:cNvSpPr txBox="1"/>
          <p:nvPr/>
        </p:nvSpPr>
        <p:spPr>
          <a:xfrm>
            <a:off x="1200150" y="1809750"/>
            <a:ext cx="962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方向一</a:t>
            </a:r>
            <a:r>
              <a:rPr lang="en-US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自己动手</a:t>
            </a:r>
            <a:endParaRPr lang="zh-CN" sz="940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685800" y="2162175"/>
            <a:ext cx="3314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多模型投票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685800" y="2457450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借随机森林的思路：训练多个模型共同判定并投票，取期望最高的结果。额外收益是「分歧本身就是信号」——意见一致时置信度高，分歧大时标记为待复核。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3" name="圆角矩形 722"/>
          <p:cNvSpPr/>
          <p:nvPr/>
        </p:nvSpPr>
        <p:spPr>
          <a:xfrm>
            <a:off x="685800" y="4286250"/>
            <a:ext cx="3314700" cy="314325"/>
          </a:xfrm>
          <a:prstGeom prst="roundRect">
            <a:avLst>
              <a:gd name="adj" fmla="val 24242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781050" y="4343400"/>
            <a:ext cx="3124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待验证：成倍训练开销，需先确认收益覆盖成本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5" name="圆角矩形 724"/>
          <p:cNvSpPr/>
          <p:nvPr/>
        </p:nvSpPr>
        <p:spPr>
          <a:xfrm>
            <a:off x="4286250" y="1514475"/>
            <a:ext cx="3619500" cy="32385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26" name="圆角矩形 725"/>
          <p:cNvSpPr/>
          <p:nvPr/>
        </p:nvSpPr>
        <p:spPr>
          <a:xfrm>
            <a:off x="4438650" y="1666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27" name="图片 72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2950" y="1781175"/>
            <a:ext cx="200025" cy="200025"/>
          </a:xfrm>
          <a:prstGeom prst="rect">
            <a:avLst/>
          </a:prstGeom>
        </p:spPr>
      </p:pic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4953000" y="1809750"/>
            <a:ext cx="962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方向二</a:t>
            </a:r>
            <a:r>
              <a:rPr lang="en-US" sz="94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b="1">
                <a:solidFill>
                  <a:srgbClr val="45A99D"/>
                </a:solidFill>
                <a:latin typeface="微软雅黑" panose="020B0503020204020204" charset="-122"/>
                <a:ea typeface="微软雅黑" panose="020B0503020204020204" charset="-122"/>
              </a:rPr>
              <a:t>业界进展</a:t>
            </a:r>
            <a:endParaRPr lang="zh-CN" sz="940" b="1">
              <a:solidFill>
                <a:srgbClr val="45A99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4438650" y="2162175"/>
            <a:ext cx="3314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图结构模型</a:t>
            </a:r>
            <a:endParaRPr lang="zh-CN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4438650" y="2457450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本质仍是序列化模型，只把代码当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token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序列读。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GraphCodeBERT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引入图结构表示，对数据依赖关系显式建模，在代码任务上有明显提升。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1" name="圆角矩形 730"/>
          <p:cNvSpPr/>
          <p:nvPr/>
        </p:nvSpPr>
        <p:spPr>
          <a:xfrm>
            <a:off x="4438650" y="4286250"/>
            <a:ext cx="3314700" cy="314325"/>
          </a:xfrm>
          <a:prstGeom prst="roundRect">
            <a:avLst>
              <a:gd name="adj" fmla="val 24242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4533900" y="4343400"/>
            <a:ext cx="3124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代价：需要额外构造图输入，数据与工程都有要求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3" name="圆角矩形 732"/>
          <p:cNvSpPr/>
          <p:nvPr/>
        </p:nvSpPr>
        <p:spPr>
          <a:xfrm>
            <a:off x="8039100" y="1514475"/>
            <a:ext cx="3619500" cy="323850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34" name="圆角矩形 733"/>
          <p:cNvSpPr/>
          <p:nvPr/>
        </p:nvSpPr>
        <p:spPr>
          <a:xfrm>
            <a:off x="8191500" y="1666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35" name="图片 73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1781175"/>
            <a:ext cx="200025" cy="200025"/>
          </a:xfrm>
          <a:prstGeom prst="rect">
            <a:avLst/>
          </a:prstGeom>
        </p:spPr>
      </p:pic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8705850" y="1809750"/>
            <a:ext cx="962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40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方向三</a:t>
            </a:r>
            <a:r>
              <a:rPr lang="en-US" sz="940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40" b="1">
                <a:solidFill>
                  <a:srgbClr val="E87E99"/>
                </a:solidFill>
                <a:latin typeface="微软雅黑" panose="020B0503020204020204" charset="-122"/>
                <a:ea typeface="微软雅黑" panose="020B0503020204020204" charset="-122"/>
              </a:rPr>
              <a:t>业界进展</a:t>
            </a:r>
            <a:endParaRPr lang="zh-CN" sz="940" b="1">
              <a:solidFill>
                <a:srgbClr val="E87E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8191500" y="2162175"/>
            <a:ext cx="33147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4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Agent</a:t>
            </a:r>
            <a:endParaRPr lang="en-US" sz="142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8191500" y="2457450"/>
            <a:ext cx="331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辅助通用性强，但它是生成式模型、幻觉较大；传统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SAST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厂商走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Agent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路线做编排与验证，搭配历史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CWE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知识库——共同点是只追求低漏报，与本项目判断一致。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9" name="圆角矩形 738"/>
          <p:cNvSpPr/>
          <p:nvPr/>
        </p:nvSpPr>
        <p:spPr>
          <a:xfrm>
            <a:off x="8191500" y="4286250"/>
            <a:ext cx="3314700" cy="314325"/>
          </a:xfrm>
          <a:prstGeom prst="roundRect">
            <a:avLst>
              <a:gd name="adj" fmla="val 24242"/>
            </a:avLst>
          </a:prstGeom>
          <a:solidFill>
            <a:srgbClr val="42425A">
              <a:alpha val="6000"/>
            </a:srgbClr>
          </a:solidFill>
        </p:spPr>
        <p:txBody>
          <a:bodyPr/>
          <a:p/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8286750" y="4343400"/>
            <a:ext cx="31242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本项目取舍：先用可控的微调模型打底，持续观察</a:t>
            </a:r>
            <a:endParaRPr lang="zh-CN" sz="900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1" name="图片 74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00" y="4962525"/>
            <a:ext cx="152400" cy="152400"/>
          </a:xfrm>
          <a:prstGeom prst="rect">
            <a:avLst/>
          </a:prstGeom>
        </p:spPr>
      </p:pic>
      <p:sp>
        <p:nvSpPr>
          <p:cNvPr id="742" name="文本框 741" descr="{&quot;isTemplate&quot;:true,&quot;type&quot;:&quot;text&quot;}"/>
          <p:cNvSpPr txBox="1"/>
          <p:nvPr/>
        </p:nvSpPr>
        <p:spPr>
          <a:xfrm>
            <a:off x="762000" y="4962525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3" name="文本框 742" descr="{&quot;isTemplate&quot;:true,&quot;type&quot;:&quot;text&quot;}"/>
          <p:cNvSpPr txBox="1"/>
          <p:nvPr/>
        </p:nvSpPr>
        <p:spPr>
          <a:xfrm>
            <a:off x="11239500" y="4962525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27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4" name="图片 743"/>
          <p:cNvPicPr>
            <a:picLocks noChangeAspect="1"/>
          </p:cNvPicPr>
          <p:nvPr/>
        </p:nvPicPr>
        <p:blipFill>
          <a:blip r:embed="rId11">
            <a:alphaModFix amt="55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5" name="" descr="&lt;Slide style={{ width: '1280px', height: '720px', padding: '24px 56px', background: '#FFFBF5', position: 'relative', flexDirection: 'column', fontFamily: 'Microsoft YaHei' }}&gt;&#10;    &lt;FAIcon name='folder-open' style={{ position: 'absolute', top: 30, right: 74, width: 22, height: 22, fill: '#6A6FC9', opacity: 0.5 }} /&gt;&#10;&#10;    &lt;Box style={{ flexDirection: 'row', alignItems: 'center', gap: 16, height: 80 }}&gt;&#10;        &lt;Text style={{ fontSize: 56, fontWeight: 'bold', color: '#45A99D', fontFamily: 'Consolas', lineHeight: 1 }}&gt;09&lt;/Text&gt;&#10;        &lt;Box style={{ flexDirection: 'column', gap: 6 }}&gt;&#10;            &lt;Text style={{ fontSize: 30, fontWeight: 'bold', color: '#42425A' }}&gt;附录 &lt;span style={{ fontSize: 16, color: 'rgba(66,66,90,0.5)' }}&gt;· 会议纪要 / 讨论照片 / git 配合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 }}&gt;&#10;            &lt;Text style={{ fontSize: 14, color: '#42425A' }}&gt;过程记录 · 供查阅追溯&lt;/Text&gt;&#10;        &lt;/Box&gt;&#10;    &lt;/Box&gt;&#10;&#10;    &lt;Box style={{ flexDirection: 'row', gap: 14, height: 424, marginTop: 2 }}&gt;&#10;        {/* 会议纪要 */}&#10;        &lt;Box style={{ flex: 4, background: '#FFFFFF', border: '2px solid #42425A', borderRadius: 14, boxShadow: '4px 4px 0 #42425A', padding: 12, flexDirection: 'column', gap: 6 }}&gt;&#10;            &lt;Text style={{ fontSize: 15, fontWeight: 'bold', color: '#42425A' }}&gt;09.1 会议纪要 &lt;span style={{ fontSize: 12, color: 'rgba(66,66,90,0.55)' }}&gt;关键节点的关键结论（TBC，Ken 补充中）&lt;/span&gt;&lt;/Text&gt;&#10;            &lt;Box style={{ flex: 1 }}&gt;&#10;                &lt;Table&#10;                    style={{ width: '100%', height: '100%' }}&#10;                    defaultTextStyle={{ fontSize: 12.5, textAlign: 'left', color: '#42425A' }}&#10;                    defaultCellStyle={{&#10;                        border: {&#10;                            left: { width: 1, color: '#E8E4DA' },&#10;                            right: { width: 1, color: '#E8E4DA' },&#10;                            top: { width: 1, color: '#E8E4DA' },&#10;                            bottom: { width: 1, color: '#E8E4DA' },&#10;                        },&#10;                    }}&#10;                    cells={[&#10;                        [&#10;                            { text: '阶段', textStyle: { bold: true, color: '#FFFFFF', fontSize: 13 }, cellStyle: { background: { color: '#45A99D' } } },&#10;                            { text: '主要结论', textStyle: { bold: true, color: '#FFFFFF', fontSize: 13 }, cellStyle: { background: { color: '#45A99D' } } },&#10;                            { text: '待办', textStyle: { bold: true, color: '#FFFFFF', fontSize: 13 }, cellStyle: { background: { color: '#45A99D' } } },&#10;                        ],&#10;                        ['立项', '确定以 CVEfixes 为唯一数据源、CodeBERT 为底座', '完成数据与模型下载'],&#10;                        ['数据', '八步治理清单定稿，group 划分防泄漏方案通过', '补充近重复核查'],&#10;                        ['训练', '检测 epoch=5 + 早停；分类 20 轮取第 14 轮', '阈值在验证集上调优'],&#10;                        ['评估', '漏报率约束下最小化误报；验收线阈值 0.11', '补充跨项目划分实验'],&#10;                    ]}&#10;                /&gt;&#10;            &lt;/Box&gt;&#10;        &lt;/Box&gt;&#10;&#10;        {/* 照片 + git */}&#10;        &lt;Box style={{ flex: 3, flexDirection: 'column', gap: 12 }}&gt;&#10;            &lt;Box style={{ flex: 3, background: '#FFFFFF', border: '2px solid #42425A', borderRadius: 14, boxShadow: '4px 4px 0 #42425A', padding: 12, flexDirection: 'column', gap: 6 }}&gt;&#10;                &lt;Text style={{ fontSize: 15, fontWeight: 'bold', color: '#42425A' }}&gt;09.2 问题讨论照片 &lt;span style={{ fontSize: 12, color: 'rgba(66,66,90,0.55)' }}&gt;现场研讨留痕&lt;/span&gt;&lt;/Text&gt;&#10;                &lt;Box style={{ flex: 1, flexDirection: 'row', gap: 8 }}&gt;&#10;                    &lt;Box style={{ flex: 1, flexDirection: 'column', gap: 8 }}&gt;&#10;                        &lt;Image src=&quot;assets/photo1.jpg&quot; style={{ width: '100%', flex: 1, objectFit: 'cover', borderRadius: 8, border: '2px solid #42425A' }} /&gt;&#10;                        &lt;Image src=&quot;assets/photo2.jpg&quot; style={{ width: '100%', flex: 1, objectFit: 'cover', borderRadius: 8, border: '2px solid #42425A' }} /&gt;&#10;                    &lt;/Box&gt;&#10;                    &lt;Box style={{ flex: 1, flexDirection: 'column', gap: 8 }}&gt;&#10;                        &lt;Image src=&quot;assets/photo3.jpg&quot; style={{ width: '100%', flex: 1, objectFit: 'cover', borderRadius: 8, border: '2px solid #42425A' }} /&gt;&#10;                        &lt;Image src=&quot;assets/photo4.jpg&quot; style={{ width: '100%', flex: 1, objectFit: 'cover', borderRadius: 8, border: '2px solid #42425A' }} /&gt;&#10;                    &lt;/Box&gt;&#10;                &lt;/Box&gt;&#10;            &lt;/Box&gt;&#10;            &lt;Box style={{ flex: 2, background: '#FFFFFF', border: '2px solid #42425A', borderRadius: 14, boxShadow: '4px 4px 0 #42425A', padding: 12, flexDirection: 'column', gap: 5 }}&gt;&#10;                &lt;Text style={{ fontSize: 15, fontWeight: 'bold', color: '#42425A' }}&gt;09.3 git 配合 &lt;span style={{ fontSize: 12, color: 'rgba(66,66,90,0.55)' }}&gt;协作边界比流程更重要&lt;/span&gt;&lt;/Text&gt;&#10;                {[&#10;                    '分支约定：主干只接受可运行版本，每人 dev_xxx 分支实验、跑通再合入',&#10;                    '提交约定：一次提交一件事，数据改动与代码改动分开',&#10;                    '入库边界：数据集 / 权重 / 产物以 GB 计，一律不进仓库，只留获取脚本',&#10;                ].map((d, i) =&gt; (&#10;                    &lt;Box key={i} style={{ flexDirection: 'row', gap: 8, alignItems: 'flex-start' }}&gt;&#10;                        &lt;FAIcon name='code-branch' style={{ fill: '#6A6FC9', width: 14, height: 14, marginTop: 3 }} /&gt;&#10;                        &lt;Text style={{ fontSize: 12.5, color: 'rgba(66,66,90,0.8)', lineHeight: 1.45, flex: 1 }}&gt;{d}&lt;/Text&gt;&#10;                    &lt;/Box&gt;&#10;                ))}&#10;            &lt;/Box&gt;&#10;        &lt;/Box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矩形 7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747" name="文本框 746" descr="{&quot;isTemplate&quot;:true,&quot;type&quot;:&quot;text&quot;}"/>
          <p:cNvSpPr txBox="1"/>
          <p:nvPr/>
        </p:nvSpPr>
        <p:spPr>
          <a:xfrm>
            <a:off x="533400" y="285750"/>
            <a:ext cx="5905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09</a:t>
            </a:r>
            <a:endParaRPr lang="en-US" sz="420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48" name="文本框 747" descr="{&quot;isTemplate&quot;:true,&quot;type&quot;:&quot;text&quot;}"/>
          <p:cNvSpPr txBox="1"/>
          <p:nvPr/>
        </p:nvSpPr>
        <p:spPr>
          <a:xfrm>
            <a:off x="1276350" y="381000"/>
            <a:ext cx="28765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25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会议纪要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讨论照片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git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endParaRPr lang="zh-CN" sz="120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9" name="圆角矩形 748"/>
          <p:cNvSpPr/>
          <p:nvPr/>
        </p:nvSpPr>
        <p:spPr>
          <a:xfrm>
            <a:off x="1276350" y="78105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750" name="圆角矩形 749"/>
          <p:cNvSpPr/>
          <p:nvPr/>
        </p:nvSpPr>
        <p:spPr>
          <a:xfrm>
            <a:off x="10039350" y="476250"/>
            <a:ext cx="1619250" cy="276225"/>
          </a:xfrm>
          <a:prstGeom prst="roundRect">
            <a:avLst>
              <a:gd name="adj" fmla="val 344482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10191750" y="533400"/>
            <a:ext cx="1314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过程记录</a:t>
            </a:r>
            <a:r>
              <a:rPr lang="en-US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供查阅追溯</a:t>
            </a:r>
            <a:endParaRPr lang="zh-CN" sz="105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圆角矩形 751"/>
          <p:cNvSpPr/>
          <p:nvPr/>
        </p:nvSpPr>
        <p:spPr>
          <a:xfrm>
            <a:off x="533400" y="1009650"/>
            <a:ext cx="6276975" cy="403860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647700" y="1123950"/>
            <a:ext cx="6048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09.1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会议纪要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关键节点的关键结论（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TBC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Ken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补充中）</a:t>
            </a:r>
            <a:endParaRPr lang="zh-CN" sz="900" b="1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54" name="表格 753"/>
          <p:cNvGraphicFramePr/>
          <p:nvPr/>
        </p:nvGraphicFramePr>
        <p:xfrm>
          <a:off x="647700" y="1352550"/>
          <a:ext cx="6048376" cy="3581400"/>
        </p:xfrm>
        <a:graphic>
          <a:graphicData uri="http://schemas.openxmlformats.org/drawingml/2006/table">
            <a:tbl>
              <a:tblPr/>
              <a:tblGrid>
                <a:gridCol w="474487"/>
                <a:gridCol w="3939841"/>
                <a:gridCol w="1634048"/>
              </a:tblGrid>
              <a:tr h="73689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主要结论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待办</a:t>
                      </a:r>
                      <a:endParaRPr sz="9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A99D"/>
                    </a:solidFill>
                  </a:tcPr>
                </a:tc>
              </a:tr>
              <a:tr h="7111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立项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确定以 CVEfixes 为唯一数据源、CodeBERT 为底座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完成数据与模型下载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11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八步治理清单定稿，group 划分防泄漏方案通过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补充近重复核查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11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训练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检测 epoch=5 + 早停；分类 20 轮取第 14 轮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阈值在验证集上调优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112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评估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漏报率约束下最小化误报；验收线阈值 0.11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40">
                          <a:solidFill>
                            <a:srgbClr val="42425A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补充跨项目划分实验</a:t>
                      </a:r>
                      <a:endParaRPr sz="940">
                        <a:solidFill>
                          <a:srgbClr val="42425A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55" name="圆角矩形 754"/>
          <p:cNvSpPr/>
          <p:nvPr/>
        </p:nvSpPr>
        <p:spPr>
          <a:xfrm>
            <a:off x="6943725" y="1009650"/>
            <a:ext cx="4714875" cy="1866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7058025" y="1123950"/>
            <a:ext cx="4486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09.2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问题讨论照片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现场研讨留痕</a:t>
            </a:r>
            <a:endParaRPr lang="zh-CN" sz="900" b="1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7" name="矩形 756"/>
          <p:cNvSpPr/>
          <p:nvPr/>
        </p:nvSpPr>
        <p:spPr>
          <a:xfrm>
            <a:off x="7058025" y="1352550"/>
            <a:ext cx="2209800" cy="666750"/>
          </a:xfrm>
          <a:prstGeom prst="rect">
            <a:avLst/>
          </a:prstGeom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58" name="图片 757"/>
          <p:cNvPicPr>
            <a:picLocks noChangeAspect="1"/>
          </p:cNvPicPr>
          <p:nvPr/>
        </p:nvPicPr>
        <p:blipFill>
          <a:blip r:embed="rId1"/>
          <a:srcRect t="41514" b="41514"/>
          <a:stretch>
            <a:fillRect/>
          </a:stretch>
        </p:blipFill>
        <p:spPr>
          <a:xfrm>
            <a:off x="7058025" y="1352550"/>
            <a:ext cx="2209800" cy="666750"/>
          </a:xfrm>
          <a:prstGeom prst="roundRect">
            <a:avLst>
              <a:gd name="adj" fmla="val 11429"/>
            </a:avLst>
          </a:prstGeom>
        </p:spPr>
      </p:pic>
      <p:sp>
        <p:nvSpPr>
          <p:cNvPr id="759" name="矩形 758"/>
          <p:cNvSpPr/>
          <p:nvPr/>
        </p:nvSpPr>
        <p:spPr>
          <a:xfrm>
            <a:off x="7058025" y="2095500"/>
            <a:ext cx="2209800" cy="666750"/>
          </a:xfrm>
          <a:prstGeom prst="rect">
            <a:avLst/>
          </a:prstGeom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60" name="图片 759"/>
          <p:cNvPicPr>
            <a:picLocks noChangeAspect="1"/>
          </p:cNvPicPr>
          <p:nvPr/>
        </p:nvPicPr>
        <p:blipFill>
          <a:blip r:embed="rId2"/>
          <a:srcRect t="29877" b="29877"/>
          <a:stretch>
            <a:fillRect/>
          </a:stretch>
        </p:blipFill>
        <p:spPr>
          <a:xfrm>
            <a:off x="7058025" y="2095500"/>
            <a:ext cx="2209800" cy="666750"/>
          </a:xfrm>
          <a:prstGeom prst="roundRect">
            <a:avLst>
              <a:gd name="adj" fmla="val 11429"/>
            </a:avLst>
          </a:prstGeom>
        </p:spPr>
      </p:pic>
      <p:sp>
        <p:nvSpPr>
          <p:cNvPr id="761" name="矩形 760"/>
          <p:cNvSpPr/>
          <p:nvPr/>
        </p:nvSpPr>
        <p:spPr>
          <a:xfrm>
            <a:off x="9344025" y="1352550"/>
            <a:ext cx="2200275" cy="666750"/>
          </a:xfrm>
          <a:prstGeom prst="rect">
            <a:avLst/>
          </a:prstGeom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62" name="图片 761"/>
          <p:cNvPicPr>
            <a:picLocks noChangeAspect="1"/>
          </p:cNvPicPr>
          <p:nvPr/>
        </p:nvPicPr>
        <p:blipFill>
          <a:blip r:embed="rId3"/>
          <a:srcRect t="29790" b="29790"/>
          <a:stretch>
            <a:fillRect/>
          </a:stretch>
        </p:blipFill>
        <p:spPr>
          <a:xfrm>
            <a:off x="9344025" y="1352550"/>
            <a:ext cx="2200275" cy="666750"/>
          </a:xfrm>
          <a:prstGeom prst="roundRect">
            <a:avLst>
              <a:gd name="adj" fmla="val 11429"/>
            </a:avLst>
          </a:prstGeom>
        </p:spPr>
      </p:pic>
      <p:sp>
        <p:nvSpPr>
          <p:cNvPr id="763" name="矩形 762"/>
          <p:cNvSpPr/>
          <p:nvPr/>
        </p:nvSpPr>
        <p:spPr>
          <a:xfrm>
            <a:off x="9344025" y="2095500"/>
            <a:ext cx="2200275" cy="666750"/>
          </a:xfrm>
          <a:prstGeom prst="rect">
            <a:avLst/>
          </a:prstGeom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64" name="图片 763"/>
          <p:cNvPicPr>
            <a:picLocks noChangeAspect="1"/>
          </p:cNvPicPr>
          <p:nvPr/>
        </p:nvPicPr>
        <p:blipFill>
          <a:blip r:embed="rId4"/>
          <a:srcRect t="29790" b="29790"/>
          <a:stretch>
            <a:fillRect/>
          </a:stretch>
        </p:blipFill>
        <p:spPr>
          <a:xfrm>
            <a:off x="9344025" y="2095500"/>
            <a:ext cx="2200275" cy="666750"/>
          </a:xfrm>
          <a:prstGeom prst="roundRect">
            <a:avLst>
              <a:gd name="adj" fmla="val 11429"/>
            </a:avLst>
          </a:prstGeom>
        </p:spPr>
      </p:pic>
      <p:sp>
        <p:nvSpPr>
          <p:cNvPr id="765" name="圆角矩形 764"/>
          <p:cNvSpPr/>
          <p:nvPr/>
        </p:nvSpPr>
        <p:spPr>
          <a:xfrm>
            <a:off x="6943725" y="2990850"/>
            <a:ext cx="4714875" cy="20574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7058025" y="3105150"/>
            <a:ext cx="4486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09.3 git </a:t>
            </a:r>
            <a:r>
              <a:rPr lang="zh-CN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配合</a:t>
            </a:r>
            <a:r>
              <a:rPr lang="en-US" sz="112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 b="1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协作边界比流程更重要</a:t>
            </a:r>
            <a:endParaRPr lang="zh-CN" sz="900" b="1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7" name="图片 7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8025" y="3352800"/>
            <a:ext cx="133350" cy="133350"/>
          </a:xfrm>
          <a:prstGeom prst="rect">
            <a:avLst/>
          </a:prstGeom>
        </p:spPr>
      </p:pic>
      <p:sp>
        <p:nvSpPr>
          <p:cNvPr id="768" name="文本框 767" descr="{&quot;isTemplate&quot;:true,&quot;type&quot;:&quot;text&quot;}"/>
          <p:cNvSpPr txBox="1"/>
          <p:nvPr/>
        </p:nvSpPr>
        <p:spPr>
          <a:xfrm>
            <a:off x="7267575" y="3324225"/>
            <a:ext cx="4276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分支约定：主干只接受可运行版本，每人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dev_xxx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分支实验、跑通再合入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9" name="图片 76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8025" y="3609975"/>
            <a:ext cx="133350" cy="133350"/>
          </a:xfrm>
          <a:prstGeom prst="rect">
            <a:avLst/>
          </a:prstGeom>
        </p:spPr>
      </p:pic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7267575" y="3581400"/>
            <a:ext cx="4276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提交约定：一次提交一件事，数据改动与代码改动分开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71" name="图片 77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8025" y="3867150"/>
            <a:ext cx="133350" cy="133350"/>
          </a:xfrm>
          <a:prstGeom prst="rect">
            <a:avLst/>
          </a:prstGeom>
        </p:spPr>
      </p:pic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7267575" y="3838575"/>
            <a:ext cx="4276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入库边界：数据集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权重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产物以</a:t>
            </a:r>
            <a:r>
              <a:rPr lang="en-US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GB </a:t>
            </a:r>
            <a:r>
              <a:rPr lang="zh-CN" sz="940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计，一律不进仓库，只留获取脚本</a:t>
            </a:r>
            <a:endParaRPr lang="zh-CN" sz="940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73" name="图片 77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" y="5219700"/>
            <a:ext cx="152400" cy="152400"/>
          </a:xfrm>
          <a:prstGeom prst="rect">
            <a:avLst/>
          </a:prstGeom>
        </p:spPr>
      </p:pic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762000" y="52197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5" name="文本框 774" descr="{&quot;isTemplate&quot;:true,&quot;type&quot;:&quot;text&quot;}"/>
          <p:cNvSpPr txBox="1"/>
          <p:nvPr/>
        </p:nvSpPr>
        <p:spPr>
          <a:xfrm>
            <a:off x="11239500" y="52197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28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76" name="图片 775"/>
          <p:cNvPicPr>
            <a:picLocks noChangeAspect="1"/>
          </p:cNvPicPr>
          <p:nvPr/>
        </p:nvPicPr>
        <p:blipFill>
          <a:blip r:embed="rId9">
            <a:alphaModFix amt="5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7" name="" descr="&lt;Slide style={{ width: '1280px', height: '720px', padding: '24px 56px', background: '#FFFBF5', position: 'relative', flexDirection: 'column', fontFamily: 'Microsoft YaHei' }}&gt;&#10;    &lt;FAIcon name='book-open' style={{ position: 'absolute', top: 30, right: 74, width: 22, height: 22, fill: '#6A6FC9', opacity: 0.5 }} /&gt;&#10;&#10;    &lt;Box style={{ flexDirection: 'row', alignItems: 'center', gap: 14, height: 76 }}&gt;&#10;        &lt;Box style={{ background: '#6A6FC9', borderRadius: 10, padding: '8px 14px', border: '2px solid #42425A', boxShadow: '3px 3px 0 #42425A' }}&gt;&#10;            &lt;Text style={{ fontSize: 18, fontWeight: 'bold', color: '#FFFFFF', fontFamily: 'Consolas' }}&gt;延伸&lt;/Text&gt;&#10;        &lt;/Box&gt;&#10;        &lt;Box style={{ flexDirection: 'column', gap: 6 }}&gt;&#10;            &lt;Text style={{ fontSize: 28, fontWeight: 'bold', color: '#42425A' }}&gt;延伸拓展 &lt;span style={{ fontSize: 16, color: 'rgba(66,66,90,0.5)' }}&gt;· 课上没展开的四个点，课后可以接着挖&lt;/span&gt;&lt;/Text&gt;&#10;            &lt;Box style={{ width: 72, height: 6, background: '#E87E99', borderRadius: 3 }} /&gt;&#10;        &lt;/Box&gt;&#10;        &lt;Box style={{ marginLeft: 'auto', background: '#FFFFFF', borderRadius: 999, padding: '6px 16px', border: '2px solid #42425A' }}&gt;&#10;            &lt;Text style={{ fontSize: 14, color: '#42425A' }}&gt;附录 · 延伸阅读&lt;/Text&gt;&#10;        &lt;/Box&gt;&#10;    &lt;/Box&gt;&#10;&#10;    &lt;Box style={{ flexDirection: 'row', gap: 14, height: 420, marginTop: 4 }}&gt;&#10;        &lt;Box style={{ flex: 1, flexDirection: 'column', gap: 14 }}&gt;&#10;            {[&#10;                { icon: 'language', c: '#6A6FC9', t: '冷知识：C 不在 CodeBERT 的预训练语料里', d: '我们数据里占比最大的是 C（约 27%），而 CodeBERT / GraphCodeBERT 的预训练语料是 CodeSearchNet 的 6 种语言，不含 C / C++——模型是「没见过 C 却学会了 C」，这本身就值得讨论。' },&#10;                { icon: 'code-branch', c: '#45A99D', t: '被丢弃的最强信号：diff_with_context', d: '修复 diff 精确指出了哪一行被改，是信号最强的特征之一，但当前任务设定是「纯代码分类」而被完全丢弃。若目标是冲指标，把 diff 作为额外输入是最值得试的方向（改进优先级 P4）。' },&#10;            ].map((it, i) =&gt; (&#10;                &lt;Box key={i} style={{ flex: 1, background: '#FFFFFF', border: '2px solid #42425A', borderRadius: 14, boxShadow: '4px 4px 0 #42425A', padding: 16, flexDirection: 'column', gap: 8 }}&gt;&#10;                    &lt;Box style={{ flexDirection: 'row', alignItems: 'center', gap: 10 }}&gt;&#10;                        &lt;Box style={{ width: 42, height: 42, borderRadius: 11, background: it.c, border: '2px solid #42425A', justifyContent: 'center', alignItems: 'center' }}&gt;&#10;                            &lt;FAIcon name={it.icon} style={{ fill: '#FFFFFF', width: 20, height: 20 }} /&gt;&#10;                        &lt;/Box&gt;&#10;                        &lt;Text style={{ fontSize: 15.5, fontWeight: 'bold', color: '#42425A', flex: 1, lineHeight: 1.35 }}&gt;{it.t}&lt;/Text&gt;&#10;                    &lt;/Box&gt;&#10;                    &lt;Text style={{ fontSize: 13, color: 'rgba(66,66,90,0.8)', lineHeight: 1.55 }}&gt;{it.d}&lt;/Text&gt;&#10;                &lt;/Box&gt;&#10;            ))}&#10;        &lt;/Box&gt;&#10;        &lt;Box style={{ flex: 1, flexDirection: 'column', gap: 14 }}&gt;&#10;            {[&#10;                { icon: 'check-double', c: '#E87E99', t: '两个一行代码就能用的自检判据', d: '① 分组数 = 样本数 → 分组机制空转（本项目分类任务即如此）；② 两个任务各自调用划分函数，即使随机种子相同，划分结果也不会一致——共用划分必须「洗一次、两任务复用同一份分组表」。' },&#10;                { icon: 'book', c: '#E5B45C', t: '课后可读：资料地图', d: '数据集：CVEfixes（MSR 2021）；模型：CodeBERT（125M，encoder-only）。项目文档：01_数据集与模型全解析、08_数据特征工程解析；test_cases/test_preprocess.py 里有 40+ 项断言守着预处理逻辑。' },&#10;            ].map((it, i) =&gt; (&#10;                &lt;Box key={i} style={{ flex: 1, background: '#FFFFFF', border: '2px solid #42425A', borderRadius: 14, boxShadow: '4px 4px 0 #42425A', padding: 16, flexDirection: 'column', gap: 8 }}&gt;&#10;                    &lt;Box style={{ flexDirection: 'row', alignItems: 'center', gap: 10 }}&gt;&#10;                        &lt;Box style={{ width: 42, height: 42, borderRadius: 11, background: it.c, border: '2px solid #42425A', justifyContent: 'center', alignItems: 'center' }}&gt;&#10;                            &lt;FAIcon name={it.icon} style={{ fill: i === 1 ? '#42425A' : '#FFFFFF', width: 20, height: 20 }} /&gt;&#10;                        &lt;/Box&gt;&#10;                        &lt;Text style={{ fontSize: 15.5, fontWeight: 'bold', color: '#42425A', flex: 1, lineHeight: 1.35 }}&gt;{it.t}&lt;/Text&gt;&#10;                    &lt;/Box&gt;&#10;                    &lt;Text style={{ fontSize: 13, color: 'rgba(66,66,90,0.8)', lineHeight: 1.55 }}&gt;{it.d}&lt;/Text&gt;&#10;                &lt;/Box&gt;&#10;            ))}&#10;        &lt;/Box&gt;&#10;    &lt;/Box&gt;&#10;&#10;    &lt;Box style={{ marginTop: 12, background: '#42425A', borderRadius: 12, padding: '10px 18px' }}&gt;&#10;        &lt;Text style={{ fontSize: 14, color: '#FFFBF5', lineHeight: 1.5 }}&gt;如果只能记住一句话：&lt;span style={{ fontWeight: 'bold', color: '#E5B45C' }}&gt;先把每一级的实际数量算出来，再谈它有没有按设计生效。&lt;/span&gt;&lt;/Text&gt;&#10;    &lt;/Box&gt;&#10;&#10;    &lt;Box style={{ flexDirection: 'row', justifyContent: 'space-between', alignItems: 'center', height: 36, marginTop: 8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2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矩形 7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sp>
        <p:nvSpPr>
          <p:cNvPr id="779" name="圆角矩形 778"/>
          <p:cNvSpPr/>
          <p:nvPr/>
        </p:nvSpPr>
        <p:spPr>
          <a:xfrm>
            <a:off x="533400" y="409575"/>
            <a:ext cx="704850" cy="361950"/>
          </a:xfrm>
          <a:prstGeom prst="roundRect">
            <a:avLst>
              <a:gd name="adj" fmla="val 26316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  <a:effectLst>
            <a:outerShdw dist="40411" dir="2700000">
              <a:srgbClr val="42425A"/>
            </a:outerShdw>
          </a:effectLst>
        </p:spPr>
        <p:txBody>
          <a:bodyPr/>
          <a:p/>
        </p:txBody>
      </p:sp>
      <p:sp>
        <p:nvSpPr>
          <p:cNvPr id="780" name="文本框 779" descr="{&quot;isTemplate&quot;:true,&quot;type&quot;:&quot;text&quot;}"/>
          <p:cNvSpPr txBox="1"/>
          <p:nvPr/>
        </p:nvSpPr>
        <p:spPr>
          <a:xfrm>
            <a:off x="666750" y="485775"/>
            <a:ext cx="438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延伸</a:t>
            </a:r>
            <a:endParaRPr lang="zh-CN" sz="1350" b="1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781" name="文本框 780" descr="{&quot;isTemplate&quot;:true,&quot;type&quot;:&quot;text&quot;}"/>
          <p:cNvSpPr txBox="1"/>
          <p:nvPr/>
        </p:nvSpPr>
        <p:spPr>
          <a:xfrm>
            <a:off x="1371600" y="371475"/>
            <a:ext cx="385762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延伸拓展</a:t>
            </a:r>
            <a:r>
              <a:rPr lang="en-US" sz="2100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1">
                <a:solidFill>
                  <a:srgbClr val="42425A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课上没展开的四个点，课后可以接着挖</a:t>
            </a:r>
            <a:endParaRPr lang="zh-CN" sz="1200" b="1">
              <a:solidFill>
                <a:srgbClr val="42425A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2" name="圆角矩形 781"/>
          <p:cNvSpPr/>
          <p:nvPr/>
        </p:nvSpPr>
        <p:spPr>
          <a:xfrm>
            <a:off x="1371600" y="752475"/>
            <a:ext cx="685800" cy="57150"/>
          </a:xfrm>
          <a:prstGeom prst="roundRect">
            <a:avLst>
              <a:gd name="adj" fmla="val 50000"/>
            </a:avLst>
          </a:prstGeom>
          <a:solidFill>
            <a:srgbClr val="E87E99"/>
          </a:solidFill>
        </p:spPr>
        <p:txBody>
          <a:bodyPr/>
          <a:p/>
        </p:txBody>
      </p:sp>
      <p:sp>
        <p:nvSpPr>
          <p:cNvPr id="783" name="圆角矩形 782"/>
          <p:cNvSpPr/>
          <p:nvPr/>
        </p:nvSpPr>
        <p:spPr>
          <a:xfrm>
            <a:off x="10439400" y="457200"/>
            <a:ext cx="1219200" cy="276225"/>
          </a:xfrm>
          <a:prstGeom prst="roundRect">
            <a:avLst>
              <a:gd name="adj" fmla="val 3444828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10591800" y="514350"/>
            <a:ext cx="914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延伸阅读</a:t>
            </a:r>
            <a:endParaRPr lang="zh-CN" sz="1050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5" name="圆角矩形 784"/>
          <p:cNvSpPr/>
          <p:nvPr/>
        </p:nvSpPr>
        <p:spPr>
          <a:xfrm>
            <a:off x="533400" y="990600"/>
            <a:ext cx="5495925" cy="2047875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86" name="圆角矩形 785"/>
          <p:cNvSpPr/>
          <p:nvPr/>
        </p:nvSpPr>
        <p:spPr>
          <a:xfrm>
            <a:off x="685800" y="11430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6A6FC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87" name="图片 78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575" y="1247775"/>
            <a:ext cx="190500" cy="190500"/>
          </a:xfrm>
          <a:prstGeom prst="rect">
            <a:avLst/>
          </a:prstGeom>
        </p:spPr>
      </p:pic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1181100" y="1219200"/>
            <a:ext cx="46958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冷知识：</a:t>
            </a:r>
            <a:r>
              <a:rPr lang="en-US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不在</a:t>
            </a:r>
            <a:r>
              <a:rPr lang="en-US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 CodeBERT </a:t>
            </a: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的预训练语料里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685800" y="1619250"/>
            <a:ext cx="519112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我们数据里占比最大的是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（约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27%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），而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CodeBERT / GraphCodeBERT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的预训练语料是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CodeSearchNet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种语言，不含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 / C++——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模型是「没见过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却学会了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」，这本身就值得讨论。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圆角矩形 789"/>
          <p:cNvSpPr/>
          <p:nvPr/>
        </p:nvSpPr>
        <p:spPr>
          <a:xfrm>
            <a:off x="533400" y="3171825"/>
            <a:ext cx="5495925" cy="181927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91" name="圆角矩形 790"/>
          <p:cNvSpPr/>
          <p:nvPr/>
        </p:nvSpPr>
        <p:spPr>
          <a:xfrm>
            <a:off x="685800" y="3324225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45A99D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92" name="图片 79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575" y="3429000"/>
            <a:ext cx="190500" cy="190500"/>
          </a:xfrm>
          <a:prstGeom prst="rect">
            <a:avLst/>
          </a:prstGeom>
        </p:spPr>
      </p:pic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1181100" y="3400425"/>
            <a:ext cx="46958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被丢弃的最强信号：</a:t>
            </a:r>
            <a:r>
              <a:rPr lang="en-US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diff_with_context</a:t>
            </a:r>
            <a:endParaRPr lang="en-US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685800" y="3800475"/>
            <a:ext cx="51911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修复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diff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精确指出了哪一行被改，是信号最强的特征之一，但当前任务设定是「纯代码分类」而被完全丢弃。若目标是冲指标，把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diff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作为额外输入是最值得试的方向（改进优先级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P4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" name="圆角矩形 794"/>
          <p:cNvSpPr/>
          <p:nvPr/>
        </p:nvSpPr>
        <p:spPr>
          <a:xfrm>
            <a:off x="6162675" y="990600"/>
            <a:ext cx="5495925" cy="19335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796" name="圆角矩形 795"/>
          <p:cNvSpPr/>
          <p:nvPr/>
        </p:nvSpPr>
        <p:spPr>
          <a:xfrm>
            <a:off x="6315075" y="1143000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87E99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797" name="图片 79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9850" y="1247775"/>
            <a:ext cx="190500" cy="190500"/>
          </a:xfrm>
          <a:prstGeom prst="rect">
            <a:avLst/>
          </a:prstGeom>
        </p:spPr>
      </p:pic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6810375" y="1219200"/>
            <a:ext cx="46958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两个一行代码就能用的自检判据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9" name="文本框 798" descr="{&quot;isTemplate&quot;:true,&quot;type&quot;:&quot;text&quot;}"/>
          <p:cNvSpPr txBox="1"/>
          <p:nvPr/>
        </p:nvSpPr>
        <p:spPr>
          <a:xfrm>
            <a:off x="6315075" y="1619250"/>
            <a:ext cx="519112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分组数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样本数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分组机制空转（本项目分类任务即如此）；②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两个任务各自调用划分函数，即使随机种子相同，划分结果也不会一致——共用划分必须「洗一次、两任务复用同一份分组表」。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0" name="圆角矩形 799"/>
          <p:cNvSpPr/>
          <p:nvPr/>
        </p:nvSpPr>
        <p:spPr>
          <a:xfrm>
            <a:off x="6162675" y="3057525"/>
            <a:ext cx="5495925" cy="193357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01" name="圆角矩形 800"/>
          <p:cNvSpPr/>
          <p:nvPr/>
        </p:nvSpPr>
        <p:spPr>
          <a:xfrm>
            <a:off x="6315075" y="3209925"/>
            <a:ext cx="400050" cy="400050"/>
          </a:xfrm>
          <a:prstGeom prst="roundRect">
            <a:avLst>
              <a:gd name="adj" fmla="val 26190"/>
            </a:avLst>
          </a:prstGeom>
          <a:solidFill>
            <a:srgbClr val="E5B45C"/>
          </a:solidFill>
          <a:ln w="25400">
            <a:solidFill>
              <a:srgbClr val="42425A"/>
            </a:solidFill>
            <a:prstDash val="solid"/>
          </a:ln>
        </p:spPr>
        <p:txBody>
          <a:bodyPr/>
          <a:p/>
        </p:txBody>
      </p:sp>
      <p:pic>
        <p:nvPicPr>
          <p:cNvPr id="802" name="图片 80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9850" y="3314700"/>
            <a:ext cx="190500" cy="190500"/>
          </a:xfrm>
          <a:prstGeom prst="rect">
            <a:avLst/>
          </a:prstGeom>
        </p:spPr>
      </p:pic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6810375" y="3286125"/>
            <a:ext cx="46958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165" b="1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课后可读：资料地图</a:t>
            </a:r>
            <a:endParaRPr lang="zh-CN" sz="1165" b="1">
              <a:solidFill>
                <a:srgbClr val="4242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6315075" y="3686175"/>
            <a:ext cx="519112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数据集：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CVEfixes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MSR 2021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）；模型：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CodeBERT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125M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encoder-only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）。项目文档：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01_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数据集与模型全解析、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08_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数据特征工程解析；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test_cases/test_preprocess.py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里有</a:t>
            </a:r>
            <a:r>
              <a:rPr lang="en-US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40+ </a:t>
            </a:r>
            <a:r>
              <a:rPr lang="zh-CN" sz="975">
                <a:solidFill>
                  <a:srgbClr val="42425A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项断言守着预处理逻辑。</a:t>
            </a:r>
            <a:endParaRPr lang="zh-CN" sz="975">
              <a:solidFill>
                <a:srgbClr val="42425A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圆角矩形 804"/>
          <p:cNvSpPr/>
          <p:nvPr/>
        </p:nvSpPr>
        <p:spPr>
          <a:xfrm>
            <a:off x="533400" y="5105400"/>
            <a:ext cx="11125200" cy="438150"/>
          </a:xfrm>
          <a:prstGeom prst="roundRect">
            <a:avLst>
              <a:gd name="adj" fmla="val 26087"/>
            </a:avLst>
          </a:prstGeom>
          <a:solidFill>
            <a:srgbClr val="42425A"/>
          </a:solidFill>
        </p:spPr>
        <p:txBody>
          <a:bodyPr/>
          <a:p/>
        </p:txBody>
      </p:sp>
      <p:sp>
        <p:nvSpPr>
          <p:cNvPr id="806" name="文本框 805" descr="{&quot;isTemplate&quot;:true,&quot;type&quot;:&quot;text&quot;}"/>
          <p:cNvSpPr txBox="1"/>
          <p:nvPr/>
        </p:nvSpPr>
        <p:spPr>
          <a:xfrm>
            <a:off x="704850" y="5200650"/>
            <a:ext cx="107823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BF5"/>
                </a:solidFill>
                <a:latin typeface="微软雅黑" panose="020B0503020204020204" charset="-122"/>
                <a:ea typeface="微软雅黑" panose="020B0503020204020204" charset="-122"/>
              </a:rPr>
              <a:t>如果只能记住一句话：</a:t>
            </a:r>
            <a:r>
              <a:rPr lang="zh-CN" sz="1050" b="1">
                <a:solidFill>
                  <a:srgbClr val="E5B45C"/>
                </a:solidFill>
                <a:latin typeface="微软雅黑" panose="020B0503020204020204" charset="-122"/>
                <a:ea typeface="微软雅黑" panose="020B0503020204020204" charset="-122"/>
              </a:rPr>
              <a:t>先把每一级的实际数量算出来，再谈它有没有按设计生效。</a:t>
            </a:r>
            <a:endParaRPr lang="zh-CN" sz="1050" b="1">
              <a:solidFill>
                <a:srgbClr val="E5B45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7" name="图片 80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400" y="5715000"/>
            <a:ext cx="152400" cy="152400"/>
          </a:xfrm>
          <a:prstGeom prst="rect">
            <a:avLst/>
          </a:prstGeom>
        </p:spPr>
      </p:pic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762000" y="571500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9" name="文本框 808" descr="{&quot;isTemplate&quot;:true,&quot;type&quot;:&quot;text&quot;}"/>
          <p:cNvSpPr txBox="1"/>
          <p:nvPr/>
        </p:nvSpPr>
        <p:spPr>
          <a:xfrm>
            <a:off x="11239500" y="571500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29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10" name="图片 809"/>
          <p:cNvPicPr>
            <a:picLocks noChangeAspect="1"/>
          </p:cNvPicPr>
          <p:nvPr/>
        </p:nvPicPr>
        <p:blipFill>
          <a:blip r:embed="rId11">
            <a:alphaModFix amt="5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77600" y="2857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4" name="" descr="&lt;Slide style={{ width: '1280px', height: '720px', padding: '32px 64px', background: '#FFFBF5', position: 'relative', flexDirection: 'column', fontFamily: 'Microsoft YaHei' }}&gt;&#10;    &lt;FAIcon name='star' style={{ position: 'absolute', top: 56, left: 90, width: 28, height: 28, fill: '#E5B45C', opacity: 0.7 }} /&gt;&#10;    &lt;FAIcon name='star' style={{ position: 'absolute', top: 130, right: 110, width: 20, height: 20, fill: '#E87E99', opacity: 0.55 }} /&gt;&#10;    &lt;FAIcon name='circle' style={{ position: 'absolute', bottom: 160, left: 130, width: 14, height: 14, fill: '#45A99D', opacity: 0.6 }} /&gt;&#10;    &lt;FAIcon name='heart' style={{ position: 'absolute', bottom: 220, right: 140, width: 30, height: 30, fill: '#E87E99', opacity: 0.4 }} /&gt;&#10;    &lt;Box style={{ position: 'absolute', bottom: 100, right: 70, width: 120, height: 120, borderRadius: 999, border: '3px dashed rgba(106,111,201,0.35)' }} /&gt;&#10;    &lt;Box style={{ position: 'absolute', top: 70, left: 230, width: 70, height: 70, borderRadius: 999, border: '3px dashed rgba(69,169,157,0.4)' }} /&gt;&#10;&#10;    &lt;Box style={{ flex: 1, justifyContent: 'center', alignItems: 'center', gap: 24, position: 'relative', zIndex: 1 }}&gt;&#10;        &lt;Text style={{&#10;            fontSize: 80, fontWeight: 'bold', letterSpacing: 4, lineHeight: 1.05,&#10;            backgroundImage: 'linear-gradient(120deg, #6A6FC9 0%, #E87E99 100%)',&#10;            backgroundClip: 'text', color: 'transparent',&#10;        }}&gt;谢 谢&lt;/Text&gt;&#10;        &lt;Text style={{ fontSize: 20, color: 'rgba(66,66,90,0.75)' }}&gt;ScanMan · 源代码静态扫描项目 · V1.0 一期交付&lt;/Text&gt;&#10;        &lt;Box style={{ flexDirection: 'row', gap: 16, marginTop: 4 }}&gt;&#10;            {[&#10;                { n: '0.75', t: '检测 F1（测试集）', c: '#6A6FC9' },&#10;                { n: '94%+', t: '召回率（阈值 0.11 可调至）', c: '#45A99D' },&#10;                { n: '0.11', t: '验收阈值（目标召回 90%）', c: '#E87E99' },&#10;            ].map((it, i) =&gt; (&#10;                &lt;Box key={i} style={{ background: '#FFFFFF', border: '2px solid #42425A', borderRadius: 14, boxShadow: '4px 4px 0 #42425A', padding: '12px 22px', alignItems: 'center', gap: 3 }}&gt;&#10;                    &lt;Text style={{ fontSize: 34, fontWeight: 'bold', color: it.c, fontFamily: 'Consolas' }}&gt;{it.n}&lt;/Text&gt;&#10;                    &lt;Text style={{ fontSize: 13, color: 'rgba(66,66,90,0.7)' }}&gt;{it.t}&lt;/Text&gt;&#10;                &lt;/Box&gt;&#10;            ))}&#10;        &lt;/Box&gt;&#10;        &lt;Box style={{ background: '#FFFFFF', border: '2px solid #42425A', borderRadius: 999, padding: '8px 24px', boxShadow: '4px 4px 0 #42425A', marginTop: 8 }}&gt;&#10;            &lt;Text style={{ fontSize: 14, color: '#42425A' }}&gt;汇报小组：&lt;span style={{ fontWeight: 'bold', color: '#6A6FC9' }}&gt;Ken · 郑志伟 · 钟泽平 · 钟祖滨 · 温玉贵 · 张墨含 · 罗天伦 · 罗文龙 · 余敏 · 闪闪&lt;/span&gt;&lt;/Text&gt;&#10;        &lt;/Box&gt;&#10;        &lt;Text style={{ fontSize: 14, color: 'rgba(66,66,90,0.6)', marginTop: 4 }}&gt;欢迎提问与交流 · 所有结论均可对照仓库与文档复现&lt;/Text&gt;&#10;    &lt;/Box&gt;&#10;&#10;    &lt;Box style={{ flexDirection: 'row', justifyContent: 'space-between', alignItems: 'center', height: 36 }}&gt;&#10;        &lt;Box style={{ flexDirection: 'row', alignItems: 'center', gap: 8 }}&gt;&#10;            &lt;FAIcon name='shield' style={{ fill: '#6A6FC9', width: 16, height: 16 }} /&gt;&#10;            &lt;Text style={{ fontSize: 13, color: 'rgba(66,66,90,0.55)' }}&gt;ScanMan · 源代码静态扫描项目&lt;/Text&gt;&#10;        &lt;/Box&gt;&#10;        &lt;Text style={{ fontSize: 13, color: 'rgba(66,66,90,0.55)' }}&gt;3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矩形 8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BF5"/>
          </a:solidFill>
        </p:spPr>
        <p:txBody>
          <a:bodyPr/>
          <a:p/>
        </p:txBody>
      </p:sp>
      <p:pic>
        <p:nvPicPr>
          <p:cNvPr id="876" name="图片 87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6305550"/>
            <a:ext cx="152400" cy="152400"/>
          </a:xfrm>
          <a:prstGeom prst="rect">
            <a:avLst/>
          </a:prstGeom>
        </p:spPr>
      </p:pic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838200" y="6305550"/>
            <a:ext cx="1762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endParaRPr lang="zh-CN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11163300" y="6305550"/>
            <a:ext cx="41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2425A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 / 30</a:t>
            </a:r>
            <a:endParaRPr lang="en-US" sz="975">
              <a:solidFill>
                <a:srgbClr val="42425A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79" name="图片 878"/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" y="533400"/>
            <a:ext cx="266700" cy="266700"/>
          </a:xfrm>
          <a:prstGeom prst="rect">
            <a:avLst/>
          </a:prstGeom>
        </p:spPr>
      </p:pic>
      <p:pic>
        <p:nvPicPr>
          <p:cNvPr id="880" name="图片 879"/>
          <p:cNvPicPr>
            <a:picLocks noChangeAspect="1"/>
          </p:cNvPicPr>
          <p:nvPr/>
        </p:nvPicPr>
        <p:blipFill>
          <a:blip r:embed="rId5">
            <a:alphaModFix amt="5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750" y="1238250"/>
            <a:ext cx="190500" cy="190500"/>
          </a:xfrm>
          <a:prstGeom prst="rect">
            <a:avLst/>
          </a:prstGeom>
        </p:spPr>
      </p:pic>
      <p:pic>
        <p:nvPicPr>
          <p:cNvPr id="881" name="图片 880"/>
          <p:cNvPicPr>
            <a:picLocks noChangeAspect="1"/>
          </p:cNvPicPr>
          <p:nvPr/>
        </p:nvPicPr>
        <p:blipFill>
          <a:blip r:embed="rId7"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8250" y="5200650"/>
            <a:ext cx="133350" cy="133350"/>
          </a:xfrm>
          <a:prstGeom prst="rect">
            <a:avLst/>
          </a:prstGeom>
        </p:spPr>
      </p:pic>
      <p:pic>
        <p:nvPicPr>
          <p:cNvPr id="882" name="图片 881"/>
          <p:cNvPicPr>
            <a:picLocks noChangeAspect="1"/>
          </p:cNvPicPr>
          <p:nvPr/>
        </p:nvPicPr>
        <p:blipFill>
          <a:blip r:embed="rId9">
            <a:alphaModFix amt="4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72750" y="4476750"/>
            <a:ext cx="285750" cy="285750"/>
          </a:xfrm>
          <a:prstGeom prst="rect">
            <a:avLst/>
          </a:prstGeom>
        </p:spPr>
      </p:pic>
      <p:sp>
        <p:nvSpPr>
          <p:cNvPr id="883" name="圆角矩形 882"/>
          <p:cNvSpPr/>
          <p:nvPr/>
        </p:nvSpPr>
        <p:spPr>
          <a:xfrm>
            <a:off x="10382250" y="4762500"/>
            <a:ext cx="1143000" cy="1143000"/>
          </a:xfrm>
          <a:prstGeom prst="roundRect">
            <a:avLst>
              <a:gd name="adj" fmla="val 832500"/>
            </a:avLst>
          </a:prstGeom>
          <a:ln w="38100">
            <a:solidFill>
              <a:srgbClr val="6A6FC9">
                <a:alpha val="35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884" name="圆角矩形 883"/>
          <p:cNvSpPr/>
          <p:nvPr/>
        </p:nvSpPr>
        <p:spPr>
          <a:xfrm>
            <a:off x="2190750" y="666750"/>
            <a:ext cx="666750" cy="666750"/>
          </a:xfrm>
          <a:prstGeom prst="roundRect">
            <a:avLst>
              <a:gd name="adj" fmla="val 1427143"/>
            </a:avLst>
          </a:prstGeom>
          <a:ln w="38100">
            <a:solidFill>
              <a:srgbClr val="45A99D">
                <a:alpha val="4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5162550" y="1495425"/>
            <a:ext cx="186690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000" b="1" spc="300">
                <a:gradFill>
                  <a:gsLst>
                    <a:gs pos="0">
                      <a:srgbClr val="6A6FC9"/>
                    </a:gs>
                    <a:gs pos="100000">
                      <a:srgbClr val="E87E99"/>
                    </a:gs>
                  </a:gsLst>
                  <a:lin ang="18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谢</a:t>
            </a:r>
            <a:r>
              <a:rPr lang="en-US" sz="6000" b="1" spc="300">
                <a:gradFill>
                  <a:gsLst>
                    <a:gs pos="0">
                      <a:srgbClr val="6A6FC9"/>
                    </a:gs>
                    <a:gs pos="100000">
                      <a:srgbClr val="E87E99"/>
                    </a:gs>
                  </a:gsLst>
                  <a:lin ang="18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6000" b="1" spc="300">
                <a:gradFill>
                  <a:gsLst>
                    <a:gs pos="0">
                      <a:srgbClr val="6A6FC9"/>
                    </a:gs>
                    <a:gs pos="100000">
                      <a:srgbClr val="E87E99"/>
                    </a:gs>
                  </a:gsLst>
                  <a:lin ang="18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谢</a:t>
            </a:r>
            <a:endParaRPr lang="zh-CN" sz="6000" b="1" spc="300">
              <a:gradFill>
                <a:gsLst>
                  <a:gs pos="0">
                    <a:srgbClr val="6A6FC9"/>
                  </a:gs>
                  <a:gs pos="100000">
                    <a:srgbClr val="E87E99"/>
                  </a:gs>
                </a:gsLst>
                <a:lin ang="18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6" name="文本框 885" descr="{&quot;isTemplate&quot;:true,&quot;type&quot;:&quot;text&quot;}"/>
          <p:cNvSpPr txBox="1"/>
          <p:nvPr/>
        </p:nvSpPr>
        <p:spPr>
          <a:xfrm>
            <a:off x="4057650" y="2686050"/>
            <a:ext cx="40862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ScanMan · </a:t>
            </a:r>
            <a:r>
              <a:rPr lang="zh-CN" sz="15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源代码静态扫描项目</a:t>
            </a:r>
            <a:r>
              <a:rPr lang="en-US" sz="15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V1.0 </a:t>
            </a:r>
            <a:r>
              <a:rPr lang="zh-CN" sz="1500">
                <a:solidFill>
                  <a:srgbClr val="42425A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一期交付</a:t>
            </a:r>
            <a:endParaRPr lang="zh-CN" sz="1500">
              <a:solidFill>
                <a:srgbClr val="42425A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7" name="圆角矩形 886"/>
          <p:cNvSpPr/>
          <p:nvPr/>
        </p:nvSpPr>
        <p:spPr>
          <a:xfrm>
            <a:off x="3248025" y="3181350"/>
            <a:ext cx="14668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88" name="文本框 887" descr="{&quot;isTemplate&quot;:true,&quot;type&quot;:&quot;text&quot;}"/>
          <p:cNvSpPr txBox="1"/>
          <p:nvPr/>
        </p:nvSpPr>
        <p:spPr>
          <a:xfrm>
            <a:off x="3629025" y="3295650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6A6FC9"/>
                </a:solidFill>
                <a:latin typeface="Consolas" panose="020B0609020204030204"/>
                <a:ea typeface="Consolas" panose="020B0609020204030204"/>
              </a:rPr>
              <a:t>0.75</a:t>
            </a:r>
            <a:endParaRPr lang="en-US" sz="2550" b="1">
              <a:solidFill>
                <a:srgbClr val="6A6FC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3457575" y="3714750"/>
            <a:ext cx="10477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F1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（测试集）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圆角矩形 889"/>
          <p:cNvSpPr/>
          <p:nvPr/>
        </p:nvSpPr>
        <p:spPr>
          <a:xfrm>
            <a:off x="4867275" y="3181350"/>
            <a:ext cx="19812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5505450" y="3295650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45A99D"/>
                </a:solidFill>
                <a:latin typeface="Consolas" panose="020B0609020204030204"/>
                <a:ea typeface="Consolas" panose="020B0609020204030204"/>
              </a:rPr>
              <a:t>94%+</a:t>
            </a:r>
            <a:endParaRPr lang="en-US" sz="2550" b="1">
              <a:solidFill>
                <a:srgbClr val="45A99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5076825" y="3714750"/>
            <a:ext cx="1562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召回率（阈值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0.11 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可调至）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圆角矩形 892"/>
          <p:cNvSpPr/>
          <p:nvPr/>
        </p:nvSpPr>
        <p:spPr>
          <a:xfrm>
            <a:off x="7000875" y="3181350"/>
            <a:ext cx="1952625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7620000" y="3295650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7E99"/>
                </a:solidFill>
                <a:latin typeface="Consolas" panose="020B0609020204030204"/>
                <a:ea typeface="Consolas" panose="020B0609020204030204"/>
              </a:rPr>
              <a:t>0.11</a:t>
            </a:r>
            <a:endParaRPr lang="en-US" sz="2550" b="1">
              <a:solidFill>
                <a:srgbClr val="E87E9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95" name="文本框 894" descr="{&quot;isTemplate&quot;:true,&quot;type&quot;:&quot;text&quot;}"/>
          <p:cNvSpPr txBox="1"/>
          <p:nvPr/>
        </p:nvSpPr>
        <p:spPr>
          <a:xfrm>
            <a:off x="7210425" y="3714750"/>
            <a:ext cx="1533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验收阈值（目标召回</a:t>
            </a:r>
            <a:r>
              <a:rPr lang="en-US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90%</a:t>
            </a:r>
            <a:r>
              <a:rPr lang="zh-CN" sz="975">
                <a:solidFill>
                  <a:srgbClr val="42425A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75">
              <a:solidFill>
                <a:srgbClr val="42425A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6" name="圆角矩形 895"/>
          <p:cNvSpPr/>
          <p:nvPr/>
        </p:nvSpPr>
        <p:spPr>
          <a:xfrm>
            <a:off x="3114675" y="4286250"/>
            <a:ext cx="5962650" cy="314325"/>
          </a:xfrm>
          <a:prstGeom prst="roundRect">
            <a:avLst>
              <a:gd name="adj" fmla="val 3027273"/>
            </a:avLst>
          </a:prstGeom>
          <a:solidFill>
            <a:srgbClr val="FFFFFF"/>
          </a:solidFill>
          <a:ln w="25400">
            <a:solidFill>
              <a:srgbClr val="42425A"/>
            </a:solidFill>
            <a:prstDash val="solid"/>
          </a:ln>
          <a:effectLst>
            <a:outerShdw dist="53881" dir="2700000">
              <a:srgbClr val="42425A"/>
            </a:outerShdw>
          </a:effectLst>
        </p:spPr>
        <p:txBody>
          <a:bodyPr/>
          <a:p/>
        </p:txBody>
      </p:sp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3343275" y="4362450"/>
            <a:ext cx="5505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/>
                </a:solidFill>
                <a:latin typeface="微软雅黑" panose="020B0503020204020204" charset="-122"/>
                <a:ea typeface="微软雅黑" panose="020B0503020204020204" charset="-122"/>
              </a:rPr>
              <a:t>汇报小组：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Ken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郑志伟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钟泽平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钟祖滨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温玉贵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张墨含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罗天伦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罗文龙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余敏</a:t>
            </a:r>
            <a:r>
              <a:rPr lang="en-US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 b="1">
                <a:solidFill>
                  <a:srgbClr val="6A6FC9"/>
                </a:solidFill>
                <a:latin typeface="微软雅黑" panose="020B0503020204020204" charset="-122"/>
                <a:ea typeface="微软雅黑" panose="020B0503020204020204" charset="-122"/>
              </a:rPr>
              <a:t>闪闪</a:t>
            </a:r>
            <a:endParaRPr lang="zh-CN" sz="1050" b="1">
              <a:solidFill>
                <a:srgbClr val="6A6F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4572000" y="4867275"/>
            <a:ext cx="3048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欢迎提问与交流</a:t>
            </a:r>
            <a:r>
              <a:rPr lang="en-US" sz="1050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42425A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所有结论均可对照仓库与文档复现</a:t>
            </a:r>
            <a:endParaRPr lang="zh-CN" sz="1050">
              <a:solidFill>
                <a:srgbClr val="42425A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14699</Words>
  <Application>WPS 演示</Application>
  <PresentationFormat/>
  <Paragraphs>1587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Consolas</vt:lpstr>
      <vt:lpstr>Menlo</vt:lpstr>
      <vt:lpstr>FFont-Family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lemon</cp:lastModifiedBy>
  <cp:revision>1</cp:revision>
  <dcterms:created xsi:type="dcterms:W3CDTF">2026-09-22T02:28:20Z</dcterms:created>
  <dcterms:modified xsi:type="dcterms:W3CDTF">2026-09-22T02:28:48Z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346287074F0A4DDE89ADD641268B5A15_12</vt:lpwstr>
  </property>
</Properties>
</file>